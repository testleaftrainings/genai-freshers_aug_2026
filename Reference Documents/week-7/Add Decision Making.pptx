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ck" id="{FF270506-0A79-C226-10AC-3148604FB854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6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9372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session follows the Microsoft Learn module "Add decision-making to your code", a beginner module with 7 units. Until now programs ran top to bottom. Today we let a program choose a path based on conditions. Ask: where have you seen decisions in everyday software, such as a login check or a ticket gate?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three objectives. Each maps to a unit: conditions with Booleans and comparisons, if/elif/else, and logical operators. Then a 25-minute rock, paper, scissors exercise and a short assessment.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a program can decide, it needs a yes or no answer. A Boolean, labelled bool, has exactly two values: True and False. Stress capitalisation: Python is case-sensitive, so true or false in lowercase is treated as an undefined variable and raises a NameError. Live demo: run the type()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Comparison operators compare two values and return a Boolean. Walk down the table. The score example shows the same value giving different answers to different questions. They also work on strings: equality checks and alphabetical comparison. Ask: what does 4 &lt;= 3 return? False.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classic beginner mistake. Single equals assigns a value to a variable. Double equals compares two values and returns a Boolean. In the module, print(score = 50) gives a TypeError because Python treats score as a keyword argument. Tell learners that when they see an odd error near a comparison, check for a missing equals 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if statement runs a block only when its condition is True. Python finds the block through indentation. Rules: end the condition line with a colon, indent every line in the block the same amount, four spaces is the standard, and unindent to end the block. Trace the example with score 85: the block is skipped, but Program complete still prints because it is unindented.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else for the False path. Use elif, short for else if, for more than two paths. Key idea: Python checks conditions in order and runs the first True block, then skips the rest. With score 85, the B branch runs even though 85 &gt;= 70 is also true. So order conditions from most specific to least specific, or you may never reach the branch you expect.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is True only if both sides are True. or is True if at least one side is True. not flips a Boolean. In everyday language "or" often means one or the other but not both; in Python it means one or the other, or both. Walk through the three examples: entry needs age and ticket, office closed on weekend or holiday, not is good for checking the absence of a condition.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can combine and, or and not in one expression. Use parentheses to group conditions; it makes the code easier to read. Then the shortcut error: score == 90 or 100 is always True because 100 is a nonzero number, and nonzero numbers and nonempty strings count as True. Always compare each value explicitly: score == 90 or score == 100.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Hands-on unit, about 25 minutes. Learners build a rock, paper, scissors game that uses conditional logic to decide the winner against a computer opponent. The detailed steps are in the lab that opens from the Launch exercise button, so have learners open it in a new tab. After finishing, the module suggests extending the game with GitHub Copilot: ask for a score tracker for wins, losses and ties, and for input validation. Remind learners to review each suggestion and understand it before accepting.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learners two minutes, then show the answers. Q1 tests Boolean capitalisation, Q2 equality versus assignment, Q3 first-match-wins, Q4 the or shortcut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Q1: B, capital T; lowercase true raises a NameError and "True" is a string. Q2: B, double equals compares. Q3: A, the first True condition wins and the rest are skipped, which is why specific conditions go first. Q4: B, nonzero numbers count as True, so write score == 90 or score == 100.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four ideas, then point learners to the module assessment on Microsoft Learn.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F6FED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rgbClr val="0F1729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73152" cy="146304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2801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Add Decision-Making to Your Code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945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8C4DC"/>
                </a:solidFill>
              </a:rPr>
              <a:t>Booleans, comparison operators, if / elif / else, and logical operators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F8CA8"/>
                </a:solidFill>
              </a:rPr>
              <a:t>Beginner  |  7 units 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9"/>
                </a:solidFill>
              </a:rPr>
              <a:t>What you will learn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2F5FB"/>
          </a:solidFill>
          <a:ln w="12700">
            <a:solidFill>
              <a:srgbClr val="DDE2E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371600"/>
            <a:ext cx="54864" cy="68580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28016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9"/>
                </a:solidFill>
              </a:rPr>
              <a:t>1. Evaluate conditions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3A4357"/>
                </a:solidFill>
              </a:rPr>
              <a:t>Use Boolean values and comparison operators.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233172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2F5FB"/>
          </a:solidFill>
          <a:ln w="12700">
            <a:solidFill>
              <a:srgbClr val="DDE2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2423160"/>
            <a:ext cx="54864" cy="685800"/>
          </a:xfrm>
          <a:prstGeom prst="rect">
            <a:avLst/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23317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9"/>
                </a:solidFill>
              </a:rPr>
              <a:t>2. Control code flow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3A4357"/>
                </a:solidFill>
              </a:rPr>
              <a:t>Use if, elif and else statements.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338328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F2F5FB"/>
          </a:solidFill>
          <a:ln w="12700">
            <a:solidFill>
              <a:srgbClr val="DDE2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3474720"/>
            <a:ext cx="54864" cy="6858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338328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9"/>
                </a:solidFill>
              </a:rPr>
              <a:t>3. Build complex conditions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3A4357"/>
                </a:solidFill>
              </a:rPr>
              <a:t>Combine conditions with and, or and not.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9"/>
                </a:solidFill>
              </a:rPr>
              <a:t>Boolean values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4572000" cy="1828800"/>
          </a:xfrm>
          <a:prstGeom prst="roundRect">
            <a:avLst>
              <a:gd name="adj" fmla="val 4000"/>
            </a:avLst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188720"/>
            <a:ext cx="4297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is_game_over = True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is_user_logged_in = False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print(type(is_game_over))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&lt;class 'bool'&gt;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303520" y="1188720"/>
            <a:ext cx="3383280" cy="1005840"/>
          </a:xfrm>
          <a:prstGeom prst="roundRect">
            <a:avLst>
              <a:gd name="adj" fmla="val 7273"/>
            </a:avLst>
          </a:prstGeom>
          <a:solidFill>
            <a:srgbClr val="F2F5FB"/>
          </a:solidFill>
          <a:ln w="12700">
            <a:solidFill>
              <a:srgbClr val="DDE2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303520" y="1280160"/>
            <a:ext cx="54864" cy="82296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532120" y="11887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9"/>
                </a:solidFill>
              </a:rPr>
              <a:t>Exactly two values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3A4357"/>
                </a:solidFill>
              </a:rPr>
              <a:t>True and False are the building blocks of every decision in Python.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303520" y="233172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F2F5FB"/>
          </a:solidFill>
          <a:ln w="12700">
            <a:solidFill>
              <a:srgbClr val="DDE2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303520" y="2423160"/>
            <a:ext cx="54864" cy="685800"/>
          </a:xfrm>
          <a:prstGeom prst="rect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532120" y="23317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9"/>
                </a:solidFill>
              </a:rPr>
              <a:t>Capitalise them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3A4357"/>
                </a:solidFill>
              </a:rPr>
              <a:t>true or false raises a NameError.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475"/>
                </a:solidFill>
              </a:rPr>
              <a:t>A condition is a question that Python answers with True or False.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9"/>
                </a:solidFill>
              </a:rPr>
              <a:t>Comparison operators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4846320" cy="2304288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==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Equal to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 == 5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!=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 equal to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 != 3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&gt;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Greater than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 &gt; 3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Less than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 &lt; 10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&gt;=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At least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 &gt;= 5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&lt;=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At most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 &lt;= 3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Shape 1"/>
          <p:cNvSpPr/>
          <p:nvPr/>
        </p:nvSpPr>
        <p:spPr>
          <a:xfrm>
            <a:off x="5577840" y="1097280"/>
            <a:ext cx="3108960" cy="1554480"/>
          </a:xfrm>
          <a:prstGeom prst="roundRect">
            <a:avLst>
              <a:gd name="adj" fmla="val 4706"/>
            </a:avLst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715000" y="1097280"/>
            <a:ext cx="2834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85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print(score &gt;= 90)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False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print(score &gt;= 70)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True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5577840" y="283464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F2F5FB"/>
          </a:solidFill>
          <a:ln w="12700">
            <a:solidFill>
              <a:srgbClr val="DDE2EE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5577840" y="2926080"/>
            <a:ext cx="54864" cy="731520"/>
          </a:xfrm>
          <a:prstGeom prst="rect">
            <a:avLst/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806440" y="28346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9"/>
                </a:solidFill>
              </a:rPr>
              <a:t>Strings too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3A4357"/>
                </a:solidFill>
              </a:rPr>
              <a:t>"secret123" == "secret123" is True.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9"/>
                </a:solidFill>
              </a:rPr>
              <a:t>Equality vs assignment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F2F5FB"/>
          </a:solidFill>
          <a:ln w="12700">
            <a:solidFill>
              <a:srgbClr val="DDE2E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280160"/>
            <a:ext cx="54864" cy="100584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1887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9"/>
                </a:solidFill>
              </a:rPr>
              <a:t>=  assignment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3A4357"/>
                </a:solidFill>
              </a:rPr>
              <a:t>Puts the value on the right into the variable on the left.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663440" y="118872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F2F5FB"/>
          </a:solidFill>
          <a:ln w="12700">
            <a:solidFill>
              <a:srgbClr val="DDE2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663440" y="1280160"/>
            <a:ext cx="54864" cy="1005840"/>
          </a:xfrm>
          <a:prstGeom prst="rect">
            <a:avLst/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92040" y="11887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9"/>
                </a:solidFill>
              </a:rPr>
              <a:t>==  comparison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3A4357"/>
                </a:solidFill>
              </a:rPr>
              <a:t>Checks whether two values are equal and returns True or False.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265176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94360" y="265176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100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print(score = 50)   # wrong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TypeError: 'score' is an invalid keyword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   argument for this function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9"/>
                </a:solidFill>
              </a:rPr>
              <a:t>The if statement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4572000" cy="2377440"/>
          </a:xfrm>
          <a:prstGeom prst="roundRect">
            <a:avLst>
              <a:gd name="adj" fmla="val 3077"/>
            </a:avLst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188720"/>
            <a:ext cx="4297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85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score &gt;= 90: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print("Congratulations!")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print("Grade: A")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print("Program complete.")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303520" y="1188720"/>
            <a:ext cx="3383280" cy="777240"/>
          </a:xfrm>
          <a:prstGeom prst="roundRect">
            <a:avLst>
              <a:gd name="adj" fmla="val 9412"/>
            </a:avLst>
          </a:prstGeom>
          <a:solidFill>
            <a:srgbClr val="F2F5FB"/>
          </a:solidFill>
          <a:ln w="12700">
            <a:solidFill>
              <a:srgbClr val="DDE2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303520" y="1280160"/>
            <a:ext cx="54864" cy="59436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532120" y="11887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9"/>
                </a:solidFill>
              </a:rPr>
              <a:t>Colon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3A4357"/>
                </a:solidFill>
              </a:rPr>
              <a:t>End the if line with a colon.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303520" y="2103120"/>
            <a:ext cx="3383280" cy="1005840"/>
          </a:xfrm>
          <a:prstGeom prst="roundRect">
            <a:avLst>
              <a:gd name="adj" fmla="val 7273"/>
            </a:avLst>
          </a:prstGeom>
          <a:solidFill>
            <a:srgbClr val="F2F5FB"/>
          </a:solidFill>
          <a:ln w="12700">
            <a:solidFill>
              <a:srgbClr val="DDE2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303520" y="2194560"/>
            <a:ext cx="54864" cy="822960"/>
          </a:xfrm>
          <a:prstGeom prst="rect">
            <a:avLst/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532120" y="21031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9"/>
                </a:solidFill>
              </a:rPr>
              <a:t>Indent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3A4357"/>
                </a:solidFill>
              </a:rPr>
              <a:t>Same indentation for every line in the block. Use four spaces.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5303520" y="3246120"/>
            <a:ext cx="3383280" cy="777240"/>
          </a:xfrm>
          <a:prstGeom prst="roundRect">
            <a:avLst>
              <a:gd name="adj" fmla="val 9412"/>
            </a:avLst>
          </a:prstGeom>
          <a:solidFill>
            <a:srgbClr val="F2F5FB"/>
          </a:solidFill>
          <a:ln w="12700">
            <a:solidFill>
              <a:srgbClr val="DDE2E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303520" y="3337560"/>
            <a:ext cx="54864" cy="5943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532120" y="32461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9"/>
                </a:solidFill>
              </a:rPr>
              <a:t>Unindent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3A4357"/>
                </a:solidFill>
              </a:rPr>
              <a:t>The first unindented line ends the block.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9"/>
                </a:solidFill>
              </a:rPr>
              <a:t>else and elif: first match wins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5120640" cy="2926080"/>
          </a:xfrm>
          <a:prstGeom prst="roundRect">
            <a:avLst>
              <a:gd name="adj" fmla="val 2500"/>
            </a:avLst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097280"/>
            <a:ext cx="4846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85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score &gt;= 90: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print("Grade: A")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score &gt;= 80:   # 85 &gt;= 80 is True, stop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print("Grade: B")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score &gt;= 70:   # skipped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print("Grade: C")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               # skipped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print("Grade: D or lower")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852160" y="1097280"/>
            <a:ext cx="2834640" cy="822960"/>
          </a:xfrm>
          <a:prstGeom prst="roundRect">
            <a:avLst>
              <a:gd name="adj" fmla="val 8889"/>
            </a:avLst>
          </a:prstGeom>
          <a:solidFill>
            <a:srgbClr val="F2F5FB"/>
          </a:solidFill>
          <a:ln w="12700">
            <a:solidFill>
              <a:srgbClr val="DDE2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852160" y="1188720"/>
            <a:ext cx="54864" cy="640080"/>
          </a:xfrm>
          <a:prstGeom prst="rect">
            <a:avLst/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080760" y="10972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9"/>
                </a:solidFill>
              </a:rPr>
              <a:t>Output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3A4357"/>
                </a:solidFill>
              </a:rPr>
              <a:t>Grade: B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852160" y="21031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2F5FB"/>
          </a:solidFill>
          <a:ln w="12700">
            <a:solidFill>
              <a:srgbClr val="DDE2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52160" y="2194560"/>
            <a:ext cx="54864" cy="12801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080760" y="210312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9"/>
                </a:solidFill>
              </a:rPr>
              <a:t>Order matters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3A4357"/>
                </a:solidFill>
              </a:rPr>
              <a:t>Put the most specific condition first. Python stops at the first True one.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9"/>
                </a:solidFill>
              </a:rPr>
              <a:t>Logical operators: and, or, not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1316736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and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 only if both are True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 and False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or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 if at least one is True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 or False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Flips a Boolean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 True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2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457200" y="265176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94360" y="26517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age &gt;= 18 and has_ticket: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print("Entry granted.")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4663440" y="2651760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4800600" y="26517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is_weekend or is_holiday: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print("The office is closed.")</a:t>
            </a:r>
            <a:endParaRPr lang="en-US" sz="1300" dirty="0"/>
          </a:p>
        </p:txBody>
      </p:sp>
      <p:sp>
        <p:nvSpPr>
          <p:cNvPr id="3" name="Text 5"/>
          <p:cNvSpPr txBox="1"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475"/>
                </a:solidFill>
              </a:rPr>
              <a:t>In Python, "or" means one or the other, or both.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9"/>
                </a:solidFill>
              </a:rPr>
              <a:t>Combine conditions safely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097280"/>
            <a:ext cx="7955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Pass if (score is high OR extra credit)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AND the work is not late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(score &gt;= 90 or has_extra_credit) and not is_past_due: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print("Requirement met.")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260604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26060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Wrong: always True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score == 90 or 100: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63440" y="2606040"/>
            <a:ext cx="4023360" cy="1188720"/>
          </a:xfrm>
          <a:prstGeom prst="roundRect">
            <a:avLst>
              <a:gd name="adj" fmla="val 6154"/>
            </a:avLst>
          </a:prstGeom>
          <a:solidFill>
            <a:srgbClr val="0F1729"/>
          </a:solidFill>
          <a:ln w="12700">
            <a:solidFill>
              <a:srgbClr val="0F172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800600" y="26060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Correct: compare each value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score == 90 or score == 100: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475"/>
                </a:solidFill>
              </a:rPr>
              <a:t>Group with parentheses, and compare every value explicitly.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9"/>
                </a:solidFill>
              </a:rPr>
              <a:t>Exercise: Rock, paper, scissors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9"/>
                </a:solidFill>
              </a:rPr>
              <a:t>Build a game that uses conditional logic to pick the winner against the computer.</a:t>
            </a:r>
            <a:endParaRPr lang="en-US" sz="17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645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5"/>
                </a:solidFill>
              </a:rPr>
              <a:t>25 min  |  Hands-on lab opened from Microsoft Learn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21488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2F5FB"/>
          </a:solidFill>
          <a:ln w="12700">
            <a:solidFill>
              <a:srgbClr val="DDE2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2240280"/>
            <a:ext cx="54864" cy="137160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214884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9"/>
                </a:solidFill>
              </a:rPr>
              <a:t>Skills you will use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3A4357"/>
                </a:solidFill>
              </a:rPr>
              <a:t>== to compare choices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3A4357"/>
                </a:solidFill>
              </a:rPr>
              <a:t>if / elif / else for outcomes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3A4357"/>
                </a:solidFill>
              </a:rPr>
              <a:t>and / or to combine conditions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663440" y="21488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2F5FB"/>
          </a:solidFill>
          <a:ln w="12700">
            <a:solidFill>
              <a:srgbClr val="DDE2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63440" y="2240280"/>
            <a:ext cx="54864" cy="1371600"/>
          </a:xfrm>
          <a:prstGeom prst="rect">
            <a:avLst/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92040" y="214884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9"/>
                </a:solidFill>
              </a:rPr>
              <a:t>Extend with GitHub Copilot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3A4357"/>
                </a:solidFill>
              </a:rPr>
              <a:t>Add a score tracker: wins, losses, ties.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3A4357"/>
                </a:solidFill>
              </a:rPr>
              <a:t>Add input validation for unexpected entries.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3A4357"/>
                </a:solidFill>
              </a:rPr>
              <a:t>Review every suggestion before accepting.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475"/>
                </a:solidFill>
              </a:rPr>
              <a:t>Start the lab from the unit page, then return here to debrief.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9"/>
                </a:solidFill>
              </a:rPr>
              <a:t>Quick quiz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2F5FB"/>
          </a:solidFill>
          <a:ln w="12700">
            <a:solidFill>
              <a:srgbClr val="DDE2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9"/>
                </a:solidFill>
              </a:rPr>
              <a:t>1.  Which is a valid Boolean value in Python?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3A4357"/>
                </a:solidFill>
              </a:rPr>
              <a:t>A) true    B) True    C) "True"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2F5FB"/>
          </a:solidFill>
          <a:ln w="12700">
            <a:solidFill>
              <a:srgbClr val="DDE2E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9"/>
                </a:solidFill>
              </a:rPr>
              <a:t>2.  Which expression checks whether score equals 50?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3A4357"/>
                </a:solidFill>
              </a:rPr>
              <a:t>A) score = 50    B) score == 50    C) score =&gt; 50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2F5FB"/>
          </a:solidFill>
          <a:ln w="12700">
            <a:solidFill>
              <a:srgbClr val="DDE2E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29260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9"/>
                </a:solidFill>
              </a:rPr>
              <a:t>3.  score = 85. if score &gt;= 70 comes before elif score &gt;= 80. Which runs?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3A4357"/>
                </a:solidFill>
              </a:rPr>
              <a:t>A) the &gt;= 70 block    B) the &gt;= 80 block    C) both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2F5FB"/>
          </a:solidFill>
          <a:ln w="12700">
            <a:solidFill>
              <a:srgbClr val="DDE2E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3794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9"/>
                </a:solidFill>
              </a:rPr>
              <a:t>4.  Why is  if score == 90 or 100  always True?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3A4357"/>
                </a:solidFill>
              </a:rPr>
              <a:t>A) == is invalid    B) 100 counts as True    C) or needs a colon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9"/>
                </a:solidFill>
              </a:rPr>
              <a:t>Quiz answers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2F5FB"/>
          </a:solidFill>
          <a:ln w="12700">
            <a:solidFill>
              <a:srgbClr val="DDE2E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280160"/>
            <a:ext cx="54864" cy="548640"/>
          </a:xfrm>
          <a:prstGeom prst="rect">
            <a:avLst/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188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9"/>
                </a:solidFill>
              </a:rPr>
              <a:t>1.  B) True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3A4357"/>
                </a:solidFill>
              </a:rPr>
              <a:t>Capitalised exactly; true raises a NameError and "True" is a string.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2F5FB"/>
          </a:solidFill>
          <a:ln w="12700">
            <a:solidFill>
              <a:srgbClr val="DDE2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2148840"/>
            <a:ext cx="54864" cy="548640"/>
          </a:xfrm>
          <a:prstGeom prst="rect">
            <a:avLst/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20574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9"/>
                </a:solidFill>
              </a:rPr>
              <a:t>2.  B) score == 50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3A4357"/>
                </a:solidFill>
              </a:rPr>
              <a:t>Double equals compares; a single equals assigns.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2F5FB"/>
          </a:solidFill>
          <a:ln w="12700">
            <a:solidFill>
              <a:srgbClr val="DDE2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3017520"/>
            <a:ext cx="54864" cy="548640"/>
          </a:xfrm>
          <a:prstGeom prst="rect">
            <a:avLst/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29260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9"/>
                </a:solidFill>
              </a:rPr>
              <a:t>3.  A) the &gt;= 70 block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3A4357"/>
                </a:solidFill>
              </a:rPr>
              <a:t>The first True condition wins and the rest of the chain is skipped.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2F5FB"/>
          </a:solidFill>
          <a:ln w="12700">
            <a:solidFill>
              <a:srgbClr val="DDE2E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3886200"/>
            <a:ext cx="54864" cy="548640"/>
          </a:xfrm>
          <a:prstGeom prst="rect">
            <a:avLst/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85800" y="3794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9"/>
                </a:solidFill>
              </a:rPr>
              <a:t>4.  B) 100 counts as True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3A4357"/>
                </a:solidFill>
              </a:rPr>
              <a:t>Nonzero numbers are True. Write score == 90 or score == 100.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F1729"/>
                </a:solidFill>
              </a:rPr>
              <a:t>Recap and next steps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F2F5FB"/>
          </a:solidFill>
          <a:ln w="12700">
            <a:solidFill>
              <a:srgbClr val="DDE2E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1280160"/>
            <a:ext cx="54864" cy="82296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1887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9"/>
                </a:solidFill>
              </a:rPr>
              <a:t>Booleans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3A4357"/>
                </a:solidFill>
              </a:rPr>
              <a:t>True and False, produced by comparison operators.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754880" y="118872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F2F5FB"/>
          </a:solidFill>
          <a:ln w="12700">
            <a:solidFill>
              <a:srgbClr val="DDE2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754880" y="1280160"/>
            <a:ext cx="54864" cy="822960"/>
          </a:xfrm>
          <a:prstGeom prst="rect">
            <a:avLst/>
          </a:prstGeom>
          <a:solidFill>
            <a:srgbClr val="1FA67A"/>
          </a:solidFill>
          <a:ln w="12700">
            <a:solidFill>
              <a:srgbClr val="1FA67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983480" y="11887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9"/>
                </a:solidFill>
              </a:rPr>
              <a:t>if / elif / else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3A4357"/>
                </a:solidFill>
              </a:rPr>
              <a:t>Indent, use colons, first True match wins.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237744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F2F5FB"/>
          </a:solidFill>
          <a:ln w="12700">
            <a:solidFill>
              <a:srgbClr val="DDE2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2468880"/>
            <a:ext cx="54864" cy="8229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" y="23774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9"/>
                </a:solidFill>
              </a:rPr>
              <a:t>and / or / not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3A4357"/>
                </a:solidFill>
              </a:rPr>
              <a:t>Combine conditions; group with parentheses.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754880" y="237744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F2F5FB"/>
          </a:solidFill>
          <a:ln w="12700">
            <a:solidFill>
              <a:srgbClr val="DDE2E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54880" y="2468880"/>
            <a:ext cx="54864" cy="822960"/>
          </a:xfrm>
          <a:prstGeom prst="rect">
            <a:avLst/>
          </a:prstGeom>
          <a:solidFill>
            <a:srgbClr val="D64550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983480" y="23774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9"/>
                </a:solidFill>
              </a:rPr>
              <a:t>Common traps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rgbClr val="3A4357"/>
                </a:solidFill>
              </a:rPr>
              <a:t>= vs ==, lowercase true, score == 90 or 100.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6FED"/>
                </a:solidFill>
              </a:rPr>
              <a:t>Next: the module assessment on Microsoft Learn.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47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yLearn">
  <a:themeElements>
    <a:clrScheme name="PyLearn">
      <a:dk1>
        <a:srgbClr val="1B1F2A"/>
      </a:dk1>
      <a:lt1>
        <a:srgbClr val="FFFFFF"/>
      </a:lt1>
      <a:dk2>
        <a:srgbClr val="0F1729"/>
      </a:dk2>
      <a:lt2>
        <a:srgbClr val="F2F5FB"/>
      </a:lt2>
      <a:accent1>
        <a:srgbClr val="2F6FED"/>
      </a:accent1>
      <a:accent2>
        <a:srgbClr val="F5A623"/>
      </a:accent2>
      <a:accent3>
        <a:srgbClr val="1FA67A"/>
      </a:accent3>
      <a:accent4>
        <a:srgbClr val="D64550"/>
      </a:accent4>
      <a:accent5>
        <a:srgbClr val="7A5AF8"/>
      </a:accent5>
      <a:accent6>
        <a:srgbClr val="5B6475"/>
      </a:accent6>
      <a:hlink>
        <a:srgbClr val="2F6FED"/>
      </a:hlink>
      <a:folHlink>
        <a:srgbClr val="7A5AF8"/>
      </a:folHlink>
    </a:clrScheme>
    <a:fontScheme name="PyLear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1744</Words>
  <Application>Microsoft Office PowerPoint</Application>
  <PresentationFormat>On-screen Show (16:9)</PresentationFormat>
  <Paragraphs>207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PyLearn</vt:lpstr>
      <vt:lpstr>PowerPoint Presentation</vt:lpstr>
      <vt:lpstr>What you will learn</vt:lpstr>
      <vt:lpstr>Boolean values</vt:lpstr>
      <vt:lpstr>Comparison operators</vt:lpstr>
      <vt:lpstr>Equality vs assignment</vt:lpstr>
      <vt:lpstr>The if statement</vt:lpstr>
      <vt:lpstr>else and elif: first match wins</vt:lpstr>
      <vt:lpstr>Logical operators: and, or, not</vt:lpstr>
      <vt:lpstr>Combine conditions safely</vt:lpstr>
      <vt:lpstr>Exercise: Rock, paper, scissors</vt:lpstr>
      <vt:lpstr>Quick quiz</vt:lpstr>
      <vt:lpstr>Quiz answers</vt:lpstr>
      <vt:lpstr>Recap and next steps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DELL</cp:lastModifiedBy>
  <cp:revision>3</cp:revision>
  <dcterms:created xsi:type="dcterms:W3CDTF">2026-10-12T06:11:44Z</dcterms:created>
  <dcterms:modified xsi:type="dcterms:W3CDTF">2026-10-12T07:17:07Z</dcterms:modified>
</cp:coreProperties>
</file>