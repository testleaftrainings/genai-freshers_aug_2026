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 id="{961090FC-F398-675D-AA7B-695BF718774E}">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0" d="100"/>
          <a:sy n="90" d="100"/>
        </p:scale>
        <p:origin x="6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4341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follows the Microsoft Learn module "Work with data in Python". It is a beginner module, about 30 minutes of content across 7 units. By the end, learners can store and update values in variables, do arithmetic, and convert between data types. Ask the audience: who has written any code before? Use the answer to set the pace.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objectives aloud. Explain that each maps to a unit: variables and typing, numeric operations, and conversion. Then there is a hands-on GPA exercise and a short assessment. Tell learners the quiz at the end mirrors the knowledge check style.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variable is a named container for a value in memory. Stress the right-to-left rule: Python evaluates the value on the right, then stores it in the name on the left. Show that a variable can be updated at any time. Cover the naming rules: start with a letter or underscore, only letters, numbers and underscores, and names are case-sensitive, so score and Score are different. The convention is snake_case. Common mistake: starting a name with a digit, like 1st_place.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three common types: int, float and str. Emphasise that 42 and "42" are different: one supports math, the other is text. Dynamic typing means Python infers the type from the value, so a variable can change type mid-program. Demo type() live if possible. Ask: what would type(98.5) print? Answer: class float.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Highlight that / always returns a float, even 10 / 2 gives 5.0. Integer division // drops the remainder. Modulo % is not a percentage; it returns the remainder. Two useful uses: checking even or odd with n % 2 == 0, and wrapping around a list, since 3 % 3 resets to 0. Order of operations follows PEMDAS and parentheses force order.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small patterns. Mixing int and float always gives float to preserve precision. The += shorthand updates a variable from its own value; the same works for -=, *= and /=. Division by zero raises ZeroDivisionError and stops the program. Ask learners to predict the output of each snippet before revealing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fact: input() always returns a string, even if the user types a number. So you must cast it. Show the one-line form float(input(...)): the inner function runs first, then the outer. Errors: int("hello") and int("3.14") both raise ValueError. Use float() when users might type decimals. Converting a float to int rounds down: int(3.99) is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hands-on unit, about 20 minutes. The task from the module: write a Python program that accepts a student's grades as input and calculates their GPA. The detailed instructions are in the lab that opens from the Learn page via the Launch exercise button, so have learners open it in a new tab. The skills panel and the sketch on this slide are my own summary of how the earlier units apply, not the lab steps. Remind learners: input() returns text, so convert to numbers before adding. Debrief afterwards: what error did people hit, and how did type conversion fix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two minutes to answer on paper or in chat, then move to the next slide for answers. Encourage them to reason from the rules, not guess. Q1 tests the type of a division result, Q2 modulo, Q3 input conversion, Q4 naming rules.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and the reasoning. Q1: B, / always returns a float. Q2: B, 17 divided by 5 is 3 remainder 2, so the answer is 2. Q3: A, input always returns text so you need int() or float(). Q4: C, names cannot start with a digit or contain spaces; a leading underscore is fine.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ideas. Remind learners the GPA exercise combined variables, arithmetic and conversion. Then point them to the module assessment on Microsoft Learn.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F6FED"/>
          </a:solidFill>
          <a:ln/>
        </p:spPr>
      </p:sp>
      <p:sp>
        <p:nvSpPr>
          <p:cNvPr id="3" name="Text 1"/>
          <p:cNvSpPr>
            <a:spLocks noGrp="1"/>
          </p:cNvSpPr>
          <p:nvPr>
            <p:ph type="title" idx="101" hasCustomPrompt="1"/>
          </p:nvPr>
        </p:nvSpPr>
        <p:spPr>
          <a:xfrm>
            <a:off x="457200" y="274320"/>
            <a:ext cx="8229600" cy="731520"/>
          </a:xfrm>
          <a:prstGeom prst="rect">
            <a:avLst/>
          </a:prstGeom>
          <a:noFill/>
          <a:ln/>
        </p:spPr>
        <p:txBody>
          <a:bodyPr wrap="square" rtlCol="0"/>
          <a:lstStyle>
            <a:lvl1pPr marL="0" indent="0" algn="l">
              <a:buNone/>
              <a:defRPr lang="en-US" sz="3000" b="1" dirty="0">
                <a:solidFill>
                  <a:srgbClr val="0F1729"/>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548640" y="1371600"/>
            <a:ext cx="73152" cy="1463040"/>
          </a:xfrm>
          <a:prstGeom prst="rect">
            <a:avLst/>
          </a:prstGeom>
          <a:solidFill>
            <a:srgbClr val="2F6FED"/>
          </a:solidFill>
          <a:ln w="12700">
            <a:solidFill>
              <a:srgbClr val="2F6FED"/>
            </a:solidFill>
            <a:prstDash val="solid"/>
          </a:ln>
        </p:spPr>
      </p:sp>
      <p:sp>
        <p:nvSpPr>
          <p:cNvPr id="3" name="Text 1"/>
          <p:cNvSpPr txBox="1"/>
          <p:nvPr/>
        </p:nvSpPr>
        <p:spPr>
          <a:xfrm>
            <a:off x="822960" y="1280160"/>
            <a:ext cx="7772400" cy="914400"/>
          </a:xfrm>
          <a:prstGeom prst="rect">
            <a:avLst/>
          </a:prstGeom>
          <a:noFill/>
          <a:ln/>
        </p:spPr>
        <p:txBody>
          <a:bodyPr wrap="square" lIns="0" tIns="0" rIns="0" bIns="0" rtlCol="0" anchor="ctr"/>
          <a:lstStyle/>
          <a:p>
            <a:pPr marL="0" indent="0">
              <a:buNone/>
            </a:pPr>
            <a:r>
              <a:rPr lang="en-US" sz="4200" b="1" dirty="0">
                <a:solidFill>
                  <a:srgbClr val="FFFFFF"/>
                </a:solidFill>
              </a:rPr>
              <a:t>Work with Data in Python</a:t>
            </a:r>
            <a:endParaRPr lang="en-US" sz="4200" dirty="0"/>
          </a:p>
        </p:txBody>
      </p:sp>
      <p:sp>
        <p:nvSpPr>
          <p:cNvPr id="4" name="Text 2"/>
          <p:cNvSpPr txBox="1"/>
          <p:nvPr/>
        </p:nvSpPr>
        <p:spPr>
          <a:xfrm>
            <a:off x="822960" y="2194560"/>
            <a:ext cx="7772400" cy="731520"/>
          </a:xfrm>
          <a:prstGeom prst="rect">
            <a:avLst/>
          </a:prstGeom>
          <a:noFill/>
          <a:ln/>
        </p:spPr>
        <p:txBody>
          <a:bodyPr wrap="square" lIns="0" tIns="0" rIns="0" bIns="0" rtlCol="0" anchor="ctr"/>
          <a:lstStyle/>
          <a:p>
            <a:pPr marL="0" indent="0">
              <a:buNone/>
            </a:pPr>
            <a:r>
              <a:rPr lang="en-US" sz="1800" dirty="0">
                <a:solidFill>
                  <a:srgbClr val="B8C4DC"/>
                </a:solidFill>
              </a:rPr>
              <a:t>Variables, dynamic typing, numeric operations and type conversion</a:t>
            </a:r>
            <a:endParaRPr lang="en-US" sz="1800" dirty="0"/>
          </a:p>
        </p:txBody>
      </p:sp>
      <p:sp>
        <p:nvSpPr>
          <p:cNvPr id="5" name="Text 3"/>
          <p:cNvSpPr txBox="1"/>
          <p:nvPr/>
        </p:nvSpPr>
        <p:spPr>
          <a:xfrm>
            <a:off x="822960" y="4206240"/>
            <a:ext cx="7315200" cy="365760"/>
          </a:xfrm>
          <a:prstGeom prst="rect">
            <a:avLst/>
          </a:prstGeom>
          <a:noFill/>
          <a:ln/>
        </p:spPr>
        <p:txBody>
          <a:bodyPr wrap="square" lIns="0" tIns="0" rIns="0" bIns="0" rtlCol="0" anchor="ctr"/>
          <a:lstStyle/>
          <a:p>
            <a:pPr marL="0" indent="0">
              <a:buNone/>
            </a:pPr>
            <a:r>
              <a:rPr lang="en-US" sz="1300" dirty="0">
                <a:solidFill>
                  <a:srgbClr val="7F8CA8"/>
                </a:solidFill>
              </a:rPr>
              <a:t>Beginner  |  7 </a:t>
            </a:r>
            <a:r>
              <a:rPr lang="en-US" sz="1300" dirty="0" smtClean="0">
                <a:solidFill>
                  <a:srgbClr val="7F8CA8"/>
                </a:solidFill>
              </a:rPr>
              <a:t>units</a:t>
            </a:r>
            <a:endParaRPr lang="en-US" sz="13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What you will learn</a:t>
            </a:r>
            <a:endParaRPr lang="en-US" sz="3000" dirty="0"/>
          </a:p>
        </p:txBody>
      </p:sp>
      <p:sp>
        <p:nvSpPr>
          <p:cNvPr id="4" name="Shape 1"/>
          <p:cNvSpPr/>
          <p:nvPr/>
        </p:nvSpPr>
        <p:spPr>
          <a:xfrm>
            <a:off x="457200" y="1280160"/>
            <a:ext cx="8229600" cy="868680"/>
          </a:xfrm>
          <a:prstGeom prst="roundRect">
            <a:avLst>
              <a:gd name="adj" fmla="val 8421"/>
            </a:avLst>
          </a:prstGeom>
          <a:solidFill>
            <a:srgbClr val="F2F5FB"/>
          </a:solidFill>
          <a:ln w="12700">
            <a:solidFill>
              <a:srgbClr val="DDE2EE"/>
            </a:solidFill>
            <a:prstDash val="solid"/>
          </a:ln>
        </p:spPr>
      </p:sp>
      <p:sp>
        <p:nvSpPr>
          <p:cNvPr id="5" name="Shape 2"/>
          <p:cNvSpPr/>
          <p:nvPr/>
        </p:nvSpPr>
        <p:spPr>
          <a:xfrm>
            <a:off x="457200" y="1371600"/>
            <a:ext cx="54864" cy="685800"/>
          </a:xfrm>
          <a:prstGeom prst="rect">
            <a:avLst/>
          </a:prstGeom>
          <a:solidFill>
            <a:srgbClr val="2F6FED"/>
          </a:solidFill>
          <a:ln w="12700">
            <a:solidFill>
              <a:srgbClr val="2F6FED"/>
            </a:solidFill>
            <a:prstDash val="solid"/>
          </a:ln>
        </p:spPr>
      </p:sp>
      <p:sp>
        <p:nvSpPr>
          <p:cNvPr id="6" name="Text 3"/>
          <p:cNvSpPr txBox="1"/>
          <p:nvPr/>
        </p:nvSpPr>
        <p:spPr>
          <a:xfrm>
            <a:off x="685800" y="1280160"/>
            <a:ext cx="7863840" cy="868680"/>
          </a:xfrm>
          <a:prstGeom prst="rect">
            <a:avLst/>
          </a:prstGeom>
          <a:noFill/>
          <a:ln/>
        </p:spPr>
        <p:txBody>
          <a:bodyPr wrap="square" lIns="0" tIns="0" rIns="0" bIns="0" rtlCol="0" anchor="ctr"/>
          <a:lstStyle/>
          <a:p>
            <a:pPr marL="0" indent="0">
              <a:buNone/>
            </a:pPr>
            <a:r>
              <a:rPr lang="en-US" sz="1500" b="1" dirty="0">
                <a:solidFill>
                  <a:srgbClr val="0F1729"/>
                </a:solidFill>
              </a:rPr>
              <a:t>1. Store and update values</a:t>
            </a:r>
            <a:endParaRPr lang="en-US" sz="1500" dirty="0"/>
          </a:p>
          <a:p>
            <a:pPr marL="0" indent="0">
              <a:buNone/>
            </a:pPr>
            <a:r>
              <a:rPr lang="en-US" sz="1300" dirty="0">
                <a:solidFill>
                  <a:srgbClr val="3A4357"/>
                </a:solidFill>
              </a:rPr>
              <a:t>Use variables to hold data and change it over time.</a:t>
            </a:r>
            <a:endParaRPr lang="en-US" sz="1500" dirty="0"/>
          </a:p>
        </p:txBody>
      </p:sp>
      <p:sp>
        <p:nvSpPr>
          <p:cNvPr id="7" name="Shape 4"/>
          <p:cNvSpPr/>
          <p:nvPr/>
        </p:nvSpPr>
        <p:spPr>
          <a:xfrm>
            <a:off x="457200" y="2331720"/>
            <a:ext cx="8229600" cy="868680"/>
          </a:xfrm>
          <a:prstGeom prst="roundRect">
            <a:avLst>
              <a:gd name="adj" fmla="val 8421"/>
            </a:avLst>
          </a:prstGeom>
          <a:solidFill>
            <a:srgbClr val="F2F5FB"/>
          </a:solidFill>
          <a:ln w="12700">
            <a:solidFill>
              <a:srgbClr val="DDE2EE"/>
            </a:solidFill>
            <a:prstDash val="solid"/>
          </a:ln>
        </p:spPr>
      </p:sp>
      <p:sp>
        <p:nvSpPr>
          <p:cNvPr id="8" name="Shape 5"/>
          <p:cNvSpPr/>
          <p:nvPr/>
        </p:nvSpPr>
        <p:spPr>
          <a:xfrm>
            <a:off x="457200" y="2423160"/>
            <a:ext cx="54864" cy="685800"/>
          </a:xfrm>
          <a:prstGeom prst="rect">
            <a:avLst/>
          </a:prstGeom>
          <a:solidFill>
            <a:srgbClr val="1FA67A"/>
          </a:solidFill>
          <a:ln w="12700">
            <a:solidFill>
              <a:srgbClr val="1FA67A"/>
            </a:solidFill>
            <a:prstDash val="solid"/>
          </a:ln>
        </p:spPr>
      </p:sp>
      <p:sp>
        <p:nvSpPr>
          <p:cNvPr id="9" name="Text 6"/>
          <p:cNvSpPr txBox="1"/>
          <p:nvPr/>
        </p:nvSpPr>
        <p:spPr>
          <a:xfrm>
            <a:off x="685800" y="2331720"/>
            <a:ext cx="7863840" cy="868680"/>
          </a:xfrm>
          <a:prstGeom prst="rect">
            <a:avLst/>
          </a:prstGeom>
          <a:noFill/>
          <a:ln/>
        </p:spPr>
        <p:txBody>
          <a:bodyPr wrap="square" lIns="0" tIns="0" rIns="0" bIns="0" rtlCol="0" anchor="ctr"/>
          <a:lstStyle/>
          <a:p>
            <a:pPr marL="0" indent="0">
              <a:buNone/>
            </a:pPr>
            <a:r>
              <a:rPr lang="en-US" sz="1500" b="1" dirty="0">
                <a:solidFill>
                  <a:srgbClr val="0F1729"/>
                </a:solidFill>
              </a:rPr>
              <a:t>2. Perform arithmetic</a:t>
            </a:r>
            <a:endParaRPr lang="en-US" sz="1500" dirty="0"/>
          </a:p>
          <a:p>
            <a:pPr marL="0" indent="0">
              <a:buNone/>
            </a:pPr>
            <a:r>
              <a:rPr lang="en-US" sz="1300" dirty="0">
                <a:solidFill>
                  <a:srgbClr val="3A4357"/>
                </a:solidFill>
              </a:rPr>
              <a:t>Use Python operators on integers and floats.</a:t>
            </a:r>
            <a:endParaRPr lang="en-US" sz="1500" dirty="0"/>
          </a:p>
        </p:txBody>
      </p:sp>
      <p:sp>
        <p:nvSpPr>
          <p:cNvPr id="10" name="Shape 7"/>
          <p:cNvSpPr/>
          <p:nvPr/>
        </p:nvSpPr>
        <p:spPr>
          <a:xfrm>
            <a:off x="457200" y="3383280"/>
            <a:ext cx="8229600" cy="868680"/>
          </a:xfrm>
          <a:prstGeom prst="roundRect">
            <a:avLst>
              <a:gd name="adj" fmla="val 8421"/>
            </a:avLst>
          </a:prstGeom>
          <a:solidFill>
            <a:srgbClr val="F2F5FB"/>
          </a:solidFill>
          <a:ln w="12700">
            <a:solidFill>
              <a:srgbClr val="DDE2EE"/>
            </a:solidFill>
            <a:prstDash val="solid"/>
          </a:ln>
        </p:spPr>
      </p:sp>
      <p:sp>
        <p:nvSpPr>
          <p:cNvPr id="11" name="Shape 8"/>
          <p:cNvSpPr/>
          <p:nvPr/>
        </p:nvSpPr>
        <p:spPr>
          <a:xfrm>
            <a:off x="457200" y="3474720"/>
            <a:ext cx="54864" cy="685800"/>
          </a:xfrm>
          <a:prstGeom prst="rect">
            <a:avLst/>
          </a:prstGeom>
          <a:solidFill>
            <a:srgbClr val="F5A623"/>
          </a:solidFill>
          <a:ln w="12700">
            <a:solidFill>
              <a:srgbClr val="F5A623"/>
            </a:solidFill>
            <a:prstDash val="solid"/>
          </a:ln>
        </p:spPr>
      </p:sp>
      <p:sp>
        <p:nvSpPr>
          <p:cNvPr id="12" name="Text 9"/>
          <p:cNvSpPr txBox="1"/>
          <p:nvPr/>
        </p:nvSpPr>
        <p:spPr>
          <a:xfrm>
            <a:off x="685800" y="3383280"/>
            <a:ext cx="7863840" cy="868680"/>
          </a:xfrm>
          <a:prstGeom prst="rect">
            <a:avLst/>
          </a:prstGeom>
          <a:noFill/>
          <a:ln/>
        </p:spPr>
        <p:txBody>
          <a:bodyPr wrap="square" lIns="0" tIns="0" rIns="0" bIns="0" rtlCol="0" anchor="ctr"/>
          <a:lstStyle/>
          <a:p>
            <a:pPr marL="0" indent="0">
              <a:buNone/>
            </a:pPr>
            <a:r>
              <a:rPr lang="en-US" sz="1500" b="1" dirty="0">
                <a:solidFill>
                  <a:srgbClr val="0F1729"/>
                </a:solidFill>
              </a:rPr>
              <a:t>3. Convert data types</a:t>
            </a:r>
            <a:endParaRPr lang="en-US" sz="1500" dirty="0"/>
          </a:p>
          <a:p>
            <a:pPr marL="0" indent="0">
              <a:buNone/>
            </a:pPr>
            <a:r>
              <a:rPr lang="en-US" sz="1300" dirty="0">
                <a:solidFill>
                  <a:srgbClr val="3A4357"/>
                </a:solidFill>
              </a:rPr>
              <a:t>Use int(), float() and str() to turn text into numbers and back.</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Variables and naming</a:t>
            </a:r>
            <a:endParaRPr lang="en-US" sz="3000" dirty="0"/>
          </a:p>
        </p:txBody>
      </p:sp>
      <p:sp>
        <p:nvSpPr>
          <p:cNvPr id="4" name="Shape 1"/>
          <p:cNvSpPr/>
          <p:nvPr/>
        </p:nvSpPr>
        <p:spPr>
          <a:xfrm>
            <a:off x="457200" y="1188720"/>
            <a:ext cx="3931920" cy="1737360"/>
          </a:xfrm>
          <a:prstGeom prst="roundRect">
            <a:avLst>
              <a:gd name="adj" fmla="val 4211"/>
            </a:avLst>
          </a:prstGeom>
          <a:solidFill>
            <a:srgbClr val="0F1729"/>
          </a:solidFill>
          <a:ln w="12700">
            <a:solidFill>
              <a:srgbClr val="0F1729"/>
            </a:solidFill>
            <a:prstDash val="solid"/>
          </a:ln>
        </p:spPr>
      </p:sp>
      <p:sp>
        <p:nvSpPr>
          <p:cNvPr id="5" name="Text 2"/>
          <p:cNvSpPr txBox="1"/>
          <p:nvPr/>
        </p:nvSpPr>
        <p:spPr>
          <a:xfrm>
            <a:off x="594360" y="1188720"/>
            <a:ext cx="3657600" cy="173736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player_name = "Alex"</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score = 98.5</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score = 100      # update any time</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print(score)     # 100</a:t>
            </a:r>
            <a:endParaRPr lang="en-US" sz="1300" dirty="0"/>
          </a:p>
        </p:txBody>
      </p:sp>
      <p:sp>
        <p:nvSpPr>
          <p:cNvPr id="6" name="Shape 3"/>
          <p:cNvSpPr/>
          <p:nvPr/>
        </p:nvSpPr>
        <p:spPr>
          <a:xfrm>
            <a:off x="4663440" y="1188720"/>
            <a:ext cx="4023360" cy="1234440"/>
          </a:xfrm>
          <a:prstGeom prst="roundRect">
            <a:avLst>
              <a:gd name="adj" fmla="val 5926"/>
            </a:avLst>
          </a:prstGeom>
          <a:solidFill>
            <a:srgbClr val="F2F5FB"/>
          </a:solidFill>
          <a:ln w="12700">
            <a:solidFill>
              <a:srgbClr val="DDE2EE"/>
            </a:solidFill>
            <a:prstDash val="solid"/>
          </a:ln>
        </p:spPr>
      </p:sp>
      <p:sp>
        <p:nvSpPr>
          <p:cNvPr id="7" name="Shape 4"/>
          <p:cNvSpPr/>
          <p:nvPr/>
        </p:nvSpPr>
        <p:spPr>
          <a:xfrm>
            <a:off x="4663440" y="1280160"/>
            <a:ext cx="54864" cy="1051560"/>
          </a:xfrm>
          <a:prstGeom prst="rect">
            <a:avLst/>
          </a:prstGeom>
          <a:solidFill>
            <a:srgbClr val="2F6FED"/>
          </a:solidFill>
          <a:ln w="12700">
            <a:solidFill>
              <a:srgbClr val="2F6FED"/>
            </a:solidFill>
            <a:prstDash val="solid"/>
          </a:ln>
        </p:spPr>
      </p:sp>
      <p:sp>
        <p:nvSpPr>
          <p:cNvPr id="8" name="Text 5"/>
          <p:cNvSpPr txBox="1"/>
          <p:nvPr/>
        </p:nvSpPr>
        <p:spPr>
          <a:xfrm>
            <a:off x="4892040" y="1188720"/>
            <a:ext cx="3657600" cy="1234440"/>
          </a:xfrm>
          <a:prstGeom prst="rect">
            <a:avLst/>
          </a:prstGeom>
          <a:noFill/>
          <a:ln/>
        </p:spPr>
        <p:txBody>
          <a:bodyPr wrap="square" lIns="0" tIns="0" rIns="0" bIns="0" rtlCol="0" anchor="ctr"/>
          <a:lstStyle/>
          <a:p>
            <a:pPr marL="0" indent="0">
              <a:buNone/>
            </a:pPr>
            <a:r>
              <a:rPr lang="en-US" sz="1500" b="1" dirty="0">
                <a:solidFill>
                  <a:srgbClr val="0F1729"/>
                </a:solidFill>
              </a:rPr>
              <a:t>Naming rules</a:t>
            </a:r>
            <a:endParaRPr lang="en-US" sz="1500" dirty="0"/>
          </a:p>
          <a:p>
            <a:pPr marL="0" indent="0">
              <a:buNone/>
            </a:pPr>
            <a:r>
              <a:rPr lang="en-US" sz="1300" dirty="0">
                <a:solidFill>
                  <a:srgbClr val="3A4357"/>
                </a:solidFill>
              </a:rPr>
              <a:t>Start with a letter or _</a:t>
            </a:r>
            <a:endParaRPr lang="en-US" sz="1500" dirty="0"/>
          </a:p>
          <a:p>
            <a:pPr marL="0" indent="0">
              <a:buNone/>
            </a:pPr>
            <a:r>
              <a:rPr lang="en-US" sz="1300" dirty="0">
                <a:solidFill>
                  <a:srgbClr val="3A4357"/>
                </a:solidFill>
              </a:rPr>
              <a:t>Letters, numbers, underscores only</a:t>
            </a:r>
            <a:endParaRPr lang="en-US" sz="1500" dirty="0"/>
          </a:p>
          <a:p>
            <a:pPr marL="0" indent="0">
              <a:buNone/>
            </a:pPr>
            <a:r>
              <a:rPr lang="en-US" sz="1300" dirty="0">
                <a:solidFill>
                  <a:srgbClr val="3A4357"/>
                </a:solidFill>
              </a:rPr>
              <a:t>Case-sensitive</a:t>
            </a:r>
            <a:endParaRPr lang="en-US" sz="1500" dirty="0"/>
          </a:p>
        </p:txBody>
      </p:sp>
      <p:sp>
        <p:nvSpPr>
          <p:cNvPr id="9" name="Shape 6"/>
          <p:cNvSpPr/>
          <p:nvPr/>
        </p:nvSpPr>
        <p:spPr>
          <a:xfrm>
            <a:off x="4663440" y="2560320"/>
            <a:ext cx="4023360" cy="822960"/>
          </a:xfrm>
          <a:prstGeom prst="roundRect">
            <a:avLst>
              <a:gd name="adj" fmla="val 8889"/>
            </a:avLst>
          </a:prstGeom>
          <a:solidFill>
            <a:srgbClr val="F2F5FB"/>
          </a:solidFill>
          <a:ln w="12700">
            <a:solidFill>
              <a:srgbClr val="DDE2EE"/>
            </a:solidFill>
            <a:prstDash val="solid"/>
          </a:ln>
        </p:spPr>
      </p:sp>
      <p:sp>
        <p:nvSpPr>
          <p:cNvPr id="10" name="Shape 7"/>
          <p:cNvSpPr/>
          <p:nvPr/>
        </p:nvSpPr>
        <p:spPr>
          <a:xfrm>
            <a:off x="4663440" y="2651760"/>
            <a:ext cx="54864" cy="640080"/>
          </a:xfrm>
          <a:prstGeom prst="rect">
            <a:avLst/>
          </a:prstGeom>
          <a:solidFill>
            <a:srgbClr val="1FA67A"/>
          </a:solidFill>
          <a:ln w="12700">
            <a:solidFill>
              <a:srgbClr val="1FA67A"/>
            </a:solidFill>
            <a:prstDash val="solid"/>
          </a:ln>
        </p:spPr>
      </p:sp>
      <p:sp>
        <p:nvSpPr>
          <p:cNvPr id="11" name="Text 8"/>
          <p:cNvSpPr txBox="1"/>
          <p:nvPr/>
        </p:nvSpPr>
        <p:spPr>
          <a:xfrm>
            <a:off x="4892040" y="2560320"/>
            <a:ext cx="3657600" cy="822960"/>
          </a:xfrm>
          <a:prstGeom prst="rect">
            <a:avLst/>
          </a:prstGeom>
          <a:noFill/>
          <a:ln/>
        </p:spPr>
        <p:txBody>
          <a:bodyPr wrap="square" lIns="0" tIns="0" rIns="0" bIns="0" rtlCol="0" anchor="ctr"/>
          <a:lstStyle/>
          <a:p>
            <a:pPr marL="0" indent="0">
              <a:buNone/>
            </a:pPr>
            <a:r>
              <a:rPr lang="en-US" sz="1500" b="1" dirty="0">
                <a:solidFill>
                  <a:srgbClr val="0F1729"/>
                </a:solidFill>
              </a:rPr>
              <a:t>Convention</a:t>
            </a:r>
            <a:endParaRPr lang="en-US" sz="1500" dirty="0"/>
          </a:p>
          <a:p>
            <a:pPr marL="0" indent="0">
              <a:buNone/>
            </a:pPr>
            <a:r>
              <a:rPr lang="en-US" sz="1300" dirty="0">
                <a:solidFill>
                  <a:srgbClr val="3A4357"/>
                </a:solidFill>
              </a:rPr>
              <a:t>Use snake_case, for example final_score.</a:t>
            </a:r>
            <a:endParaRPr lang="en-US" sz="1500" dirty="0"/>
          </a:p>
        </p:txBody>
      </p:sp>
      <p:sp>
        <p:nvSpPr>
          <p:cNvPr id="12" name="Text 9"/>
          <p:cNvSpPr txBox="1"/>
          <p:nvPr/>
        </p:nvSpPr>
        <p:spPr>
          <a:xfrm>
            <a:off x="457200" y="3657600"/>
            <a:ext cx="8229600" cy="548640"/>
          </a:xfrm>
          <a:prstGeom prst="rect">
            <a:avLst/>
          </a:prstGeom>
          <a:noFill/>
          <a:ln/>
        </p:spPr>
        <p:txBody>
          <a:bodyPr wrap="square" lIns="0" tIns="0" rIns="0" bIns="0" rtlCol="0" anchor="ctr"/>
          <a:lstStyle/>
          <a:p>
            <a:pPr marL="0" indent="0">
              <a:buNone/>
            </a:pPr>
            <a:r>
              <a:rPr lang="en-US" sz="1600" i="1" dirty="0">
                <a:solidFill>
                  <a:srgbClr val="5B6475"/>
                </a:solidFill>
              </a:rPr>
              <a:t>Python reads the right side first, then assigns it to the name on the left.</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Data types and dynamic typing</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2857114607"/>
              </p:ext>
            </p:extLst>
          </p:nvPr>
        </p:nvGraphicFramePr>
        <p:xfrm>
          <a:off x="457200" y="1188720"/>
          <a:ext cx="4572000" cy="1645920"/>
        </p:xfrm>
        <a:graphic>
          <a:graphicData uri="http://schemas.openxmlformats.org/drawingml/2006/table">
            <a:tbl>
              <a:tblPr/>
              <a:tblGrid>
                <a:gridCol w="15544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2918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2F6FE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Label</a:t>
                      </a:r>
                      <a:endParaRPr lang="en-US" sz="1300" dirty="0">
                        <a:latin typeface="Calibri" charset="0"/>
                        <a:ea typeface="Calibri" charset="0"/>
                        <a:cs typeface="Calibri"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2F6FE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2F6FED"/>
                    </a:solidFill>
                  </a:tcPr>
                </a:tc>
                <a:extLst>
                  <a:ext uri="{0D108BD9-81ED-4DB2-BD59-A6C34878D82A}">
                    <a16:rowId xmlns:a16="http://schemas.microsoft.com/office/drawing/2014/main" val="10000"/>
                  </a:ext>
                </a:extLst>
              </a:tr>
              <a:tr h="329184">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Integer</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int</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42, -7</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Floating point</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float</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3.14, -0.5</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extLst>
                  <a:ext uri="{0D108BD9-81ED-4DB2-BD59-A6C34878D82A}">
                    <a16:rowId xmlns:a16="http://schemas.microsoft.com/office/drawing/2014/main" val="10002"/>
                  </a:ext>
                </a:extLst>
              </a:tr>
              <a:tr h="329184">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String</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str</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"Hello", "</a:t>
                      </a:r>
                      <a:r>
                        <a:rPr lang="en-US" sz="1300" dirty="0" smtClean="0">
                          <a:solidFill>
                            <a:srgbClr val="1B1F2A"/>
                          </a:solidFill>
                          <a:latin typeface="Consolas" pitchFamily="34" charset="0"/>
                          <a:ea typeface="Consolas" pitchFamily="34" charset="-122"/>
                          <a:cs typeface="Consolas" pitchFamily="34" charset="-120"/>
                        </a:rPr>
                        <a:t>42"</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300" dirty="0" smtClean="0">
                          <a:latin typeface="Consolas" charset="0"/>
                          <a:ea typeface="Consolas" charset="0"/>
                          <a:cs typeface="Consolas" charset="0"/>
                        </a:rPr>
                        <a:t>Boolean</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smtClean="0">
                          <a:latin typeface="Consolas" charset="0"/>
                          <a:ea typeface="Consolas" charset="0"/>
                          <a:cs typeface="Consolas" charset="0"/>
                        </a:rPr>
                        <a:t>bool</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smtClean="0">
                          <a:latin typeface="Consolas" charset="0"/>
                          <a:ea typeface="Consolas" charset="0"/>
                          <a:cs typeface="Consolas" charset="0"/>
                        </a:rPr>
                        <a:t>True, False</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extLst>
                  <a:ext uri="{0D108BD9-81ED-4DB2-BD59-A6C34878D82A}">
                    <a16:rowId xmlns:a16="http://schemas.microsoft.com/office/drawing/2014/main" val="626468984"/>
                  </a:ext>
                </a:extLst>
              </a:tr>
            </a:tbl>
          </a:graphicData>
        </a:graphic>
      </p:graphicFrame>
      <p:sp>
        <p:nvSpPr>
          <p:cNvPr id="3" name="Shape 1"/>
          <p:cNvSpPr/>
          <p:nvPr/>
        </p:nvSpPr>
        <p:spPr>
          <a:xfrm>
            <a:off x="5303520" y="1188720"/>
            <a:ext cx="3383280" cy="1371600"/>
          </a:xfrm>
          <a:prstGeom prst="roundRect">
            <a:avLst>
              <a:gd name="adj" fmla="val 5333"/>
            </a:avLst>
          </a:prstGeom>
          <a:solidFill>
            <a:srgbClr val="0F1729"/>
          </a:solidFill>
          <a:ln w="12700">
            <a:solidFill>
              <a:srgbClr val="0F1729"/>
            </a:solidFill>
            <a:prstDash val="solid"/>
          </a:ln>
        </p:spPr>
      </p:sp>
      <p:sp>
        <p:nvSpPr>
          <p:cNvPr id="6" name="Text 2"/>
          <p:cNvSpPr txBox="1"/>
          <p:nvPr/>
        </p:nvSpPr>
        <p:spPr>
          <a:xfrm>
            <a:off x="5440680" y="1188720"/>
            <a:ext cx="3108960" cy="137160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status = 10       # int</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status = "Active" # </a:t>
            </a:r>
            <a:r>
              <a:rPr lang="en-US" sz="1300" dirty="0" smtClean="0">
                <a:solidFill>
                  <a:srgbClr val="E6EDF7"/>
                </a:solidFill>
                <a:latin typeface="Consolas" pitchFamily="34" charset="0"/>
                <a:ea typeface="Consolas" pitchFamily="34" charset="-122"/>
                <a:cs typeface="Consolas" pitchFamily="34" charset="-120"/>
              </a:rPr>
              <a:t>str</a:t>
            </a:r>
          </a:p>
          <a:p>
            <a:pPr marL="0" indent="0">
              <a:buNone/>
            </a:pPr>
            <a:r>
              <a:rPr lang="en-US" sz="1300" dirty="0" smtClean="0">
                <a:solidFill>
                  <a:srgbClr val="E6EDF7"/>
                </a:solidFill>
                <a:latin typeface="Consolas" pitchFamily="34" charset="0"/>
              </a:rPr>
              <a:t>is_active = True  # bool</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print(type(status))</a:t>
            </a:r>
            <a:endParaRPr lang="en-US" sz="1300" dirty="0"/>
          </a:p>
        </p:txBody>
      </p:sp>
      <p:sp>
        <p:nvSpPr>
          <p:cNvPr id="7" name="Text 3"/>
          <p:cNvSpPr txBox="1"/>
          <p:nvPr/>
        </p:nvSpPr>
        <p:spPr>
          <a:xfrm>
            <a:off x="457200" y="3291840"/>
            <a:ext cx="8229600" cy="548640"/>
          </a:xfrm>
          <a:prstGeom prst="rect">
            <a:avLst/>
          </a:prstGeom>
          <a:noFill/>
          <a:ln/>
        </p:spPr>
        <p:txBody>
          <a:bodyPr wrap="square" lIns="0" tIns="0" rIns="0" bIns="0" rtlCol="0" anchor="ctr"/>
          <a:lstStyle/>
          <a:p>
            <a:pPr marL="0" indent="0">
              <a:buNone/>
            </a:pPr>
            <a:r>
              <a:rPr lang="en-US" sz="1600" i="1" dirty="0">
                <a:solidFill>
                  <a:srgbClr val="5B6475"/>
                </a:solidFill>
              </a:rPr>
              <a:t>Dynamic typing: Python works out the type from the value you assign.</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Arithmetic operators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3900708231"/>
              </p:ext>
            </p:extLst>
          </p:nvPr>
        </p:nvGraphicFramePr>
        <p:xfrm>
          <a:off x="457200" y="1188720"/>
          <a:ext cx="8229600" cy="2041876"/>
        </p:xfrm>
        <a:graphic>
          <a:graphicData uri="http://schemas.openxmlformats.org/drawingml/2006/table">
            <a:tbl>
              <a:tblPr/>
              <a:tblGrid>
                <a:gridCol w="14630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2918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Operator</a:t>
                      </a:r>
                      <a:endParaRPr lang="en-US" sz="1300" dirty="0">
                        <a:latin typeface="Calibri" charset="0"/>
                        <a:ea typeface="Calibri" charset="0"/>
                        <a:cs typeface="Calibri"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2F6FE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2F6FE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2F6FE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2F6FED"/>
                    </a:solidFill>
                  </a:tcPr>
                </a:tc>
                <a:extLst>
                  <a:ext uri="{0D108BD9-81ED-4DB2-BD59-A6C34878D82A}">
                    <a16:rowId xmlns:a16="http://schemas.microsoft.com/office/drawing/2014/main" val="10000"/>
                  </a:ext>
                </a:extLst>
              </a:tr>
              <a:tr h="395956">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  -  *</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Add, subtract, multiply</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10 * 3</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30</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Division (always float)</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10 / 2</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5.0</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extLst>
                  <a:ext uri="{0D108BD9-81ED-4DB2-BD59-A6C34878D82A}">
                    <a16:rowId xmlns:a16="http://schemas.microsoft.com/office/drawing/2014/main" val="10002"/>
                  </a:ext>
                </a:extLst>
              </a:tr>
              <a:tr h="329184">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Integer division</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10 // 3</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3</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Modulo (remainder)</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10 % 3</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1</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extLst>
                  <a:ext uri="{0D108BD9-81ED-4DB2-BD59-A6C34878D82A}">
                    <a16:rowId xmlns:a16="http://schemas.microsoft.com/office/drawing/2014/main" val="10004"/>
                  </a:ext>
                </a:extLst>
              </a:tr>
              <a:tr h="329184">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Exponent</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2 ** 3</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8</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1"/>
          <p:cNvSpPr txBox="1"/>
          <p:nvPr/>
        </p:nvSpPr>
        <p:spPr>
          <a:xfrm>
            <a:off x="457200" y="3566160"/>
            <a:ext cx="8229600" cy="457200"/>
          </a:xfrm>
          <a:prstGeom prst="rect">
            <a:avLst/>
          </a:prstGeom>
          <a:noFill/>
          <a:ln/>
        </p:spPr>
        <p:txBody>
          <a:bodyPr wrap="square" lIns="0" tIns="0" rIns="0" bIns="0" rtlCol="0" anchor="ctr"/>
          <a:lstStyle/>
          <a:p>
            <a:pPr marL="0" indent="0">
              <a:buNone/>
            </a:pPr>
            <a:r>
              <a:rPr lang="en-US" sz="1600" i="1" dirty="0">
                <a:solidFill>
                  <a:srgbClr val="5B6475"/>
                </a:solidFill>
              </a:rPr>
              <a:t>Order of operations: 2 + 3 * 4 = 14, but (2 + 3) * 4 = 20</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Numbers in practice</a:t>
            </a:r>
            <a:endParaRPr lang="en-US" sz="3000" dirty="0"/>
          </a:p>
        </p:txBody>
      </p:sp>
      <p:sp>
        <p:nvSpPr>
          <p:cNvPr id="4" name="Shape 1"/>
          <p:cNvSpPr/>
          <p:nvPr/>
        </p:nvSpPr>
        <p:spPr>
          <a:xfrm>
            <a:off x="457200" y="1188720"/>
            <a:ext cx="3931920" cy="822960"/>
          </a:xfrm>
          <a:prstGeom prst="roundRect">
            <a:avLst>
              <a:gd name="adj" fmla="val 8889"/>
            </a:avLst>
          </a:prstGeom>
          <a:solidFill>
            <a:srgbClr val="0F1729"/>
          </a:solidFill>
          <a:ln w="12700">
            <a:solidFill>
              <a:srgbClr val="0F1729"/>
            </a:solidFill>
            <a:prstDash val="solid"/>
          </a:ln>
        </p:spPr>
      </p:sp>
      <p:sp>
        <p:nvSpPr>
          <p:cNvPr id="5" name="Text 2"/>
          <p:cNvSpPr txBox="1"/>
          <p:nvPr/>
        </p:nvSpPr>
        <p:spPr>
          <a:xfrm>
            <a:off x="594360" y="1188720"/>
            <a:ext cx="3657600" cy="82296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10 + 3.5   # 13.5 (float)</a:t>
            </a:r>
            <a:endParaRPr lang="en-US" sz="1300" dirty="0"/>
          </a:p>
        </p:txBody>
      </p:sp>
      <p:sp>
        <p:nvSpPr>
          <p:cNvPr id="6" name="Shape 3"/>
          <p:cNvSpPr/>
          <p:nvPr/>
        </p:nvSpPr>
        <p:spPr>
          <a:xfrm>
            <a:off x="4754880" y="1188720"/>
            <a:ext cx="3931920" cy="822960"/>
          </a:xfrm>
          <a:prstGeom prst="roundRect">
            <a:avLst>
              <a:gd name="adj" fmla="val 8889"/>
            </a:avLst>
          </a:prstGeom>
          <a:solidFill>
            <a:srgbClr val="0F1729"/>
          </a:solidFill>
          <a:ln w="12700">
            <a:solidFill>
              <a:srgbClr val="0F1729"/>
            </a:solidFill>
            <a:prstDash val="solid"/>
          </a:ln>
        </p:spPr>
      </p:sp>
      <p:sp>
        <p:nvSpPr>
          <p:cNvPr id="7" name="Text 4"/>
          <p:cNvSpPr txBox="1"/>
          <p:nvPr/>
        </p:nvSpPr>
        <p:spPr>
          <a:xfrm>
            <a:off x="4892040" y="1188720"/>
            <a:ext cx="3657600" cy="82296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score = 50</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score += 10   # 60</a:t>
            </a:r>
            <a:endParaRPr lang="en-US" sz="1300" dirty="0"/>
          </a:p>
        </p:txBody>
      </p:sp>
      <p:sp>
        <p:nvSpPr>
          <p:cNvPr id="8" name="Shape 5"/>
          <p:cNvSpPr/>
          <p:nvPr/>
        </p:nvSpPr>
        <p:spPr>
          <a:xfrm>
            <a:off x="457200" y="2286000"/>
            <a:ext cx="3931920" cy="822960"/>
          </a:xfrm>
          <a:prstGeom prst="roundRect">
            <a:avLst>
              <a:gd name="adj" fmla="val 8889"/>
            </a:avLst>
          </a:prstGeom>
          <a:solidFill>
            <a:srgbClr val="0F1729"/>
          </a:solidFill>
          <a:ln w="12700">
            <a:solidFill>
              <a:srgbClr val="0F1729"/>
            </a:solidFill>
            <a:prstDash val="solid"/>
          </a:ln>
        </p:spPr>
      </p:sp>
      <p:sp>
        <p:nvSpPr>
          <p:cNvPr id="9" name="Text 6"/>
          <p:cNvSpPr txBox="1"/>
          <p:nvPr/>
        </p:nvSpPr>
        <p:spPr>
          <a:xfrm>
            <a:off x="594360" y="2286000"/>
            <a:ext cx="3657600" cy="82296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10 // 3   # 3</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10 % 3    # 1</a:t>
            </a:r>
            <a:endParaRPr lang="en-US" sz="1300" dirty="0"/>
          </a:p>
        </p:txBody>
      </p:sp>
      <p:sp>
        <p:nvSpPr>
          <p:cNvPr id="10" name="Shape 7"/>
          <p:cNvSpPr/>
          <p:nvPr/>
        </p:nvSpPr>
        <p:spPr>
          <a:xfrm>
            <a:off x="4754880" y="2286000"/>
            <a:ext cx="3931920" cy="822960"/>
          </a:xfrm>
          <a:prstGeom prst="roundRect">
            <a:avLst>
              <a:gd name="adj" fmla="val 8889"/>
            </a:avLst>
          </a:prstGeom>
          <a:solidFill>
            <a:srgbClr val="0F1729"/>
          </a:solidFill>
          <a:ln w="12700">
            <a:solidFill>
              <a:srgbClr val="0F1729"/>
            </a:solidFill>
            <a:prstDash val="solid"/>
          </a:ln>
        </p:spPr>
      </p:sp>
      <p:sp>
        <p:nvSpPr>
          <p:cNvPr id="11" name="Text 8"/>
          <p:cNvSpPr txBox="1"/>
          <p:nvPr/>
        </p:nvSpPr>
        <p:spPr>
          <a:xfrm>
            <a:off x="4892040" y="2286000"/>
            <a:ext cx="3657600" cy="82296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10 / 0</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 ZeroDivisionError</a:t>
            </a:r>
            <a:endParaRPr lang="en-US" sz="1300" dirty="0"/>
          </a:p>
        </p:txBody>
      </p:sp>
      <p:sp>
        <p:nvSpPr>
          <p:cNvPr id="12" name="Text 9"/>
          <p:cNvSpPr txBox="1"/>
          <p:nvPr/>
        </p:nvSpPr>
        <p:spPr>
          <a:xfrm>
            <a:off x="457200" y="3474720"/>
            <a:ext cx="8229600" cy="457200"/>
          </a:xfrm>
          <a:prstGeom prst="rect">
            <a:avLst/>
          </a:prstGeom>
          <a:noFill/>
          <a:ln/>
        </p:spPr>
        <p:txBody>
          <a:bodyPr wrap="square" lIns="0" tIns="0" rIns="0" bIns="0" rtlCol="0" anchor="ctr"/>
          <a:lstStyle/>
          <a:p>
            <a:pPr marL="0" indent="0">
              <a:buNone/>
            </a:pPr>
            <a:r>
              <a:rPr lang="en-US" sz="1600" i="1" dirty="0">
                <a:solidFill>
                  <a:srgbClr val="5B6475"/>
                </a:solidFill>
              </a:rPr>
              <a:t>int + float gives float  |  += is shorthand  |  never divide by zero</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Converting between data types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206240" cy="1316736"/>
        </p:xfrm>
        <a:graphic>
          <a:graphicData uri="http://schemas.openxmlformats.org/drawingml/2006/table">
            <a:tbl>
              <a:tblPr/>
              <a:tblGrid>
                <a:gridCol w="12801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2918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Function</a:t>
                      </a:r>
                      <a:endParaRPr lang="en-US" sz="1300" dirty="0">
                        <a:latin typeface="Calibri" charset="0"/>
                        <a:ea typeface="Calibri" charset="0"/>
                        <a:cs typeface="Calibri"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2F6FE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2F6FE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2F6FED"/>
                    </a:solidFill>
                  </a:tcPr>
                </a:tc>
                <a:extLst>
                  <a:ext uri="{0D108BD9-81ED-4DB2-BD59-A6C34878D82A}">
                    <a16:rowId xmlns:a16="http://schemas.microsoft.com/office/drawing/2014/main" val="10000"/>
                  </a:ext>
                </a:extLst>
              </a:tr>
              <a:tr h="329184">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int()</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int("42")</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42</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float()</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float("3.14")</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3.14</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2F5FB"/>
                    </a:solidFill>
                  </a:tcPr>
                </a:tc>
                <a:extLst>
                  <a:ext uri="{0D108BD9-81ED-4DB2-BD59-A6C34878D82A}">
                    <a16:rowId xmlns:a16="http://schemas.microsoft.com/office/drawing/2014/main" val="10002"/>
                  </a:ext>
                </a:extLst>
              </a:tr>
              <a:tr h="329184">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str()</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str(100)</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marL="0" indent="0">
                        <a:buNone/>
                      </a:pPr>
                      <a:r>
                        <a:rPr lang="en-US" sz="1300" dirty="0">
                          <a:solidFill>
                            <a:srgbClr val="1B1F2A"/>
                          </a:solidFill>
                          <a:latin typeface="Consolas" pitchFamily="34" charset="0"/>
                          <a:ea typeface="Consolas" pitchFamily="34" charset="-122"/>
                          <a:cs typeface="Consolas" pitchFamily="34" charset="-120"/>
                        </a:rPr>
                        <a:t>"100"</a:t>
                      </a:r>
                      <a:endParaRPr lang="en-US" sz="1300" dirty="0">
                        <a:latin typeface="Consolas" charset="0"/>
                        <a:ea typeface="Consolas" charset="0"/>
                        <a:cs typeface="Consolas" charset="0"/>
                      </a:endParaRPr>
                    </a:p>
                  </a:txBody>
                  <a:tcPr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1"/>
          <p:cNvSpPr/>
          <p:nvPr/>
        </p:nvSpPr>
        <p:spPr>
          <a:xfrm>
            <a:off x="4937760" y="1188720"/>
            <a:ext cx="3749040" cy="1005840"/>
          </a:xfrm>
          <a:prstGeom prst="roundRect">
            <a:avLst>
              <a:gd name="adj" fmla="val 7273"/>
            </a:avLst>
          </a:prstGeom>
          <a:solidFill>
            <a:srgbClr val="0F1729"/>
          </a:solidFill>
          <a:ln w="12700">
            <a:solidFill>
              <a:srgbClr val="0F1729"/>
            </a:solidFill>
            <a:prstDash val="solid"/>
          </a:ln>
        </p:spPr>
      </p:sp>
      <p:sp>
        <p:nvSpPr>
          <p:cNvPr id="6" name="Text 2"/>
          <p:cNvSpPr txBox="1"/>
          <p:nvPr/>
        </p:nvSpPr>
        <p:spPr>
          <a:xfrm>
            <a:off x="5074920" y="1188720"/>
            <a:ext cx="3474720" cy="100584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score = float(input("Score: "))</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print(score + 5)</a:t>
            </a:r>
            <a:endParaRPr lang="en-US" sz="1300" dirty="0"/>
          </a:p>
        </p:txBody>
      </p:sp>
      <p:sp>
        <p:nvSpPr>
          <p:cNvPr id="7" name="Shape 3"/>
          <p:cNvSpPr/>
          <p:nvPr/>
        </p:nvSpPr>
        <p:spPr>
          <a:xfrm>
            <a:off x="4937760" y="2423160"/>
            <a:ext cx="3749040" cy="1005840"/>
          </a:xfrm>
          <a:prstGeom prst="roundRect">
            <a:avLst>
              <a:gd name="adj" fmla="val 7273"/>
            </a:avLst>
          </a:prstGeom>
          <a:solidFill>
            <a:srgbClr val="F2F5FB"/>
          </a:solidFill>
          <a:ln w="12700">
            <a:solidFill>
              <a:srgbClr val="DDE2EE"/>
            </a:solidFill>
            <a:prstDash val="solid"/>
          </a:ln>
        </p:spPr>
      </p:sp>
      <p:sp>
        <p:nvSpPr>
          <p:cNvPr id="3" name="Shape 4"/>
          <p:cNvSpPr/>
          <p:nvPr/>
        </p:nvSpPr>
        <p:spPr>
          <a:xfrm>
            <a:off x="4937760" y="2514600"/>
            <a:ext cx="54864" cy="822960"/>
          </a:xfrm>
          <a:prstGeom prst="rect">
            <a:avLst/>
          </a:prstGeom>
          <a:solidFill>
            <a:srgbClr val="D64550"/>
          </a:solidFill>
          <a:ln w="12700">
            <a:solidFill>
              <a:srgbClr val="D64550"/>
            </a:solidFill>
            <a:prstDash val="solid"/>
          </a:ln>
        </p:spPr>
      </p:sp>
      <p:sp>
        <p:nvSpPr>
          <p:cNvPr id="9" name="Text 5"/>
          <p:cNvSpPr txBox="1"/>
          <p:nvPr/>
        </p:nvSpPr>
        <p:spPr>
          <a:xfrm>
            <a:off x="5166360" y="2423160"/>
            <a:ext cx="3383280" cy="1005840"/>
          </a:xfrm>
          <a:prstGeom prst="rect">
            <a:avLst/>
          </a:prstGeom>
          <a:noFill/>
          <a:ln/>
        </p:spPr>
        <p:txBody>
          <a:bodyPr wrap="square" lIns="0" tIns="0" rIns="0" bIns="0" rtlCol="0" anchor="ctr"/>
          <a:lstStyle/>
          <a:p>
            <a:pPr marL="0" indent="0">
              <a:buNone/>
            </a:pPr>
            <a:r>
              <a:rPr lang="en-US" sz="1500" b="1" dirty="0">
                <a:solidFill>
                  <a:srgbClr val="0F1729"/>
                </a:solidFill>
              </a:rPr>
              <a:t>Watch out</a:t>
            </a:r>
            <a:endParaRPr lang="en-US" sz="1500" dirty="0"/>
          </a:p>
          <a:p>
            <a:pPr marL="0" indent="0">
              <a:buNone/>
            </a:pPr>
            <a:r>
              <a:rPr lang="en-US" sz="1300" dirty="0">
                <a:solidFill>
                  <a:srgbClr val="3A4357"/>
                </a:solidFill>
              </a:rPr>
              <a:t>int("hello") and int("3.14") raise ValueError. int(3.99) gives 3 (rounds down).</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Exercise: Calculate a student's GPA</a:t>
            </a:r>
            <a:endParaRPr lang="en-US" sz="3000" dirty="0"/>
          </a:p>
        </p:txBody>
      </p:sp>
      <p:sp>
        <p:nvSpPr>
          <p:cNvPr id="4" name="Text 1"/>
          <p:cNvSpPr txBox="1"/>
          <p:nvPr/>
        </p:nvSpPr>
        <p:spPr>
          <a:xfrm>
            <a:off x="457200" y="1097280"/>
            <a:ext cx="8229600" cy="548640"/>
          </a:xfrm>
          <a:prstGeom prst="rect">
            <a:avLst/>
          </a:prstGeom>
          <a:noFill/>
          <a:ln/>
        </p:spPr>
        <p:txBody>
          <a:bodyPr wrap="square" lIns="0" tIns="0" rIns="0" bIns="0" rtlCol="0" anchor="ctr"/>
          <a:lstStyle/>
          <a:p>
            <a:pPr marL="0" indent="0">
              <a:buNone/>
            </a:pPr>
            <a:r>
              <a:rPr lang="en-US" sz="1700" b="1" dirty="0">
                <a:solidFill>
                  <a:srgbClr val="0F1729"/>
                </a:solidFill>
              </a:rPr>
              <a:t>Write a Python program that accepts a student's grades as input and calculates their GPA.</a:t>
            </a:r>
            <a:endParaRPr lang="en-US" sz="1700" dirty="0"/>
          </a:p>
        </p:txBody>
      </p:sp>
      <p:sp>
        <p:nvSpPr>
          <p:cNvPr id="5" name="Text 2"/>
          <p:cNvSpPr txBox="1"/>
          <p:nvPr/>
        </p:nvSpPr>
        <p:spPr>
          <a:xfrm>
            <a:off x="457200" y="1645920"/>
            <a:ext cx="8229600" cy="320040"/>
          </a:xfrm>
          <a:prstGeom prst="rect">
            <a:avLst/>
          </a:prstGeom>
          <a:noFill/>
          <a:ln/>
        </p:spPr>
        <p:txBody>
          <a:bodyPr wrap="square" lIns="0" tIns="0" rIns="0" bIns="0" rtlCol="0" anchor="ctr"/>
          <a:lstStyle/>
          <a:p>
            <a:pPr marL="0" indent="0">
              <a:buNone/>
            </a:pPr>
            <a:r>
              <a:rPr lang="en-US" sz="1300" dirty="0">
                <a:solidFill>
                  <a:srgbClr val="5B6475"/>
                </a:solidFill>
              </a:rPr>
              <a:t>20 min  |  Hands-on lab opened from Microsoft Learn</a:t>
            </a:r>
            <a:endParaRPr lang="en-US" sz="1300" dirty="0"/>
          </a:p>
        </p:txBody>
      </p:sp>
      <p:sp>
        <p:nvSpPr>
          <p:cNvPr id="6" name="Shape 3"/>
          <p:cNvSpPr/>
          <p:nvPr/>
        </p:nvSpPr>
        <p:spPr>
          <a:xfrm>
            <a:off x="457200" y="2148840"/>
            <a:ext cx="4023360" cy="1554480"/>
          </a:xfrm>
          <a:prstGeom prst="roundRect">
            <a:avLst>
              <a:gd name="adj" fmla="val 4706"/>
            </a:avLst>
          </a:prstGeom>
          <a:solidFill>
            <a:srgbClr val="F2F5FB"/>
          </a:solidFill>
          <a:ln w="12700">
            <a:solidFill>
              <a:srgbClr val="DDE2EE"/>
            </a:solidFill>
            <a:prstDash val="solid"/>
          </a:ln>
        </p:spPr>
      </p:sp>
      <p:sp>
        <p:nvSpPr>
          <p:cNvPr id="7" name="Shape 4"/>
          <p:cNvSpPr/>
          <p:nvPr/>
        </p:nvSpPr>
        <p:spPr>
          <a:xfrm>
            <a:off x="457200" y="2240280"/>
            <a:ext cx="54864" cy="1371600"/>
          </a:xfrm>
          <a:prstGeom prst="rect">
            <a:avLst/>
          </a:prstGeom>
          <a:solidFill>
            <a:srgbClr val="2F6FED"/>
          </a:solidFill>
          <a:ln w="12700">
            <a:solidFill>
              <a:srgbClr val="2F6FED"/>
            </a:solidFill>
            <a:prstDash val="solid"/>
          </a:ln>
        </p:spPr>
      </p:sp>
      <p:sp>
        <p:nvSpPr>
          <p:cNvPr id="8" name="Text 5"/>
          <p:cNvSpPr txBox="1"/>
          <p:nvPr/>
        </p:nvSpPr>
        <p:spPr>
          <a:xfrm>
            <a:off x="685800" y="2148840"/>
            <a:ext cx="3657600" cy="1554480"/>
          </a:xfrm>
          <a:prstGeom prst="rect">
            <a:avLst/>
          </a:prstGeom>
          <a:noFill/>
          <a:ln/>
        </p:spPr>
        <p:txBody>
          <a:bodyPr wrap="square" lIns="0" tIns="0" rIns="0" bIns="0" rtlCol="0" anchor="ctr"/>
          <a:lstStyle/>
          <a:p>
            <a:pPr marL="0" indent="0">
              <a:buNone/>
            </a:pPr>
            <a:r>
              <a:rPr lang="en-US" sz="1500" b="1" dirty="0">
                <a:solidFill>
                  <a:srgbClr val="0F1729"/>
                </a:solidFill>
              </a:rPr>
              <a:t>Skills you will use</a:t>
            </a:r>
            <a:endParaRPr lang="en-US" sz="1500" dirty="0"/>
          </a:p>
          <a:p>
            <a:pPr marL="0" indent="0">
              <a:buNone/>
            </a:pPr>
            <a:r>
              <a:rPr lang="en-US" sz="1300" dirty="0">
                <a:solidFill>
                  <a:srgbClr val="3A4357"/>
                </a:solidFill>
              </a:rPr>
              <a:t>Variables to hold each grade</a:t>
            </a:r>
            <a:endParaRPr lang="en-US" sz="1500" dirty="0"/>
          </a:p>
          <a:p>
            <a:pPr marL="0" indent="0">
              <a:buNone/>
            </a:pPr>
            <a:r>
              <a:rPr lang="en-US" sz="1300" dirty="0">
                <a:solidFill>
                  <a:srgbClr val="3A4357"/>
                </a:solidFill>
              </a:rPr>
              <a:t>int() / float() to convert input()</a:t>
            </a:r>
            <a:endParaRPr lang="en-US" sz="1500" dirty="0"/>
          </a:p>
          <a:p>
            <a:pPr marL="0" indent="0">
              <a:buNone/>
            </a:pPr>
            <a:r>
              <a:rPr lang="en-US" sz="1300" dirty="0">
                <a:solidFill>
                  <a:srgbClr val="3A4357"/>
                </a:solidFill>
              </a:rPr>
              <a:t>+ and / to total and average</a:t>
            </a:r>
            <a:endParaRPr lang="en-US" sz="1500" dirty="0"/>
          </a:p>
        </p:txBody>
      </p:sp>
      <p:sp>
        <p:nvSpPr>
          <p:cNvPr id="9" name="Shape 6"/>
          <p:cNvSpPr/>
          <p:nvPr/>
        </p:nvSpPr>
        <p:spPr>
          <a:xfrm>
            <a:off x="4754880" y="2148840"/>
            <a:ext cx="3931920" cy="1554480"/>
          </a:xfrm>
          <a:prstGeom prst="roundRect">
            <a:avLst>
              <a:gd name="adj" fmla="val 4706"/>
            </a:avLst>
          </a:prstGeom>
          <a:solidFill>
            <a:srgbClr val="0F1729"/>
          </a:solidFill>
          <a:ln w="12700">
            <a:solidFill>
              <a:srgbClr val="0F1729"/>
            </a:solidFill>
            <a:prstDash val="solid"/>
          </a:ln>
        </p:spPr>
      </p:sp>
      <p:sp>
        <p:nvSpPr>
          <p:cNvPr id="10" name="Text 7"/>
          <p:cNvSpPr txBox="1"/>
          <p:nvPr/>
        </p:nvSpPr>
        <p:spPr>
          <a:xfrm>
            <a:off x="4892040" y="2148840"/>
            <a:ext cx="3657600" cy="1554480"/>
          </a:xfrm>
          <a:prstGeom prst="rect">
            <a:avLst/>
          </a:prstGeom>
          <a:noFill/>
          <a:ln/>
        </p:spPr>
        <p:txBody>
          <a:bodyPr wrap="square" lIns="0" tIns="0" rIns="0" bIns="0" rtlCol="0" anchor="ctr"/>
          <a:lstStyle/>
          <a:p>
            <a:pPr marL="0" indent="0">
              <a:buNone/>
            </a:pPr>
            <a:r>
              <a:rPr lang="en-US" sz="1300" dirty="0">
                <a:solidFill>
                  <a:srgbClr val="E6EDF7"/>
                </a:solidFill>
                <a:latin typeface="Consolas" pitchFamily="34" charset="0"/>
                <a:ea typeface="Consolas" pitchFamily="34" charset="-122"/>
                <a:cs typeface="Consolas" pitchFamily="34" charset="-120"/>
              </a:rPr>
              <a:t># Sketch only, not the lab answer</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g1 = float(input("Grade 1: "))</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g2 = float(input("Grade 2: "))</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gpa = (g1 + g2) / 2</a:t>
            </a:r>
            <a:endParaRPr lang="en-US" sz="1300" dirty="0"/>
          </a:p>
          <a:p>
            <a:pPr marL="0" indent="0">
              <a:buNone/>
            </a:pPr>
            <a:r>
              <a:rPr lang="en-US" sz="1300" dirty="0">
                <a:solidFill>
                  <a:srgbClr val="E6EDF7"/>
                </a:solidFill>
                <a:latin typeface="Consolas" pitchFamily="34" charset="0"/>
                <a:ea typeface="Consolas" pitchFamily="34" charset="-122"/>
                <a:cs typeface="Consolas" pitchFamily="34" charset="-120"/>
              </a:rPr>
              <a:t>print(gpa)</a:t>
            </a:r>
            <a:endParaRPr lang="en-US" sz="1300" dirty="0"/>
          </a:p>
        </p:txBody>
      </p:sp>
      <p:sp>
        <p:nvSpPr>
          <p:cNvPr id="11" name="Text 8"/>
          <p:cNvSpPr txBox="1"/>
          <p:nvPr/>
        </p:nvSpPr>
        <p:spPr>
          <a:xfrm>
            <a:off x="457200" y="3931920"/>
            <a:ext cx="8229600" cy="365760"/>
          </a:xfrm>
          <a:prstGeom prst="rect">
            <a:avLst/>
          </a:prstGeom>
          <a:noFill/>
          <a:ln/>
        </p:spPr>
        <p:txBody>
          <a:bodyPr wrap="square" lIns="0" tIns="0" rIns="0" bIns="0" rtlCol="0" anchor="ctr"/>
          <a:lstStyle/>
          <a:p>
            <a:pPr marL="0" indent="0">
              <a:buNone/>
            </a:pPr>
            <a:r>
              <a:rPr lang="en-US" sz="1400" i="1" dirty="0">
                <a:solidFill>
                  <a:srgbClr val="5B6475"/>
                </a:solidFill>
              </a:rPr>
              <a:t>Start the lab from the unit page, then return here to debrief.</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Quick quiz</a:t>
            </a:r>
            <a:endParaRPr lang="en-US" sz="3000" dirty="0"/>
          </a:p>
        </p:txBody>
      </p:sp>
      <p:sp>
        <p:nvSpPr>
          <p:cNvPr id="4" name="Shape 1"/>
          <p:cNvSpPr/>
          <p:nvPr/>
        </p:nvSpPr>
        <p:spPr>
          <a:xfrm>
            <a:off x="457200" y="1188720"/>
            <a:ext cx="8229600" cy="731520"/>
          </a:xfrm>
          <a:prstGeom prst="roundRect">
            <a:avLst>
              <a:gd name="adj" fmla="val 10000"/>
            </a:avLst>
          </a:prstGeom>
          <a:solidFill>
            <a:srgbClr val="F2F5FB"/>
          </a:solidFill>
          <a:ln w="12700">
            <a:solidFill>
              <a:srgbClr val="DDE2EE"/>
            </a:solidFill>
            <a:prstDash val="solid"/>
          </a:ln>
        </p:spPr>
      </p:sp>
      <p:sp>
        <p:nvSpPr>
          <p:cNvPr id="5" name="Text 2"/>
          <p:cNvSpPr txBox="1"/>
          <p:nvPr/>
        </p:nvSpPr>
        <p:spPr>
          <a:xfrm>
            <a:off x="640080" y="118872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1.  What is the type of the result of 10 / 2?</a:t>
            </a:r>
            <a:endParaRPr lang="en-US" sz="1500" dirty="0"/>
          </a:p>
          <a:p>
            <a:pPr marL="0" indent="0">
              <a:buNone/>
            </a:pPr>
            <a:r>
              <a:rPr lang="en-US" sz="1300" dirty="0">
                <a:solidFill>
                  <a:srgbClr val="3A4357"/>
                </a:solidFill>
              </a:rPr>
              <a:t>A) int    B) float    C) str</a:t>
            </a:r>
            <a:endParaRPr lang="en-US" sz="1500" dirty="0"/>
          </a:p>
        </p:txBody>
      </p:sp>
      <p:sp>
        <p:nvSpPr>
          <p:cNvPr id="6" name="Shape 3"/>
          <p:cNvSpPr/>
          <p:nvPr/>
        </p:nvSpPr>
        <p:spPr>
          <a:xfrm>
            <a:off x="457200" y="2057400"/>
            <a:ext cx="8229600" cy="731520"/>
          </a:xfrm>
          <a:prstGeom prst="roundRect">
            <a:avLst>
              <a:gd name="adj" fmla="val 10000"/>
            </a:avLst>
          </a:prstGeom>
          <a:solidFill>
            <a:srgbClr val="F2F5FB"/>
          </a:solidFill>
          <a:ln w="12700">
            <a:solidFill>
              <a:srgbClr val="DDE2EE"/>
            </a:solidFill>
            <a:prstDash val="solid"/>
          </a:ln>
        </p:spPr>
      </p:sp>
      <p:sp>
        <p:nvSpPr>
          <p:cNvPr id="7" name="Text 4"/>
          <p:cNvSpPr txBox="1"/>
          <p:nvPr/>
        </p:nvSpPr>
        <p:spPr>
          <a:xfrm>
            <a:off x="640080" y="205740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2.  What does 17 % 5 return?</a:t>
            </a:r>
            <a:endParaRPr lang="en-US" sz="1500" dirty="0"/>
          </a:p>
          <a:p>
            <a:pPr marL="0" indent="0">
              <a:buNone/>
            </a:pPr>
            <a:r>
              <a:rPr lang="en-US" sz="1300" dirty="0">
                <a:solidFill>
                  <a:srgbClr val="3A4357"/>
                </a:solidFill>
              </a:rPr>
              <a:t>A) 3    B) 2    C) 3.4</a:t>
            </a:r>
            <a:endParaRPr lang="en-US" sz="1500" dirty="0"/>
          </a:p>
        </p:txBody>
      </p:sp>
      <p:sp>
        <p:nvSpPr>
          <p:cNvPr id="8" name="Shape 5"/>
          <p:cNvSpPr/>
          <p:nvPr/>
        </p:nvSpPr>
        <p:spPr>
          <a:xfrm>
            <a:off x="457200" y="2926080"/>
            <a:ext cx="8229600" cy="731520"/>
          </a:xfrm>
          <a:prstGeom prst="roundRect">
            <a:avLst>
              <a:gd name="adj" fmla="val 10000"/>
            </a:avLst>
          </a:prstGeom>
          <a:solidFill>
            <a:srgbClr val="F2F5FB"/>
          </a:solidFill>
          <a:ln w="12700">
            <a:solidFill>
              <a:srgbClr val="DDE2EE"/>
            </a:solidFill>
            <a:prstDash val="solid"/>
          </a:ln>
        </p:spPr>
      </p:sp>
      <p:sp>
        <p:nvSpPr>
          <p:cNvPr id="9" name="Text 6"/>
          <p:cNvSpPr txBox="1"/>
          <p:nvPr/>
        </p:nvSpPr>
        <p:spPr>
          <a:xfrm>
            <a:off x="640080" y="292608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3.  age = input("Age: ") then age + 1 fails because...</a:t>
            </a:r>
            <a:endParaRPr lang="en-US" sz="1500" dirty="0"/>
          </a:p>
          <a:p>
            <a:pPr marL="0" indent="0">
              <a:buNone/>
            </a:pPr>
            <a:r>
              <a:rPr lang="en-US" sz="1300" dirty="0">
                <a:solidFill>
                  <a:srgbClr val="3A4357"/>
                </a:solidFill>
              </a:rPr>
              <a:t>A) input() returns a str    B) age is a float    C) + is invalid</a:t>
            </a:r>
            <a:endParaRPr lang="en-US" sz="1500" dirty="0"/>
          </a:p>
        </p:txBody>
      </p:sp>
      <p:sp>
        <p:nvSpPr>
          <p:cNvPr id="10" name="Shape 7"/>
          <p:cNvSpPr/>
          <p:nvPr/>
        </p:nvSpPr>
        <p:spPr>
          <a:xfrm>
            <a:off x="457200" y="3794760"/>
            <a:ext cx="8229600" cy="731520"/>
          </a:xfrm>
          <a:prstGeom prst="roundRect">
            <a:avLst>
              <a:gd name="adj" fmla="val 10000"/>
            </a:avLst>
          </a:prstGeom>
          <a:solidFill>
            <a:srgbClr val="F2F5FB"/>
          </a:solidFill>
          <a:ln w="12700">
            <a:solidFill>
              <a:srgbClr val="DDE2EE"/>
            </a:solidFill>
            <a:prstDash val="solid"/>
          </a:ln>
        </p:spPr>
      </p:sp>
      <p:sp>
        <p:nvSpPr>
          <p:cNvPr id="11" name="Text 8"/>
          <p:cNvSpPr txBox="1"/>
          <p:nvPr/>
        </p:nvSpPr>
        <p:spPr>
          <a:xfrm>
            <a:off x="640080" y="379476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4.  Which is a legal variable name?</a:t>
            </a:r>
            <a:endParaRPr lang="en-US" sz="1500" dirty="0"/>
          </a:p>
          <a:p>
            <a:pPr marL="0" indent="0">
              <a:buNone/>
            </a:pPr>
            <a:r>
              <a:rPr lang="en-US" sz="1300" dirty="0">
                <a:solidFill>
                  <a:srgbClr val="3A4357"/>
                </a:solidFill>
              </a:rPr>
              <a:t>A) 1st_place    B) final score    C) _total</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Quiz answers</a:t>
            </a:r>
            <a:endParaRPr lang="en-US" sz="3000" dirty="0"/>
          </a:p>
        </p:txBody>
      </p:sp>
      <p:sp>
        <p:nvSpPr>
          <p:cNvPr id="4" name="Shape 1"/>
          <p:cNvSpPr/>
          <p:nvPr/>
        </p:nvSpPr>
        <p:spPr>
          <a:xfrm>
            <a:off x="457200" y="1188720"/>
            <a:ext cx="8229600" cy="731520"/>
          </a:xfrm>
          <a:prstGeom prst="roundRect">
            <a:avLst>
              <a:gd name="adj" fmla="val 10000"/>
            </a:avLst>
          </a:prstGeom>
          <a:solidFill>
            <a:srgbClr val="F2F5FB"/>
          </a:solidFill>
          <a:ln w="12700">
            <a:solidFill>
              <a:srgbClr val="DDE2EE"/>
            </a:solidFill>
            <a:prstDash val="solid"/>
          </a:ln>
        </p:spPr>
      </p:sp>
      <p:sp>
        <p:nvSpPr>
          <p:cNvPr id="5" name="Shape 2"/>
          <p:cNvSpPr/>
          <p:nvPr/>
        </p:nvSpPr>
        <p:spPr>
          <a:xfrm>
            <a:off x="457200" y="1280160"/>
            <a:ext cx="54864" cy="548640"/>
          </a:xfrm>
          <a:prstGeom prst="rect">
            <a:avLst/>
          </a:prstGeom>
          <a:solidFill>
            <a:srgbClr val="1FA67A"/>
          </a:solidFill>
          <a:ln w="12700">
            <a:solidFill>
              <a:srgbClr val="1FA67A"/>
            </a:solidFill>
            <a:prstDash val="solid"/>
          </a:ln>
        </p:spPr>
      </p:sp>
      <p:sp>
        <p:nvSpPr>
          <p:cNvPr id="6" name="Text 3"/>
          <p:cNvSpPr txBox="1"/>
          <p:nvPr/>
        </p:nvSpPr>
        <p:spPr>
          <a:xfrm>
            <a:off x="685800" y="118872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1.  B) float</a:t>
            </a:r>
            <a:endParaRPr lang="en-US" sz="1500" dirty="0"/>
          </a:p>
          <a:p>
            <a:pPr marL="0" indent="0">
              <a:buNone/>
            </a:pPr>
            <a:r>
              <a:rPr lang="en-US" sz="1300" dirty="0">
                <a:solidFill>
                  <a:srgbClr val="3A4357"/>
                </a:solidFill>
              </a:rPr>
              <a:t>The / operator always returns a float, so 10 / 2 is 5.0.</a:t>
            </a:r>
            <a:endParaRPr lang="en-US" sz="1500" dirty="0"/>
          </a:p>
        </p:txBody>
      </p:sp>
      <p:sp>
        <p:nvSpPr>
          <p:cNvPr id="7" name="Shape 4"/>
          <p:cNvSpPr/>
          <p:nvPr/>
        </p:nvSpPr>
        <p:spPr>
          <a:xfrm>
            <a:off x="457200" y="2057400"/>
            <a:ext cx="8229600" cy="731520"/>
          </a:xfrm>
          <a:prstGeom prst="roundRect">
            <a:avLst>
              <a:gd name="adj" fmla="val 10000"/>
            </a:avLst>
          </a:prstGeom>
          <a:solidFill>
            <a:srgbClr val="F2F5FB"/>
          </a:solidFill>
          <a:ln w="12700">
            <a:solidFill>
              <a:srgbClr val="DDE2EE"/>
            </a:solidFill>
            <a:prstDash val="solid"/>
          </a:ln>
        </p:spPr>
      </p:sp>
      <p:sp>
        <p:nvSpPr>
          <p:cNvPr id="8" name="Shape 5"/>
          <p:cNvSpPr/>
          <p:nvPr/>
        </p:nvSpPr>
        <p:spPr>
          <a:xfrm>
            <a:off x="457200" y="2148840"/>
            <a:ext cx="54864" cy="548640"/>
          </a:xfrm>
          <a:prstGeom prst="rect">
            <a:avLst/>
          </a:prstGeom>
          <a:solidFill>
            <a:srgbClr val="1FA67A"/>
          </a:solidFill>
          <a:ln w="12700">
            <a:solidFill>
              <a:srgbClr val="1FA67A"/>
            </a:solidFill>
            <a:prstDash val="solid"/>
          </a:ln>
        </p:spPr>
      </p:sp>
      <p:sp>
        <p:nvSpPr>
          <p:cNvPr id="9" name="Text 6"/>
          <p:cNvSpPr txBox="1"/>
          <p:nvPr/>
        </p:nvSpPr>
        <p:spPr>
          <a:xfrm>
            <a:off x="685800" y="205740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2.  B) 2</a:t>
            </a:r>
            <a:endParaRPr lang="en-US" sz="1500" dirty="0"/>
          </a:p>
          <a:p>
            <a:pPr marL="0" indent="0">
              <a:buNone/>
            </a:pPr>
            <a:r>
              <a:rPr lang="en-US" sz="1300" dirty="0">
                <a:solidFill>
                  <a:srgbClr val="3A4357"/>
                </a:solidFill>
              </a:rPr>
              <a:t>17 = 3 x 5 + 2, so the remainder is 2.</a:t>
            </a:r>
            <a:endParaRPr lang="en-US" sz="1500" dirty="0"/>
          </a:p>
        </p:txBody>
      </p:sp>
      <p:sp>
        <p:nvSpPr>
          <p:cNvPr id="10" name="Shape 7"/>
          <p:cNvSpPr/>
          <p:nvPr/>
        </p:nvSpPr>
        <p:spPr>
          <a:xfrm>
            <a:off x="457200" y="2926080"/>
            <a:ext cx="8229600" cy="731520"/>
          </a:xfrm>
          <a:prstGeom prst="roundRect">
            <a:avLst>
              <a:gd name="adj" fmla="val 10000"/>
            </a:avLst>
          </a:prstGeom>
          <a:solidFill>
            <a:srgbClr val="F2F5FB"/>
          </a:solidFill>
          <a:ln w="12700">
            <a:solidFill>
              <a:srgbClr val="DDE2EE"/>
            </a:solidFill>
            <a:prstDash val="solid"/>
          </a:ln>
        </p:spPr>
      </p:sp>
      <p:sp>
        <p:nvSpPr>
          <p:cNvPr id="11" name="Shape 8"/>
          <p:cNvSpPr/>
          <p:nvPr/>
        </p:nvSpPr>
        <p:spPr>
          <a:xfrm>
            <a:off x="457200" y="3017520"/>
            <a:ext cx="54864" cy="548640"/>
          </a:xfrm>
          <a:prstGeom prst="rect">
            <a:avLst/>
          </a:prstGeom>
          <a:solidFill>
            <a:srgbClr val="1FA67A"/>
          </a:solidFill>
          <a:ln w="12700">
            <a:solidFill>
              <a:srgbClr val="1FA67A"/>
            </a:solidFill>
            <a:prstDash val="solid"/>
          </a:ln>
        </p:spPr>
      </p:sp>
      <p:sp>
        <p:nvSpPr>
          <p:cNvPr id="12" name="Text 9"/>
          <p:cNvSpPr txBox="1"/>
          <p:nvPr/>
        </p:nvSpPr>
        <p:spPr>
          <a:xfrm>
            <a:off x="685800" y="292608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3.  A) input() returns a str</a:t>
            </a:r>
            <a:endParaRPr lang="en-US" sz="1500" dirty="0"/>
          </a:p>
          <a:p>
            <a:pPr marL="0" indent="0">
              <a:buNone/>
            </a:pPr>
            <a:r>
              <a:rPr lang="en-US" sz="1300" dirty="0">
                <a:solidFill>
                  <a:srgbClr val="3A4357"/>
                </a:solidFill>
              </a:rPr>
              <a:t>Convert first: age = int(input("Age: ")).</a:t>
            </a:r>
            <a:endParaRPr lang="en-US" sz="1500" dirty="0"/>
          </a:p>
        </p:txBody>
      </p:sp>
      <p:sp>
        <p:nvSpPr>
          <p:cNvPr id="13" name="Shape 10"/>
          <p:cNvSpPr/>
          <p:nvPr/>
        </p:nvSpPr>
        <p:spPr>
          <a:xfrm>
            <a:off x="457200" y="3794760"/>
            <a:ext cx="8229600" cy="731520"/>
          </a:xfrm>
          <a:prstGeom prst="roundRect">
            <a:avLst>
              <a:gd name="adj" fmla="val 10000"/>
            </a:avLst>
          </a:prstGeom>
          <a:solidFill>
            <a:srgbClr val="F2F5FB"/>
          </a:solidFill>
          <a:ln w="12700">
            <a:solidFill>
              <a:srgbClr val="DDE2EE"/>
            </a:solidFill>
            <a:prstDash val="solid"/>
          </a:ln>
        </p:spPr>
      </p:sp>
      <p:sp>
        <p:nvSpPr>
          <p:cNvPr id="14" name="Shape 11"/>
          <p:cNvSpPr/>
          <p:nvPr/>
        </p:nvSpPr>
        <p:spPr>
          <a:xfrm>
            <a:off x="457200" y="3886200"/>
            <a:ext cx="54864" cy="548640"/>
          </a:xfrm>
          <a:prstGeom prst="rect">
            <a:avLst/>
          </a:prstGeom>
          <a:solidFill>
            <a:srgbClr val="1FA67A"/>
          </a:solidFill>
          <a:ln w="12700">
            <a:solidFill>
              <a:srgbClr val="1FA67A"/>
            </a:solidFill>
            <a:prstDash val="solid"/>
          </a:ln>
        </p:spPr>
      </p:sp>
      <p:sp>
        <p:nvSpPr>
          <p:cNvPr id="15" name="Text 12"/>
          <p:cNvSpPr txBox="1"/>
          <p:nvPr/>
        </p:nvSpPr>
        <p:spPr>
          <a:xfrm>
            <a:off x="685800" y="3794760"/>
            <a:ext cx="7863840" cy="731520"/>
          </a:xfrm>
          <a:prstGeom prst="rect">
            <a:avLst/>
          </a:prstGeom>
          <a:noFill/>
          <a:ln/>
        </p:spPr>
        <p:txBody>
          <a:bodyPr wrap="square" lIns="0" tIns="0" rIns="0" bIns="0" rtlCol="0" anchor="ctr"/>
          <a:lstStyle/>
          <a:p>
            <a:pPr marL="0" indent="0">
              <a:buNone/>
            </a:pPr>
            <a:r>
              <a:rPr lang="en-US" sz="1500" b="1" dirty="0">
                <a:solidFill>
                  <a:srgbClr val="0F1729"/>
                </a:solidFill>
              </a:rPr>
              <a:t>4.  C) _total</a:t>
            </a:r>
            <a:endParaRPr lang="en-US" sz="1500" dirty="0"/>
          </a:p>
          <a:p>
            <a:pPr marL="0" indent="0">
              <a:buNone/>
            </a:pPr>
            <a:r>
              <a:rPr lang="en-US" sz="1300" dirty="0">
                <a:solidFill>
                  <a:srgbClr val="3A4357"/>
                </a:solidFill>
              </a:rPr>
              <a:t>Names cannot start with a digit or contain spaces.</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lstStyle/>
          <a:p>
            <a:pPr marL="0" indent="0" algn="l">
              <a:buNone/>
            </a:pPr>
            <a:r>
              <a:rPr lang="en-US" sz="3000" b="1" dirty="0">
                <a:solidFill>
                  <a:srgbClr val="0F1729"/>
                </a:solidFill>
              </a:rPr>
              <a:t>Recap and next steps</a:t>
            </a:r>
            <a:endParaRPr lang="en-US" sz="3000" dirty="0"/>
          </a:p>
        </p:txBody>
      </p:sp>
      <p:sp>
        <p:nvSpPr>
          <p:cNvPr id="4" name="Shape 1"/>
          <p:cNvSpPr/>
          <p:nvPr/>
        </p:nvSpPr>
        <p:spPr>
          <a:xfrm>
            <a:off x="457200" y="1188720"/>
            <a:ext cx="3931920" cy="1005840"/>
          </a:xfrm>
          <a:prstGeom prst="roundRect">
            <a:avLst>
              <a:gd name="adj" fmla="val 7273"/>
            </a:avLst>
          </a:prstGeom>
          <a:solidFill>
            <a:srgbClr val="F2F5FB"/>
          </a:solidFill>
          <a:ln w="12700">
            <a:solidFill>
              <a:srgbClr val="DDE2EE"/>
            </a:solidFill>
            <a:prstDash val="solid"/>
          </a:ln>
        </p:spPr>
      </p:sp>
      <p:sp>
        <p:nvSpPr>
          <p:cNvPr id="5" name="Shape 2"/>
          <p:cNvSpPr/>
          <p:nvPr/>
        </p:nvSpPr>
        <p:spPr>
          <a:xfrm>
            <a:off x="457200" y="1280160"/>
            <a:ext cx="54864" cy="822960"/>
          </a:xfrm>
          <a:prstGeom prst="rect">
            <a:avLst/>
          </a:prstGeom>
          <a:solidFill>
            <a:srgbClr val="2F6FED"/>
          </a:solidFill>
          <a:ln w="12700">
            <a:solidFill>
              <a:srgbClr val="2F6FED"/>
            </a:solidFill>
            <a:prstDash val="solid"/>
          </a:ln>
        </p:spPr>
      </p:sp>
      <p:sp>
        <p:nvSpPr>
          <p:cNvPr id="6" name="Text 3"/>
          <p:cNvSpPr txBox="1"/>
          <p:nvPr/>
        </p:nvSpPr>
        <p:spPr>
          <a:xfrm>
            <a:off x="685800" y="118872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Variables</a:t>
            </a:r>
            <a:endParaRPr lang="en-US" sz="1500" dirty="0"/>
          </a:p>
          <a:p>
            <a:pPr marL="0" indent="0">
              <a:buNone/>
            </a:pPr>
            <a:r>
              <a:rPr lang="en-US" sz="1300" dirty="0">
                <a:solidFill>
                  <a:srgbClr val="3A4357"/>
                </a:solidFill>
              </a:rPr>
              <a:t>Named containers; right side first; snake_case.</a:t>
            </a:r>
            <a:endParaRPr lang="en-US" sz="1500" dirty="0"/>
          </a:p>
        </p:txBody>
      </p:sp>
      <p:sp>
        <p:nvSpPr>
          <p:cNvPr id="7" name="Shape 4"/>
          <p:cNvSpPr/>
          <p:nvPr/>
        </p:nvSpPr>
        <p:spPr>
          <a:xfrm>
            <a:off x="4754880" y="1188720"/>
            <a:ext cx="3931920" cy="1005840"/>
          </a:xfrm>
          <a:prstGeom prst="roundRect">
            <a:avLst>
              <a:gd name="adj" fmla="val 7273"/>
            </a:avLst>
          </a:prstGeom>
          <a:solidFill>
            <a:srgbClr val="F2F5FB"/>
          </a:solidFill>
          <a:ln w="12700">
            <a:solidFill>
              <a:srgbClr val="DDE2EE"/>
            </a:solidFill>
            <a:prstDash val="solid"/>
          </a:ln>
        </p:spPr>
      </p:sp>
      <p:sp>
        <p:nvSpPr>
          <p:cNvPr id="8" name="Shape 5"/>
          <p:cNvSpPr/>
          <p:nvPr/>
        </p:nvSpPr>
        <p:spPr>
          <a:xfrm>
            <a:off x="4754880" y="1280160"/>
            <a:ext cx="54864" cy="822960"/>
          </a:xfrm>
          <a:prstGeom prst="rect">
            <a:avLst/>
          </a:prstGeom>
          <a:solidFill>
            <a:srgbClr val="1FA67A"/>
          </a:solidFill>
          <a:ln w="12700">
            <a:solidFill>
              <a:srgbClr val="1FA67A"/>
            </a:solidFill>
            <a:prstDash val="solid"/>
          </a:ln>
        </p:spPr>
      </p:sp>
      <p:sp>
        <p:nvSpPr>
          <p:cNvPr id="9" name="Text 6"/>
          <p:cNvSpPr txBox="1"/>
          <p:nvPr/>
        </p:nvSpPr>
        <p:spPr>
          <a:xfrm>
            <a:off x="4983480" y="118872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Types</a:t>
            </a:r>
            <a:endParaRPr lang="en-US" sz="1500" dirty="0"/>
          </a:p>
          <a:p>
            <a:pPr marL="0" indent="0">
              <a:buNone/>
            </a:pPr>
            <a:r>
              <a:rPr lang="en-US" sz="1300" dirty="0">
                <a:solidFill>
                  <a:srgbClr val="3A4357"/>
                </a:solidFill>
              </a:rPr>
              <a:t>int, float, str; typing is dynamic.</a:t>
            </a:r>
            <a:endParaRPr lang="en-US" sz="1500" dirty="0"/>
          </a:p>
        </p:txBody>
      </p:sp>
      <p:sp>
        <p:nvSpPr>
          <p:cNvPr id="10" name="Shape 7"/>
          <p:cNvSpPr/>
          <p:nvPr/>
        </p:nvSpPr>
        <p:spPr>
          <a:xfrm>
            <a:off x="457200" y="2377440"/>
            <a:ext cx="3931920" cy="1005840"/>
          </a:xfrm>
          <a:prstGeom prst="roundRect">
            <a:avLst>
              <a:gd name="adj" fmla="val 7273"/>
            </a:avLst>
          </a:prstGeom>
          <a:solidFill>
            <a:srgbClr val="F2F5FB"/>
          </a:solidFill>
          <a:ln w="12700">
            <a:solidFill>
              <a:srgbClr val="DDE2EE"/>
            </a:solidFill>
            <a:prstDash val="solid"/>
          </a:ln>
        </p:spPr>
      </p:sp>
      <p:sp>
        <p:nvSpPr>
          <p:cNvPr id="11" name="Shape 8"/>
          <p:cNvSpPr/>
          <p:nvPr/>
        </p:nvSpPr>
        <p:spPr>
          <a:xfrm>
            <a:off x="457200" y="2468880"/>
            <a:ext cx="54864" cy="822960"/>
          </a:xfrm>
          <a:prstGeom prst="rect">
            <a:avLst/>
          </a:prstGeom>
          <a:solidFill>
            <a:srgbClr val="F5A623"/>
          </a:solidFill>
          <a:ln w="12700">
            <a:solidFill>
              <a:srgbClr val="F5A623"/>
            </a:solidFill>
            <a:prstDash val="solid"/>
          </a:ln>
        </p:spPr>
      </p:sp>
      <p:sp>
        <p:nvSpPr>
          <p:cNvPr id="12" name="Text 9"/>
          <p:cNvSpPr txBox="1"/>
          <p:nvPr/>
        </p:nvSpPr>
        <p:spPr>
          <a:xfrm>
            <a:off x="685800" y="237744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Operators</a:t>
            </a:r>
            <a:endParaRPr lang="en-US" sz="1500" dirty="0"/>
          </a:p>
          <a:p>
            <a:pPr marL="0" indent="0">
              <a:buNone/>
            </a:pPr>
            <a:r>
              <a:rPr lang="en-US" sz="1300" dirty="0">
                <a:solidFill>
                  <a:srgbClr val="3A4357"/>
                </a:solidFill>
              </a:rPr>
              <a:t>+ - * / // % **, plus += shorthand.</a:t>
            </a:r>
            <a:endParaRPr lang="en-US" sz="1500" dirty="0"/>
          </a:p>
        </p:txBody>
      </p:sp>
      <p:sp>
        <p:nvSpPr>
          <p:cNvPr id="13" name="Shape 10"/>
          <p:cNvSpPr/>
          <p:nvPr/>
        </p:nvSpPr>
        <p:spPr>
          <a:xfrm>
            <a:off x="4754880" y="2377440"/>
            <a:ext cx="3931920" cy="1005840"/>
          </a:xfrm>
          <a:prstGeom prst="roundRect">
            <a:avLst>
              <a:gd name="adj" fmla="val 7273"/>
            </a:avLst>
          </a:prstGeom>
          <a:solidFill>
            <a:srgbClr val="F2F5FB"/>
          </a:solidFill>
          <a:ln w="12700">
            <a:solidFill>
              <a:srgbClr val="DDE2EE"/>
            </a:solidFill>
            <a:prstDash val="solid"/>
          </a:ln>
        </p:spPr>
      </p:sp>
      <p:sp>
        <p:nvSpPr>
          <p:cNvPr id="14" name="Shape 11"/>
          <p:cNvSpPr/>
          <p:nvPr/>
        </p:nvSpPr>
        <p:spPr>
          <a:xfrm>
            <a:off x="4754880" y="2468880"/>
            <a:ext cx="54864" cy="822960"/>
          </a:xfrm>
          <a:prstGeom prst="rect">
            <a:avLst/>
          </a:prstGeom>
          <a:solidFill>
            <a:srgbClr val="7A5AF8"/>
          </a:solidFill>
          <a:ln w="12700">
            <a:solidFill>
              <a:srgbClr val="7A5AF8"/>
            </a:solidFill>
            <a:prstDash val="solid"/>
          </a:ln>
        </p:spPr>
      </p:sp>
      <p:sp>
        <p:nvSpPr>
          <p:cNvPr id="15" name="Text 12"/>
          <p:cNvSpPr txBox="1"/>
          <p:nvPr/>
        </p:nvSpPr>
        <p:spPr>
          <a:xfrm>
            <a:off x="4983480" y="2377440"/>
            <a:ext cx="3566160" cy="1005840"/>
          </a:xfrm>
          <a:prstGeom prst="rect">
            <a:avLst/>
          </a:prstGeom>
          <a:noFill/>
          <a:ln/>
        </p:spPr>
        <p:txBody>
          <a:bodyPr wrap="square" lIns="0" tIns="0" rIns="0" bIns="0" rtlCol="0" anchor="ctr"/>
          <a:lstStyle/>
          <a:p>
            <a:pPr marL="0" indent="0">
              <a:buNone/>
            </a:pPr>
            <a:r>
              <a:rPr lang="en-US" sz="1500" b="1" dirty="0">
                <a:solidFill>
                  <a:srgbClr val="0F1729"/>
                </a:solidFill>
              </a:rPr>
              <a:t>Conversion</a:t>
            </a:r>
            <a:endParaRPr lang="en-US" sz="1500" dirty="0"/>
          </a:p>
          <a:p>
            <a:pPr marL="0" indent="0">
              <a:buNone/>
            </a:pPr>
            <a:r>
              <a:rPr lang="en-US" sz="1300" dirty="0">
                <a:solidFill>
                  <a:srgbClr val="3A4357"/>
                </a:solidFill>
              </a:rPr>
              <a:t>int(), float(), str() on input() values.</a:t>
            </a:r>
            <a:endParaRPr lang="en-US" sz="1500" dirty="0"/>
          </a:p>
        </p:txBody>
      </p:sp>
      <p:sp>
        <p:nvSpPr>
          <p:cNvPr id="16" name="Text 13"/>
          <p:cNvSpPr txBox="1"/>
          <p:nvPr/>
        </p:nvSpPr>
        <p:spPr>
          <a:xfrm>
            <a:off x="457200" y="3657600"/>
            <a:ext cx="8229600" cy="457200"/>
          </a:xfrm>
          <a:prstGeom prst="rect">
            <a:avLst/>
          </a:prstGeom>
          <a:noFill/>
          <a:ln/>
        </p:spPr>
        <p:txBody>
          <a:bodyPr wrap="square" lIns="0" tIns="0" rIns="0" bIns="0" rtlCol="0" anchor="ctr"/>
          <a:lstStyle/>
          <a:p>
            <a:pPr marL="0" indent="0">
              <a:buNone/>
            </a:pPr>
            <a:r>
              <a:rPr lang="en-US" sz="1600" b="1" dirty="0">
                <a:solidFill>
                  <a:srgbClr val="2F6FED"/>
                </a:solidFill>
              </a:rPr>
              <a:t>Next: the module assessment on Microsoft Learn.</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l"/>
            <a:fld id="{F7021451-1387-4CA6-816F-3879F97B5CBC}" type="slidenum">
              <a:rPr lang="en-US" b="0"/>
              <a:t>11</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yLearn">
  <a:themeElements>
    <a:clrScheme name="PyLearn">
      <a:dk1>
        <a:srgbClr val="1B1F2A"/>
      </a:dk1>
      <a:lt1>
        <a:srgbClr val="FFFFFF"/>
      </a:lt1>
      <a:dk2>
        <a:srgbClr val="0F1729"/>
      </a:dk2>
      <a:lt2>
        <a:srgbClr val="F2F5FB"/>
      </a:lt2>
      <a:accent1>
        <a:srgbClr val="2F6FED"/>
      </a:accent1>
      <a:accent2>
        <a:srgbClr val="F5A623"/>
      </a:accent2>
      <a:accent3>
        <a:srgbClr val="1FA67A"/>
      </a:accent3>
      <a:accent4>
        <a:srgbClr val="D64550"/>
      </a:accent4>
      <a:accent5>
        <a:srgbClr val="7A5AF8"/>
      </a:accent5>
      <a:accent6>
        <a:srgbClr val="5B6475"/>
      </a:accent6>
      <a:hlink>
        <a:srgbClr val="2F6FED"/>
      </a:hlink>
      <a:folHlink>
        <a:srgbClr val="7A5AF8"/>
      </a:folHlink>
    </a:clrScheme>
    <a:fontScheme name="PyLear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1513</Words>
  <Application>Microsoft Office PowerPoint</Application>
  <PresentationFormat>On-screen Show (16:9)</PresentationFormat>
  <Paragraphs>168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Consolas</vt:lpstr>
      <vt:lpstr>PyLearn</vt:lpstr>
      <vt:lpstr>PowerPoint Presentation</vt:lpstr>
      <vt:lpstr>What you will learn</vt:lpstr>
      <vt:lpstr>Variables and naming</vt:lpstr>
      <vt:lpstr>Data types and dynamic typing</vt:lpstr>
      <vt:lpstr>Arithmetic operators</vt:lpstr>
      <vt:lpstr>Numbers in practice</vt:lpstr>
      <vt:lpstr>Converting between data types</vt:lpstr>
      <vt:lpstr>Exercise: Calculate a student's GPA</vt:lpstr>
      <vt:lpstr>Quick quiz</vt:lpstr>
      <vt:lpstr>Quiz answers</vt:lpstr>
      <vt:lpstr>Recap and 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6</cp:revision>
  <dcterms:created xsi:type="dcterms:W3CDTF">2026-10-11T13:24:55Z</dcterms:created>
  <dcterms:modified xsi:type="dcterms:W3CDTF">2026-10-12T07:01:27Z</dcterms:modified>
</cp:coreProperties>
</file>