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68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APIs do more than fetch information. They are the bridges that connect your code to other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07973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LIBRARIES AND APIS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931187"/>
            <a:ext cx="10883392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64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Working with APIs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3987800"/>
            <a:ext cx="1088339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A9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data from web services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is an API?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7"/>
            <a:ext cx="10883392" cy="94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API (Application Programming Interface) is like a waiter at a restaurant. You tell it what you want, and it brings you the data.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751336"/>
            <a:ext cx="3380317" cy="1520957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3006395"/>
            <a:ext cx="295630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033" y="3341622"/>
            <a:ext cx="2956306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request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405842" y="2751336"/>
            <a:ext cx="3380317" cy="1520957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900" y="3006395"/>
            <a:ext cx="295630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60900" y="3341622"/>
            <a:ext cx="2956306" cy="70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waiter between you and the service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995709" y="2751336"/>
            <a:ext cx="3380317" cy="1520957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0767" y="3006395"/>
            <a:ext cx="295630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50767" y="3341622"/>
            <a:ext cx="2956306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back to you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APIs let you 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707"/>
            <a:ext cx="5181600" cy="1518841"/>
          </a:xfrm>
          <a:prstGeom prst="roundRect">
            <a:avLst>
              <a:gd name="adj" fmla="val 6689"/>
            </a:avLst>
          </a:prstGeom>
          <a:solidFill>
            <a:srgbClr val="183842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23707"/>
            <a:ext cx="481380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6800" y="2158935"/>
            <a:ext cx="4813808" cy="70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data from your CRM (Salesforce, HubSpot)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197600" y="1569707"/>
            <a:ext cx="5181600" cy="1518841"/>
          </a:xfrm>
          <a:prstGeom prst="roundRect">
            <a:avLst>
              <a:gd name="adj" fmla="val 6689"/>
            </a:avLst>
          </a:prstGeom>
          <a:solidFill>
            <a:srgbClr val="183842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823707"/>
            <a:ext cx="481380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51600" y="2158935"/>
            <a:ext cx="4813808" cy="70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order information from Shopify or WooCommerce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2800" y="3291748"/>
            <a:ext cx="5181600" cy="1518841"/>
          </a:xfrm>
          <a:prstGeom prst="roundRect">
            <a:avLst>
              <a:gd name="adj" fmla="val 6689"/>
            </a:avLst>
          </a:prstGeom>
          <a:solidFill>
            <a:srgbClr val="183842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3545748"/>
            <a:ext cx="481380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66800" y="3880976"/>
            <a:ext cx="4813808" cy="70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messages through Slack or email services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97600" y="3291748"/>
            <a:ext cx="5181600" cy="1518841"/>
          </a:xfrm>
          <a:prstGeom prst="roundRect">
            <a:avLst>
              <a:gd name="adj" fmla="val 6689"/>
            </a:avLst>
          </a:prstGeom>
          <a:solidFill>
            <a:srgbClr val="1838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600" y="3545748"/>
            <a:ext cx="481380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51600" y="3880976"/>
            <a:ext cx="4813808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models from OpenAI or Anthropic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12800" y="5064589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A9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AI, APIs connect AI capabilities to real business data and systems.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20892" y="812800"/>
            <a:ext cx="10883392" cy="47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64"/>
              </a:lnSpc>
              <a:buNone/>
            </a:pPr>
            <a:r>
              <a:rPr lang="en-US" sz="324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Your first API call</a:t>
            </a:r>
            <a:endParaRPr lang="en-US" sz="3240" dirty="0"/>
          </a:p>
        </p:txBody>
      </p:sp>
      <p:sp>
        <p:nvSpPr>
          <p:cNvPr id="3" name="Text 1"/>
          <p:cNvSpPr/>
          <p:nvPr/>
        </p:nvSpPr>
        <p:spPr>
          <a:xfrm>
            <a:off x="812800" y="1514939"/>
            <a:ext cx="10566400" cy="3835400"/>
          </a:xfrm>
          <a:prstGeom prst="roundRect">
            <a:avLst>
              <a:gd name="adj" fmla="val 2649"/>
            </a:avLst>
          </a:prstGeom>
          <a:solidFill>
            <a:srgbClr val="0A171C"/>
          </a:solidFill>
          <a:ln/>
        </p:spPr>
        <p:txBody>
          <a:bodyPr wrap="square" lIns="224242" tIns="224242" rIns="0" bIns="198842" rtlCol="0" anchor="t">
            <a:noAutofit/>
          </a:bodyPr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2000" dirty="0">
                <a:solidFill>
                  <a:srgbClr val="F2B13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</a:t>
            </a: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requests</a:t>
            </a: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We need coordinates to get weather data</a:t>
            </a: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latitude = 48.85   # Paris latitude</a:t>
            </a: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longitude = 2.35   # Paris longitude</a:t>
            </a: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Build the API URL with our parameters</a:t>
            </a: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url = f"https://api.open-meteo.com/v1/forecast?latitude={latitude}</a:t>
            </a: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&amp;longitude={longitude}&amp;current=temperature_2m"</a:t>
            </a: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Make the request</a:t>
            </a: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response = requests.get(url)</a:t>
            </a: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data = response.json()</a:t>
            </a:r>
            <a:endParaRPr lang="en-US" sz="2000" dirty="0"/>
          </a:p>
          <a:p>
            <a:pPr marL="0" indent="0" algn="l">
              <a:lnSpc>
                <a:spcPts val="187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print(data)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5604340"/>
            <a:ext cx="10883392" cy="263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336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first: </a:t>
            </a:r>
            <a:r>
              <a:rPr lang="en-US" sz="1336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requests</a:t>
            </a:r>
            <a:endParaRPr lang="en-US" sz="1336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Understanding the response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23788" y="1634445"/>
            <a:ext cx="6360187" cy="3860800"/>
          </a:xfrm>
          <a:prstGeom prst="roundRect">
            <a:avLst>
              <a:gd name="adj" fmla="val 2632"/>
            </a:avLst>
          </a:prstGeom>
          <a:solidFill>
            <a:srgbClr val="0A171C"/>
          </a:solidFill>
          <a:ln/>
        </p:spPr>
        <p:txBody>
          <a:bodyPr wrap="square" lIns="224242" tIns="224242" rIns="48677" bIns="198842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'latitude': 48.84,</a:t>
            </a:r>
            <a:endParaRPr lang="en-US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'longitude': 2.36,</a:t>
            </a:r>
            <a:endParaRPr lang="en-US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'timezone': 'GMT',</a:t>
            </a:r>
            <a:endParaRPr lang="en-US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'elevation': 46.0,</a:t>
            </a:r>
            <a:endParaRPr lang="en-US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'current_units': {'temperature_2m': '°C'},</a:t>
            </a:r>
            <a:endParaRPr lang="en-US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'current': {</a:t>
            </a:r>
            <a:endParaRPr lang="en-US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'time': '2025-08-01T08:30',</a:t>
            </a:r>
            <a:endParaRPr lang="en-US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'temperature_2m': 20.0</a:t>
            </a:r>
            <a:endParaRPr lang="en-US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77787" y="2555215"/>
            <a:ext cx="401845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JSON?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77787" y="3073335"/>
            <a:ext cx="4018456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way to structure data, similar to CSV or Excel files. CSV stores rows and columns. JSON uses key-value pairs like Python dictionaries.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Reading the temperature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temperature is nested inside </a:t>
            </a:r>
            <a:r>
              <a:rPr lang="en-US" sz="22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r>
              <a:rPr lang="en-US" sz="22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we use two keys to get it: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2214829"/>
            <a:ext cx="10566400" cy="1651000"/>
          </a:xfrm>
          <a:prstGeom prst="roundRect">
            <a:avLst>
              <a:gd name="adj" fmla="val 6154"/>
            </a:avLst>
          </a:prstGeom>
          <a:solidFill>
            <a:srgbClr val="0A171C"/>
          </a:solidFill>
          <a:ln/>
        </p:spPr>
        <p:txBody>
          <a:bodyPr wrap="square" lIns="224242" tIns="224242" rIns="0" bIns="198842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temperature = data['current']['temperature_2m']</a:t>
            </a:r>
            <a:endParaRPr lang="en-US" sz="20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print(f"Temperature in Paris: {temperature}°C")</a:t>
            </a:r>
            <a:endParaRPr lang="en-US" sz="20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Output: Temperature in Paris: 20.0°C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5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24"/>
              </a:lnSpc>
              <a:buNone/>
            </a:pPr>
            <a:r>
              <a:rPr lang="en-US" sz="3476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Extract what you need</a:t>
            </a:r>
            <a:endParaRPr lang="en-US" sz="3476" dirty="0"/>
          </a:p>
        </p:txBody>
      </p:sp>
      <p:sp>
        <p:nvSpPr>
          <p:cNvPr id="3" name="Text 1"/>
          <p:cNvSpPr/>
          <p:nvPr/>
        </p:nvSpPr>
        <p:spPr>
          <a:xfrm>
            <a:off x="812800" y="1547351"/>
            <a:ext cx="10661706" cy="4294651"/>
          </a:xfrm>
          <a:prstGeom prst="roundRect">
            <a:avLst>
              <a:gd name="adj" fmla="val 2366"/>
            </a:avLst>
          </a:prstGeom>
          <a:solidFill>
            <a:srgbClr val="0A171C"/>
          </a:solidFill>
          <a:ln/>
        </p:spPr>
        <p:txBody>
          <a:bodyPr wrap="square" lIns="224242" tIns="224242" rIns="0" bIns="198842" rtlCol="0" anchor="t">
            <a:noAutofit/>
          </a:bodyPr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2000" dirty="0">
                <a:solidFill>
                  <a:srgbClr val="F2B13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</a:t>
            </a: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requests</a:t>
            </a:r>
            <a:endParaRPr lang="en-US" sz="2000" dirty="0"/>
          </a:p>
          <a:p>
            <a:pPr marL="0" indent="0" algn="l">
              <a:lnSpc>
                <a:spcPts val="1859"/>
              </a:lnSpc>
              <a:buNone/>
            </a:pPr>
            <a:endParaRPr lang="en-US" sz="2000" dirty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>
                <a:solidFill>
                  <a:srgbClr val="F2B13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get_weather(latitude, longitude):</a:t>
            </a:r>
            <a:endParaRPr lang="en-US" sz="2000" dirty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response = requests.get(f"https://api.open-meteo.com/v1/forecast</a:t>
            </a:r>
            <a:endParaRPr lang="en-US" sz="2000" dirty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?latitude={latitude}&amp;longitude={longitude}</a:t>
            </a:r>
            <a:endParaRPr lang="en-US" sz="2000" dirty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&amp;current=temperature_2m,wind_speed_10m")</a:t>
            </a:r>
            <a:endParaRPr lang="en-US" sz="2000" dirty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data = response.json()</a:t>
            </a:r>
            <a:endParaRPr lang="en-US" sz="2000" dirty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2000" dirty="0">
                <a:solidFill>
                  <a:srgbClr val="F2B13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data['current']['temperature_2m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']</a:t>
            </a:r>
          </a:p>
          <a:p>
            <a:pPr marL="0" indent="0" algn="l">
              <a:lnSpc>
                <a:spcPts val="1859"/>
              </a:lnSpc>
              <a:buNone/>
            </a:pPr>
            <a:endParaRPr lang="en-US" sz="2000" dirty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paris_temp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= </a:t>
            </a: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get_weather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(48.85, 2.35)</a:t>
            </a:r>
            <a:endParaRPr lang="en-US" sz="2000" dirty="0" smtClean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london_temp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= </a:t>
            </a: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get_weather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(51.50, -0.12)</a:t>
            </a:r>
            <a:endParaRPr lang="en-US" sz="2000" dirty="0" smtClean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tokyo_temp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= </a:t>
            </a: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get_weather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(35.68, 139.69)</a:t>
            </a:r>
            <a:endParaRPr lang="en-US" sz="2000" dirty="0" smtClean="0"/>
          </a:p>
          <a:p>
            <a:pPr marL="0" indent="0" algn="l">
              <a:lnSpc>
                <a:spcPts val="1859"/>
              </a:lnSpc>
              <a:buNone/>
            </a:pPr>
            <a:endParaRPr lang="en-US" sz="2000" dirty="0" smtClean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</a:t>
            </a: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f"Paris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{</a:t>
            </a: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paris_temp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}°C")</a:t>
            </a:r>
            <a:endParaRPr lang="en-US" sz="2000" dirty="0" smtClean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</a:t>
            </a: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f"London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{</a:t>
            </a: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london_temp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}°C")</a:t>
            </a:r>
            <a:endParaRPr lang="en-US" sz="2000" dirty="0" smtClean="0"/>
          </a:p>
          <a:p>
            <a:pPr marL="0" indent="0" algn="l">
              <a:lnSpc>
                <a:spcPts val="1859"/>
              </a:lnSpc>
              <a:buNone/>
            </a:pP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</a:t>
            </a: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f"Tokyo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{</a:t>
            </a: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tokyo_temp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}°C")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84"/>
            <a:ext cx="2520950" cy="2054225"/>
          </a:xfrm>
          <a:prstGeom prst="roundRect">
            <a:avLst>
              <a:gd name="adj" fmla="val 4791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1827941"/>
            <a:ext cx="20711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1033" y="2163167"/>
            <a:ext cx="2071158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send a request to the API's URL with parameters, like coordinates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495675" y="1572884"/>
            <a:ext cx="2520950" cy="2054225"/>
          </a:xfrm>
          <a:prstGeom prst="roundRect">
            <a:avLst>
              <a:gd name="adj" fmla="val 4791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50733" y="1827941"/>
            <a:ext cx="20711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Process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50733" y="2163167"/>
            <a:ext cx="2071158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processes your request and finds the data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5375" y="1572884"/>
            <a:ext cx="2520950" cy="2054225"/>
          </a:xfrm>
          <a:prstGeom prst="roundRect">
            <a:avLst>
              <a:gd name="adj" fmla="val 4791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0433" y="1827941"/>
            <a:ext cx="20711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Receive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30433" y="2163167"/>
            <a:ext cx="2071158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receive JSON data back with the information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855075" y="1572884"/>
            <a:ext cx="2520950" cy="2054225"/>
          </a:xfrm>
          <a:prstGeom prst="roundRect">
            <a:avLst>
              <a:gd name="adj" fmla="val 4791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10134" y="1827941"/>
            <a:ext cx="20711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Extract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10134" y="2163167"/>
            <a:ext cx="2071158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extract the specific parts you need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2800" y="3884283"/>
            <a:ext cx="10883392" cy="1893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2800" i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is always the same: connect to an API, send requests, get data back, use it in your code. APIs are how modern software talks to each other.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ing with APIs">
  <a:themeElements>
    <a:clrScheme name="Working with APIs">
      <a:dk1>
        <a:srgbClr val="10242B"/>
      </a:dk1>
      <a:lt1>
        <a:srgbClr val="F4F1EA"/>
      </a:lt1>
      <a:dk2>
        <a:srgbClr val="27393E"/>
      </a:dk2>
      <a:lt2>
        <a:srgbClr val="BBBEBA"/>
      </a:lt2>
      <a:accent1>
        <a:srgbClr val="F2B134"/>
      </a:accent1>
      <a:accent2>
        <a:srgbClr val="1F7A74"/>
      </a:accent2>
      <a:accent3>
        <a:srgbClr val="B9780A"/>
      </a:accent3>
      <a:accent4>
        <a:srgbClr val="8A9499"/>
      </a:accent4>
      <a:accent5>
        <a:srgbClr val="A9BCC2"/>
      </a:accent5>
      <a:accent6>
        <a:srgbClr val="9AA0A6"/>
      </a:accent6>
      <a:hlink>
        <a:srgbClr val="0563C1"/>
      </a:hlink>
      <a:folHlink>
        <a:srgbClr val="954F72"/>
      </a:folHlink>
    </a:clrScheme>
    <a:fontScheme name="Working with AP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574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Georgia</vt:lpstr>
      <vt:lpstr>Working with APIs</vt:lpstr>
      <vt:lpstr>Working with APIs</vt:lpstr>
      <vt:lpstr>What is an API?</vt:lpstr>
      <vt:lpstr>What APIs let you do</vt:lpstr>
      <vt:lpstr>Your first API call</vt:lpstr>
      <vt:lpstr>Understanding the response</vt:lpstr>
      <vt:lpstr>Reading the temperature</vt:lpstr>
      <vt:lpstr>Extract what you need</vt:lpstr>
      <vt:lpstr>How it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APIs</dc:title>
  <dc:subject/>
  <dc:creator/>
  <cp:lastModifiedBy>DELL</cp:lastModifiedBy>
  <cp:revision>4</cp:revision>
  <dcterms:created xsi:type="dcterms:W3CDTF">2026-10-28T04:42:56Z</dcterms:created>
  <dcterms:modified xsi:type="dcterms:W3CDTF">2026-10-28T06:25:43Z</dcterms:modified>
</cp:coreProperties>
</file>