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1007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2B1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02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07"/>
            <a:ext cx="10566400" cy="4424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B1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02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07"/>
            <a:ext cx="10566400" cy="4424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407973"/>
            <a:ext cx="10883392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ADVANCED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931187"/>
            <a:ext cx="10883392" cy="878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720"/>
              </a:lnSpc>
              <a:buNone/>
            </a:pPr>
            <a:r>
              <a:rPr lang="en-US" sz="6400" b="0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Classes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12800" y="3987800"/>
            <a:ext cx="1088339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A9BC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</a:t>
            </a:r>
            <a:r>
              <a:rPr lang="en-US" sz="2600" dirty="0" smtClean="0">
                <a:solidFill>
                  <a:srgbClr val="A9BC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data types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is a class?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9707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 is a blueprint for creating objects. Object-oriented programming groups related data and functions together.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5975" y="2538082"/>
            <a:ext cx="5175250" cy="1147564"/>
          </a:xfrm>
          <a:prstGeom prst="roundRect">
            <a:avLst>
              <a:gd name="adj" fmla="val 8577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33" y="2793140"/>
            <a:ext cx="4805087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7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1033" y="3128367"/>
            <a:ext cx="4805087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data the object stores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00775" y="2538082"/>
            <a:ext cx="5175250" cy="1147564"/>
          </a:xfrm>
          <a:prstGeom prst="roundRect">
            <a:avLst>
              <a:gd name="adj" fmla="val 8577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5833" y="2793140"/>
            <a:ext cx="4805087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B97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55833" y="3128367"/>
            <a:ext cx="4805087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object can do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2800" y="3942821"/>
            <a:ext cx="10883392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progression: single file, functions, multiple files, classes. In AI, classes give clean API interfaces, data pipelines, reusable components and stateful operations.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E4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Practice: Classes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9707"/>
            <a:ext cx="10883392" cy="30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two things does a class define?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12800" y="1901165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F6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Attributes (the data it stores) and methods (what it can do).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2326615"/>
            <a:ext cx="10883392" cy="30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comes after multiple files in a developer's progression?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800" y="265807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F6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Classes.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3083520"/>
            <a:ext cx="10883392" cy="30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Name one way classes help in AI work.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2800" y="3414978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F6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Clean interfaces to APIs, managing data pipelines, reusable components, or organizing stateful operations.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B1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Quiz: Classes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9707"/>
            <a:ext cx="10883392" cy="33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 class is best described as: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12800" y="1946870"/>
            <a:ext cx="10883392" cy="30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a blueprint for creating objects   B) a single variable   C) a loop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2291028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800" y="2821848"/>
            <a:ext cx="10883392" cy="33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Attributes are: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12800" y="3199011"/>
            <a:ext cx="10883392" cy="30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what an object can do   B) the data an object stores   C) a kind of file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2800" y="3543168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B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Your first class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8984" y="1213805"/>
            <a:ext cx="7578641" cy="5114167"/>
          </a:xfrm>
          <a:prstGeom prst="roundRect">
            <a:avLst>
              <a:gd name="adj" fmla="val 3926"/>
            </a:avLst>
          </a:prstGeom>
          <a:solidFill>
            <a:srgbClr val="0A171C"/>
          </a:solidFill>
          <a:ln/>
        </p:spPr>
        <p:txBody>
          <a:bodyPr wrap="square" lIns="224242" tIns="224242" rIns="53249" bIns="198842" rtlCol="0" anchor="t">
            <a:noAutofit/>
          </a:bodyPr>
          <a:lstStyle/>
          <a:p>
            <a:pPr marL="0" indent="0" algn="l">
              <a:buNone/>
            </a:pPr>
            <a:r>
              <a:rPr lang="en-US" sz="3600" baseline="-25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 Dog:</a:t>
            </a:r>
            <a:endParaRPr lang="en-US" sz="3600" baseline="-25000" dirty="0"/>
          </a:p>
          <a:p>
            <a:pPr marL="0" indent="0" algn="l">
              <a:buNone/>
            </a:pPr>
            <a:r>
              <a:rPr lang="en-US" sz="3600" baseline="-25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def __init__(self, name, breed):</a:t>
            </a:r>
            <a:endParaRPr lang="en-US" sz="3600" baseline="-25000" dirty="0"/>
          </a:p>
          <a:p>
            <a:pPr marL="0" indent="0" algn="l">
              <a:buNone/>
            </a:pPr>
            <a:r>
              <a:rPr lang="en-US" sz="3600" baseline="-25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self.name = name</a:t>
            </a:r>
            <a:endParaRPr lang="en-US" sz="3600" baseline="-25000" dirty="0"/>
          </a:p>
          <a:p>
            <a:pPr marL="0" indent="0" algn="l">
              <a:buNone/>
            </a:pPr>
            <a:r>
              <a:rPr lang="en-US" sz="3600" baseline="-25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self.breed = </a:t>
            </a:r>
            <a:r>
              <a:rPr lang="en-US" sz="3600" baseline="-25000" dirty="0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breed</a:t>
            </a:r>
          </a:p>
          <a:p>
            <a:pPr marL="0" indent="0" algn="l">
              <a:buNone/>
            </a:pPr>
            <a:endParaRPr lang="en-US" sz="3600" baseline="-25000" dirty="0"/>
          </a:p>
          <a:p>
            <a:pPr marL="0" indent="0" algn="l">
              <a:buNone/>
            </a:pPr>
            <a:r>
              <a:rPr lang="en-US" sz="3600" baseline="-25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dog1 = Dog("Buddy", "Golden Retriever")</a:t>
            </a:r>
            <a:endParaRPr lang="en-US" sz="3600" baseline="-25000" dirty="0"/>
          </a:p>
          <a:p>
            <a:pPr marL="0" indent="0" algn="l">
              <a:buNone/>
            </a:pPr>
            <a:r>
              <a:rPr lang="en-US" sz="3600" baseline="-25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dog2 = Dog("Max", "Beagle")</a:t>
            </a:r>
            <a:endParaRPr lang="en-US" sz="3600" baseline="-25000" dirty="0"/>
          </a:p>
          <a:p>
            <a:pPr marL="0" indent="0" algn="l">
              <a:buNone/>
            </a:pPr>
            <a:r>
              <a:rPr lang="en-US" sz="3600" baseline="-25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dog3 = Dog(name="Charlie", breed="Poodle")</a:t>
            </a:r>
            <a:endParaRPr lang="en-US" sz="3600" baseline="-25000" dirty="0"/>
          </a:p>
          <a:p>
            <a:pPr marL="0" indent="0" algn="l">
              <a:buNone/>
            </a:pPr>
            <a:r>
              <a:rPr lang="en-US" sz="3600" baseline="-25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print(dog1.name)    </a:t>
            </a:r>
            <a:r>
              <a:rPr lang="en-US" sz="3600" baseline="-25000" dirty="0">
                <a:solidFill>
                  <a:srgbClr val="8FD3C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Buddy</a:t>
            </a:r>
            <a:endParaRPr lang="en-US" sz="3600" baseline="-25000" dirty="0"/>
          </a:p>
          <a:p>
            <a:pPr marL="0" indent="0" algn="l">
              <a:buNone/>
            </a:pPr>
            <a:r>
              <a:rPr lang="en-US" sz="3600" baseline="-25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print(dog2.breed)    </a:t>
            </a:r>
            <a:r>
              <a:rPr lang="en-US" sz="3600" baseline="-25000" dirty="0">
                <a:solidFill>
                  <a:srgbClr val="8FD3C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Beagle</a:t>
            </a:r>
            <a:endParaRPr lang="en-US" sz="3600" baseline="-25000" dirty="0"/>
          </a:p>
        </p:txBody>
      </p:sp>
      <p:sp>
        <p:nvSpPr>
          <p:cNvPr id="4" name="Text 2"/>
          <p:cNvSpPr/>
          <p:nvPr/>
        </p:nvSpPr>
        <p:spPr>
          <a:xfrm>
            <a:off x="8681617" y="2240483"/>
            <a:ext cx="3173215" cy="2931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names use PascalCase</a:t>
            </a:r>
            <a:endParaRPr lang="en-US" sz="1700" dirty="0"/>
          </a:p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__init__ runs when an object is created</a:t>
            </a:r>
            <a:endParaRPr lang="en-US" sz="1700" dirty="0"/>
          </a:p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is the current object</a:t>
            </a:r>
            <a:endParaRPr lang="en-US" sz="1700" dirty="0"/>
          </a:p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pass self when calling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Class vs instance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9709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 is the recipe. An instance is the cake you make from it.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12800" y="2125929"/>
            <a:ext cx="10566400" cy="1663568"/>
          </a:xfrm>
          <a:prstGeom prst="roundRect">
            <a:avLst>
              <a:gd name="adj" fmla="val 6107"/>
            </a:avLst>
          </a:prstGeom>
          <a:solidFill>
            <a:srgbClr val="0A171C"/>
          </a:solidFill>
          <a:ln/>
        </p:spPr>
        <p:txBody>
          <a:bodyPr wrap="square" lIns="224242" tIns="224242" rIns="0" bIns="198842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config1 = APIConfig(api_key="key1", max_tokens=50)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config2 = APIConfig(api_key="key2", max_tokens=200)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config1.max_tokens = 75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print(config1.max_tokens)    </a:t>
            </a:r>
            <a:r>
              <a:rPr lang="en-US" sz="1300" dirty="0">
                <a:solidFill>
                  <a:srgbClr val="8FD3C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75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print(config2.max_tokens)    </a:t>
            </a:r>
            <a:r>
              <a:rPr lang="en-US" sz="1300" dirty="0">
                <a:solidFill>
                  <a:srgbClr val="8FD3C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200 (unchanged)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975" y="4046671"/>
            <a:ext cx="3414183" cy="1287330"/>
          </a:xfrm>
          <a:prstGeom prst="roundRect">
            <a:avLst>
              <a:gd name="adj" fmla="val 7646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1033" y="4301728"/>
            <a:ext cx="2991189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97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1033" y="4545543"/>
            <a:ext cx="299118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Forgetting self in __init__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8908" y="4046671"/>
            <a:ext cx="3414183" cy="1287330"/>
          </a:xfrm>
          <a:prstGeom prst="roundRect">
            <a:avLst>
              <a:gd name="adj" fmla="val 7646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3967" y="4301728"/>
            <a:ext cx="2991189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97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43967" y="4545543"/>
            <a:ext cx="299118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= name instead of self.name = name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61842" y="4046671"/>
            <a:ext cx="3414183" cy="1287330"/>
          </a:xfrm>
          <a:prstGeom prst="roundRect">
            <a:avLst>
              <a:gd name="adj" fmla="val 7646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6900" y="4301728"/>
            <a:ext cx="2991189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97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16900" y="4545543"/>
            <a:ext cx="299118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APIConfig without parentheses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E4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Practice: Your first class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9709"/>
            <a:ext cx="10883392" cy="30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Write a Cat class that stores a name and an age.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2240955"/>
            <a:ext cx="10883392" cy="30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is wrong with </a:t>
            </a:r>
            <a:r>
              <a:rPr lang="en-US" sz="1700" b="1" dirty="0" smtClean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 def __init</a:t>
            </a:r>
            <a:r>
              <a:rPr lang="en-US" sz="17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__(name): </a:t>
            </a:r>
            <a:r>
              <a:rPr lang="en-US" sz="1700" b="1" dirty="0" smtClean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name </a:t>
            </a:r>
            <a:r>
              <a:rPr lang="en-US" sz="17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r>
              <a:rPr lang="en-US" sz="1700" b="1" dirty="0" smtClean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name” 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12800" y="2912201"/>
            <a:ext cx="10883392" cy="30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Why is </a:t>
            </a:r>
            <a:r>
              <a:rPr lang="en-US" sz="1700" b="1" dirty="0" smtClean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“my_config </a:t>
            </a:r>
            <a:r>
              <a:rPr lang="en-US" sz="17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r>
              <a:rPr lang="en-US" sz="1700" b="1" dirty="0" smtClean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APIConfig” </a:t>
            </a:r>
            <a:r>
              <a:rPr lang="en-US" sz="17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 instance?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B1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Quiz: Your first class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9709"/>
            <a:ext cx="10883392" cy="33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does __init__ do?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12800" y="1946870"/>
            <a:ext cx="10883392" cy="30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runs when an object is created   B) deletes the object   C) prints the class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800" y="2821849"/>
            <a:ext cx="10883392" cy="33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Which naming style do classes use?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12800" y="3199011"/>
            <a:ext cx="10883392" cy="30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snake_case   B) PascalCase   C) UPPERCASE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Attributes: storing data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9709"/>
            <a:ext cx="5337048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Instance: unique to each object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1971018"/>
            <a:ext cx="5181600" cy="1880791"/>
          </a:xfrm>
          <a:prstGeom prst="roundRect">
            <a:avLst>
              <a:gd name="adj" fmla="val 5683"/>
            </a:avLst>
          </a:prstGeom>
          <a:solidFill>
            <a:srgbClr val="0A171C"/>
          </a:solidFill>
          <a:ln/>
        </p:spPr>
        <p:txBody>
          <a:bodyPr wrap="square" lIns="224242" tIns="224242" rIns="84034" bIns="19884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 APIClient:</a:t>
            </a:r>
            <a:endParaRPr lang="en-US" sz="16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def __init__(self, api_key):</a:t>
            </a:r>
            <a:endParaRPr lang="en-US" sz="16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self.api_key = api_key</a:t>
            </a:r>
            <a:endParaRPr lang="en-US" sz="16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self.request_count = 0</a:t>
            </a:r>
            <a:endParaRPr lang="en-US" sz="16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client1 = APIClient(api_key="key1")</a:t>
            </a:r>
            <a:endParaRPr lang="en-US" sz="16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client2 = APIClient(api_key="key2")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97600" y="1569709"/>
            <a:ext cx="5337048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Class: shared by all objects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197600" y="1971017"/>
            <a:ext cx="5181600" cy="1880791"/>
          </a:xfrm>
          <a:prstGeom prst="roundRect">
            <a:avLst>
              <a:gd name="adj" fmla="val 6452"/>
            </a:avLst>
          </a:prstGeom>
          <a:solidFill>
            <a:srgbClr val="0A171C"/>
          </a:solidFill>
          <a:ln/>
        </p:spPr>
        <p:txBody>
          <a:bodyPr wrap="square" lIns="224242" tIns="224242" rIns="84034" bIns="198842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 APIClient:</a:t>
            </a:r>
            <a:endParaRPr lang="en-US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version = "1.0"</a:t>
            </a:r>
            <a:endParaRPr lang="en-US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max_retries = 3</a:t>
            </a:r>
            <a:endParaRPr lang="en-US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def __init__(self, api_key):</a:t>
            </a:r>
            <a:endParaRPr lang="en-US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self.api_key = api_key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Methods: adding behavior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9710"/>
            <a:ext cx="10548418" cy="3350248"/>
          </a:xfrm>
          <a:prstGeom prst="roundRect">
            <a:avLst>
              <a:gd name="adj" fmla="val 3847"/>
            </a:avLst>
          </a:prstGeom>
          <a:solidFill>
            <a:srgbClr val="0A171C"/>
          </a:solidFill>
          <a:ln/>
        </p:spPr>
        <p:txBody>
          <a:bodyPr wrap="square" lIns="224242" tIns="224242" rIns="51421" bIns="198842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 DataValidator: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def __init__(self):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self.errors = []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def validate_age(self, age):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if age &lt; 0 or age &gt; 150: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self.errors.append(f"Invalid age: {age}")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return False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return True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validator = DataValidator()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Print( </a:t>
            </a:r>
            <a:r>
              <a:rPr lang="en-US" sz="2000" dirty="0" err="1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validator.validate_age</a:t>
            </a:r>
            <a:r>
              <a:rPr lang="en-US" sz="2000" dirty="0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(age=200))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90124" y="5050104"/>
            <a:ext cx="7876751" cy="1058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passes self for you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 attributes in __init__ before using them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mutable class attribute like items = [] is shared by every instance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9E4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Practice: Methods and attributes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9709"/>
            <a:ext cx="10883392" cy="30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How do instance and class attributes differ?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2574268"/>
            <a:ext cx="10883392" cy="30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Why is items = [] as a class attribute risky in TodoList?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12800" y="3331170"/>
            <a:ext cx="10883392" cy="30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do you pass for self in validator.validate_age(200)?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B1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Quiz: Methods and attributes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9709"/>
            <a:ext cx="10883392" cy="33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self.count += 1 fails when: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12800" y="1946870"/>
            <a:ext cx="10883392" cy="30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count was never set in __init__   B) count is a number   C) the method has self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800" y="2821849"/>
            <a:ext cx="10883392" cy="33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 class attribute is: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12800" y="3199011"/>
            <a:ext cx="10883392" cy="30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unique to each object   B) shared by all objects   C) removed after __init__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Inheritance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0892" y="1027688"/>
            <a:ext cx="6207787" cy="5033247"/>
          </a:xfrm>
          <a:prstGeom prst="roundRect">
            <a:avLst>
              <a:gd name="adj" fmla="val 3331"/>
            </a:avLst>
          </a:prstGeom>
          <a:noFill/>
          <a:ln/>
        </p:spPr>
        <p:txBody>
          <a:bodyPr wrap="square" lIns="224242" tIns="224242" rIns="53249" bIns="198842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 Animal:</a:t>
            </a:r>
            <a:endParaRPr lang="en-US" sz="16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def __init__(self, name):</a:t>
            </a:r>
            <a:endParaRPr lang="en-US" sz="16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self.name = name</a:t>
            </a:r>
            <a:endParaRPr lang="en-US" sz="16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def eat(self):</a:t>
            </a:r>
            <a:endParaRPr lang="en-US" sz="16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return f"{self.name} is eating"</a:t>
            </a:r>
            <a:endParaRPr lang="en-US" sz="16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 Dog(Animal):</a:t>
            </a:r>
            <a:endParaRPr lang="en-US" sz="16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def bark(self):</a:t>
            </a:r>
            <a:endParaRPr lang="en-US" sz="16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return f"{self.name} says woof</a:t>
            </a:r>
            <a:r>
              <a:rPr lang="en-US" sz="1600" dirty="0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!“</a:t>
            </a:r>
          </a:p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cs typeface="Courier New" pitchFamily="49" charset="-120"/>
              </a:rPr>
              <a:t>c</a:t>
            </a:r>
            <a:r>
              <a:rPr lang="en-US" sz="1600" dirty="0" smtClean="0">
                <a:solidFill>
                  <a:srgbClr val="F4F1EA"/>
                </a:solidFill>
                <a:latin typeface="Courier New" pitchFamily="49" charset="0"/>
                <a:cs typeface="Courier New" pitchFamily="49" charset="-120"/>
              </a:rPr>
              <a:t>lass Lion(Animal):</a:t>
            </a:r>
          </a:p>
          <a:p>
            <a:pPr marL="0" indent="0" algn="l">
              <a:lnSpc>
                <a:spcPts val="1820"/>
              </a:lnSpc>
              <a:buNone/>
            </a:pPr>
            <a:r>
              <a:rPr lang="en-US" sz="1600" dirty="0" smtClean="0">
                <a:solidFill>
                  <a:srgbClr val="F4F1EA"/>
                </a:solidFill>
                <a:latin typeface="Courier New" pitchFamily="49" charset="0"/>
                <a:cs typeface="Courier New" pitchFamily="49" charset="-120"/>
              </a:rPr>
              <a:t>    def roar(self):</a:t>
            </a:r>
          </a:p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cs typeface="Courier New" pitchFamily="49" charset="-120"/>
              </a:rPr>
              <a:t>	</a:t>
            </a:r>
            <a:r>
              <a:rPr lang="en-US" sz="1600" dirty="0" smtClean="0">
                <a:solidFill>
                  <a:srgbClr val="F4F1EA"/>
                </a:solidFill>
                <a:latin typeface="Courier New" pitchFamily="49" charset="0"/>
                <a:cs typeface="Courier New" pitchFamily="49" charset="-120"/>
              </a:rPr>
              <a:t>return f”{self.name} says roar!</a:t>
            </a:r>
          </a:p>
          <a:p>
            <a:pPr marL="0" indent="0" algn="l">
              <a:lnSpc>
                <a:spcPts val="1820"/>
              </a:lnSpc>
              <a:buNone/>
            </a:pPr>
            <a:endParaRPr lang="en-US" sz="16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my_dog = Dog("Buddy")</a:t>
            </a:r>
            <a:endParaRPr lang="en-US" sz="16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my_dog.eat()    </a:t>
            </a:r>
            <a:r>
              <a:rPr lang="en-US" sz="1600" dirty="0">
                <a:solidFill>
                  <a:srgbClr val="8FD3C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Buddy is eating</a:t>
            </a:r>
            <a:endParaRPr lang="en-US" sz="16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my_dog.bark()    </a:t>
            </a:r>
            <a:r>
              <a:rPr lang="en-US" sz="1600" dirty="0">
                <a:solidFill>
                  <a:srgbClr val="8FD3C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Buddy says woof</a:t>
            </a:r>
            <a:r>
              <a:rPr lang="en-US" sz="1600" dirty="0" smtClean="0">
                <a:solidFill>
                  <a:srgbClr val="8FD3C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!</a:t>
            </a:r>
          </a:p>
          <a:p>
            <a:pPr marL="0" indent="0" algn="l">
              <a:lnSpc>
                <a:spcPts val="1820"/>
              </a:lnSpc>
              <a:buNone/>
            </a:pPr>
            <a:endParaRPr lang="en-US" sz="1600" dirty="0">
              <a:solidFill>
                <a:srgbClr val="8FD3CD"/>
              </a:solidFill>
              <a:latin typeface="Courier New" pitchFamily="49" charset="0"/>
              <a:cs typeface="Courier New" pitchFamily="49" charset="-120"/>
            </a:endParaRPr>
          </a:p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8FD3CD"/>
                </a:solidFill>
                <a:latin typeface="Courier New" pitchFamily="49" charset="0"/>
                <a:cs typeface="Courier New" pitchFamily="49" charset="-120"/>
              </a:rPr>
              <a:t>m</a:t>
            </a:r>
            <a:r>
              <a:rPr lang="en-US" sz="1600" dirty="0" smtClean="0">
                <a:solidFill>
                  <a:srgbClr val="8FD3CD"/>
                </a:solidFill>
                <a:latin typeface="Courier New" pitchFamily="49" charset="0"/>
                <a:cs typeface="Courier New" pitchFamily="49" charset="-120"/>
              </a:rPr>
              <a:t>y_lion = Lion(“Leo”)</a:t>
            </a:r>
            <a:endParaRPr lang="en-US" sz="16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600" dirty="0" smtClean="0">
                <a:solidFill>
                  <a:srgbClr val="8FD3CD"/>
                </a:solidFill>
                <a:latin typeface="Courier New" pitchFamily="49" charset="0"/>
                <a:cs typeface="Courier New" pitchFamily="49" charset="-120"/>
              </a:rPr>
              <a:t>my_lion</a:t>
            </a:r>
            <a:r>
              <a:rPr lang="en-US" sz="1600" dirty="0" smtClean="0">
                <a:solidFill>
                  <a:srgbClr val="8FD3CD"/>
                </a:solidFill>
                <a:latin typeface="Courier New" pitchFamily="49" charset="0"/>
                <a:cs typeface="Courier New" pitchFamily="49" charset="-120"/>
              </a:rPr>
              <a:t>.roar()</a:t>
            </a:r>
          </a:p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8FD3CD"/>
                </a:solidFill>
                <a:latin typeface="Courier New" pitchFamily="49" charset="0"/>
                <a:cs typeface="Courier New" pitchFamily="49" charset="-120"/>
              </a:rPr>
              <a:t>m</a:t>
            </a:r>
            <a:r>
              <a:rPr lang="en-US" sz="1600" dirty="0" smtClean="0">
                <a:solidFill>
                  <a:srgbClr val="8FD3CD"/>
                </a:solidFill>
                <a:latin typeface="Courier New" pitchFamily="49" charset="0"/>
                <a:cs typeface="Courier New" pitchFamily="49" charset="-120"/>
              </a:rPr>
              <a:t>y_lion</a:t>
            </a:r>
            <a:r>
              <a:rPr lang="en-US" sz="1600" dirty="0" smtClean="0">
                <a:solidFill>
                  <a:srgbClr val="8FD3CD"/>
                </a:solidFill>
                <a:latin typeface="Courier New" pitchFamily="49" charset="0"/>
                <a:cs typeface="Courier New" pitchFamily="49" charset="-120"/>
              </a:rPr>
              <a:t>.eat()</a:t>
            </a:r>
            <a:endParaRPr lang="en-US" sz="1600" dirty="0" smtClean="0">
              <a:solidFill>
                <a:srgbClr val="8FD3CD"/>
              </a:solidFill>
              <a:latin typeface="Courier New" pitchFamily="49" charset="0"/>
              <a:cs typeface="Courier New" pitchFamily="49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94983" y="2447131"/>
            <a:ext cx="4098212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child gets everything from the parent</a:t>
            </a:r>
            <a:endParaRPr lang="en-US" sz="1700" dirty="0"/>
          </a:p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child can add its own</a:t>
            </a:r>
            <a:endParaRPr lang="en-US" sz="1700" dirty="0"/>
          </a:p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"is a": a Dog is an Animal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super() and overriding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9709"/>
            <a:ext cx="5337048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7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attributes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1945618"/>
            <a:ext cx="5181600" cy="1361281"/>
          </a:xfrm>
          <a:prstGeom prst="roundRect">
            <a:avLst>
              <a:gd name="adj" fmla="val 7464"/>
            </a:avLst>
          </a:prstGeom>
          <a:solidFill>
            <a:srgbClr val="0A171C"/>
          </a:solidFill>
          <a:ln/>
        </p:spPr>
        <p:txBody>
          <a:bodyPr wrap="square" lIns="224242" tIns="224242" rIns="84034" bIns="19884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 Dog(Animal):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def __init__(self, name, breed):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super().__init__(name)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self.breed = breed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197600" y="1569709"/>
            <a:ext cx="5337048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97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 methods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197600" y="1945618"/>
            <a:ext cx="5181600" cy="1787922"/>
          </a:xfrm>
          <a:prstGeom prst="roundRect">
            <a:avLst>
              <a:gd name="adj" fmla="val 5683"/>
            </a:avLst>
          </a:prstGeom>
          <a:solidFill>
            <a:srgbClr val="0A171C"/>
          </a:solidFill>
          <a:ln/>
        </p:spPr>
        <p:txBody>
          <a:bodyPr wrap="square" lIns="224242" tIns="224242" rIns="84034" bIns="19884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 Dog(Animal):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def make_sound(self):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return f"{self.name} barks: Woof!"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 Cat(Animal):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def make_sound(self):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return f"{self.name} meows: Meow!"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3987540"/>
            <a:ext cx="10883392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inheritance for "is a" relationships where the child shares most behavior. Avoid it when classes are only slightly related or you want to reuse one or two methods.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9E4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Practice: Inheritance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9709"/>
            <a:ext cx="10883392" cy="30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Dog inherits from Animal. What does Dog get?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12800" y="1901168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F6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Everything Animal has, plus anything Dog adds itself.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2326618"/>
            <a:ext cx="10883392" cy="30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does super().__init__(name) do?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800" y="265807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F6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It calls the parent's __init__ so the parent sets up its attributes before the child adds its own.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3083520"/>
            <a:ext cx="10883392" cy="30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Should Rectangle inherit from Square?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2800" y="3414979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F6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No, that is not an "is a" relationship. Make both inherit from a Shape class.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B1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Quiz: Inheritance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9715"/>
            <a:ext cx="10883392" cy="33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Overriding a method means: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12800" y="1946870"/>
            <a:ext cx="10883392" cy="30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the child redefines the parent's method   B) deleting the parent   C) copying the file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2291035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800" y="2821856"/>
            <a:ext cx="10883392" cy="33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Which is a good fit for inheritance?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12800" y="3199011"/>
            <a:ext cx="10883392" cy="30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a Dog is an Animal   B) a class that reuses one method   C) two barely related classes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2800" y="3543176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Classes or functions?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569715"/>
            <a:ext cx="5181600" cy="2108200"/>
          </a:xfrm>
          <a:prstGeom prst="roundRect">
            <a:avLst>
              <a:gd name="adj" fmla="val 4819"/>
            </a:avLst>
          </a:prstGeom>
          <a:solidFill>
            <a:srgbClr val="183842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823715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classes to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396" y="2128515"/>
            <a:ext cx="4736592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state between operations</a:t>
            </a:r>
            <a:endParaRPr lang="en-US" sz="1700" dirty="0"/>
          </a:p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data and functions</a:t>
            </a:r>
            <a:endParaRPr lang="en-US" sz="1700" dirty="0"/>
          </a:p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many similar instances</a:t>
            </a:r>
            <a:endParaRPr lang="en-US" sz="1700" dirty="0"/>
          </a:p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real-world things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197600" y="1569715"/>
            <a:ext cx="5181600" cy="2108200"/>
          </a:xfrm>
          <a:prstGeom prst="roundRect">
            <a:avLst>
              <a:gd name="adj" fmla="val 4819"/>
            </a:avLst>
          </a:prstGeom>
          <a:solidFill>
            <a:srgbClr val="183842"/>
          </a:solidFill>
          <a:ln/>
        </p:spPr>
      </p:sp>
      <p:sp>
        <p:nvSpPr>
          <p:cNvPr id="7" name="Text 5"/>
          <p:cNvSpPr/>
          <p:nvPr/>
        </p:nvSpPr>
        <p:spPr>
          <a:xfrm>
            <a:off x="6451600" y="1823715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8FD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functions for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21196" y="2128515"/>
            <a:ext cx="4736592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transformations</a:t>
            </a:r>
            <a:endParaRPr lang="en-US" sz="1700" dirty="0"/>
          </a:p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operations</a:t>
            </a:r>
            <a:endParaRPr lang="en-US" sz="1700" dirty="0"/>
          </a:p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One-off calculations</a:t>
            </a:r>
            <a:endParaRPr lang="en-US" sz="1700" dirty="0"/>
          </a:p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scripts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2800" y="3931915"/>
            <a:ext cx="10883392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A9BC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give the same result. Start with functions, and add classes when you keep passing the same data around or need state.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Common pitfalls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572890"/>
            <a:ext cx="3414183" cy="1721578"/>
          </a:xfrm>
          <a:prstGeom prst="roundRect">
            <a:avLst>
              <a:gd name="adj" fmla="val 5717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033" y="1827944"/>
            <a:ext cx="299118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97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Over-engineering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1033" y="2132744"/>
            <a:ext cx="2991189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 with one method is usually better as a function.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388908" y="1572890"/>
            <a:ext cx="3414183" cy="1721578"/>
          </a:xfrm>
          <a:prstGeom prst="roundRect">
            <a:avLst>
              <a:gd name="adj" fmla="val 5717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43967" y="1827944"/>
            <a:ext cx="299118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97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objects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43967" y="2132744"/>
            <a:ext cx="2991189" cy="932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that do too many things. Keep one responsibility each.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961842" y="1572890"/>
            <a:ext cx="3414183" cy="1721578"/>
          </a:xfrm>
          <a:prstGeom prst="roundRect">
            <a:avLst>
              <a:gd name="adj" fmla="val 5717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16900" y="1827944"/>
            <a:ext cx="299118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97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method classes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16900" y="2132744"/>
            <a:ext cx="2991189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every method is static, use a module with functions.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9E4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Practice: When to use classes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9715"/>
            <a:ext cx="10883392" cy="30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Do you need classes to solve a problem?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12800" y="1901168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F6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No. Classes are a different way to organize code, and functions can give the same result.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2326618"/>
            <a:ext cx="10883392" cy="30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should you start with, and when do you add classes?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800" y="265807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F6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Start with functions. Add classes when you pass the same data between many functions or need to keep state.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3083520"/>
            <a:ext cx="10883392" cy="30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is a god object?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2800" y="3414985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F6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A class that does too many things. Keep each class focused on a single responsibility.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B1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Quiz: When to use classes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9715"/>
            <a:ext cx="10883392" cy="33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 class with only one method is usually better as: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12800" y="1946870"/>
            <a:ext cx="10883392" cy="30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a function   B) a bigger class   C) a global variable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2291035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800" y="2821856"/>
            <a:ext cx="10883392" cy="33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If all of a class's methods are static, you probably want: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12800" y="3199011"/>
            <a:ext cx="10883392" cy="30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a subclass   B) a module with functions   C) more classes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2800" y="3543176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B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B1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Key takeaways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172" y="1569715"/>
            <a:ext cx="10820400" cy="1835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198628" indent="-198628" algn="l">
              <a:lnSpc>
                <a:spcPts val="2850"/>
              </a:lnSpc>
              <a:buSzPct val="100000"/>
              <a:buChar char="•"/>
            </a:pPr>
            <a:r>
              <a:rPr lang="en-US" sz="19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 bundles data and behavior</a:t>
            </a:r>
            <a:endParaRPr lang="en-US" sz="1900" dirty="0"/>
          </a:p>
          <a:p>
            <a:pPr marL="198628" indent="-198628" algn="l">
              <a:lnSpc>
                <a:spcPts val="2850"/>
              </a:lnSpc>
              <a:buSzPct val="100000"/>
              <a:buChar char="•"/>
            </a:pPr>
            <a:r>
              <a:rPr lang="en-US" sz="19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__init__ and self set up each object</a:t>
            </a:r>
            <a:endParaRPr lang="en-US" sz="1900" dirty="0"/>
          </a:p>
          <a:p>
            <a:pPr marL="198628" indent="-198628" algn="l">
              <a:lnSpc>
                <a:spcPts val="2850"/>
              </a:lnSpc>
              <a:buSzPct val="100000"/>
              <a:buChar char="•"/>
            </a:pPr>
            <a:r>
              <a:rPr lang="en-US" sz="19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attributes are per object, class attributes are shared</a:t>
            </a:r>
            <a:endParaRPr lang="en-US" sz="1900" dirty="0"/>
          </a:p>
          <a:p>
            <a:pPr marL="198628" indent="-198628" algn="l">
              <a:lnSpc>
                <a:spcPts val="2850"/>
              </a:lnSpc>
              <a:buSzPct val="100000"/>
              <a:buChar char="•"/>
            </a:pPr>
            <a:r>
              <a:rPr lang="en-US" sz="19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Inheritance extends a parent for "is a" relationships</a:t>
            </a:r>
            <a:endParaRPr lang="en-US" sz="1900" dirty="0"/>
          </a:p>
          <a:p>
            <a:pPr marL="198628" indent="-198628" algn="l">
              <a:lnSpc>
                <a:spcPts val="2850"/>
              </a:lnSpc>
              <a:buSzPct val="100000"/>
              <a:buChar char="•"/>
            </a:pPr>
            <a:r>
              <a:rPr lang="en-US" sz="19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functions, add classes for state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12800" y="3633465"/>
            <a:ext cx="10883392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Git and GitHub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ython Classes">
  <a:themeElements>
    <a:clrScheme name="Python Classes">
      <a:dk1>
        <a:srgbClr val="10242B"/>
      </a:dk1>
      <a:lt1>
        <a:srgbClr val="F2B134"/>
      </a:lt1>
      <a:dk2>
        <a:srgbClr val="49472D"/>
      </a:dk2>
      <a:lt2>
        <a:srgbClr val="DBA333"/>
      </a:lt2>
      <a:accent1>
        <a:srgbClr val="1F6F69"/>
      </a:accent1>
      <a:accent2>
        <a:srgbClr val="B9780A"/>
      </a:accent2>
      <a:accent3>
        <a:srgbClr val="1F7A74"/>
      </a:accent3>
      <a:accent4>
        <a:srgbClr val="8FD3CD"/>
      </a:accent4>
      <a:accent5>
        <a:srgbClr val="8A9499"/>
      </a:accent5>
      <a:accent6>
        <a:srgbClr val="E9E4D8"/>
      </a:accent6>
      <a:hlink>
        <a:srgbClr val="0563C1"/>
      </a:hlink>
      <a:folHlink>
        <a:srgbClr val="954F72"/>
      </a:folHlink>
    </a:clrScheme>
    <a:fontScheme name="Python Classes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1727</Words>
  <Application>Microsoft Office PowerPoint</Application>
  <PresentationFormat>Widescreen</PresentationFormat>
  <Paragraphs>230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Courier New</vt:lpstr>
      <vt:lpstr>Georgia</vt:lpstr>
      <vt:lpstr>Python Classes</vt:lpstr>
      <vt:lpstr>Classes</vt:lpstr>
      <vt:lpstr>What is a class?</vt:lpstr>
      <vt:lpstr>Practice: Classes</vt:lpstr>
      <vt:lpstr>Quiz: Classes</vt:lpstr>
      <vt:lpstr>Your first class</vt:lpstr>
      <vt:lpstr>Class vs instance</vt:lpstr>
      <vt:lpstr>Practice: Your first class</vt:lpstr>
      <vt:lpstr>Quiz: Your first class</vt:lpstr>
      <vt:lpstr>Attributes: storing data</vt:lpstr>
      <vt:lpstr>Methods: adding behavior</vt:lpstr>
      <vt:lpstr>Practice: Methods and attributes</vt:lpstr>
      <vt:lpstr>Quiz: Methods and attributes</vt:lpstr>
      <vt:lpstr>Inheritance</vt:lpstr>
      <vt:lpstr>super() and overriding</vt:lpstr>
      <vt:lpstr>Practice: Inheritance</vt:lpstr>
      <vt:lpstr>Quiz: Inheritance</vt:lpstr>
      <vt:lpstr>Classes or functions?</vt:lpstr>
      <vt:lpstr>Common pitfalls</vt:lpstr>
      <vt:lpstr>Practice: When to use classes</vt:lpstr>
      <vt:lpstr>Quiz: When to use classes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Classes</dc:title>
  <dc:subject/>
  <dc:creator/>
  <cp:lastModifiedBy>DELL</cp:lastModifiedBy>
  <cp:revision>11</cp:revision>
  <dcterms:created xsi:type="dcterms:W3CDTF">2026-10-29T05:02:37Z</dcterms:created>
  <dcterms:modified xsi:type="dcterms:W3CDTF">2026-10-29T08:20:53Z</dcterms:modified>
</cp:coreProperties>
</file>