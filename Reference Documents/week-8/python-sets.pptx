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1" r:id="rId5"/>
    <p:sldId id="259" r:id="rId6"/>
    <p:sldId id="260"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7CC94CA4-63A9-3C41-A716-1363A390DB3F}">
          <p14:sldIdLst>
            <p14:sldId id="256"/>
            <p14:sldId id="257"/>
            <p14:sldId id="258"/>
            <p14:sldId id="261"/>
            <p14:sldId id="259"/>
            <p14:sldId id="260"/>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1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7388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covers Python sets, based on the Data Structures section of python.datalumina.com. Sets are the last data structure in the Python Basics path, after lists and dictionaries. Opening question: if you had a list of every name that signed in today, how would you find each person only once?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is a collection that stores only unique values, so duplicates are removed automatically. Use the three analogies from the source: a bag of unique marbles, a guest list where each person appears once, and unique tags or categories. Ask learners for one more example from everyday life.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create a set. Curly braces with values, or the set() function, which can take a list. Converting a list with set() removes the duplicates automatically: the list of five scores becomes three unique values. Remind learners that the printed order of a set is not guaranteed. Practice answer: {1, 2, 3}. The duplicates are removed automatically.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use of sets: pass a list through set() to drop duplicates, then wrap it in list() if you need a list again. Warn that the order of the resulting list is not guaranteed, because sets are unordered. Practice answer: unique = list(set(nums)). It holds 4, 7 and 9, in any order.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 curly braces create a dictionary, not a set. This is the most common beginner mistake with sets. To make an empty set, always use set(). Curly braces only create a set when they contain values. Demo: print(type({})) shows a dict, and print(type(set())) shows a set. Practice answer: b = set() is the empty set. a = {} is an empty dictionary.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puts an item in the set. remove deletes an item but raises an error if it is not found. discard also deletes, but quietly does nothing if the item is missing. The in keyword checks membership. Trace the example: after the add, the set holds red, blue and green; after remove, blue is gone; discard of yellow does nothing. Practice answer: The set is {"red", "green"}. remove("yellow") would raise an error (KeyError) because yellow is not in the 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whether a value is in a set is very fast, which makes sets a good fit for things like an allowed-users list. The source highlights this as a key reason to use sets. The check itself looks the same as with a list, using the in keyword. Practice answer: if "bob" in allowed_users: print("Welcome").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do not guarantee any order, so the printed order can vary and you cannot index into a set. If order matters, use a list. Notice that the repeated 1 is dropped from the set but kept in the list. Practice answer: Sets are unordered, so the order is not guaranteed, and the repeated 1 is dropped. Use a list if order matters.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decision. Choose a set when you need unique values or fast membership checks and order does not matter. Choose a list when order matters or you want to keep duplicates. They combine well: convert a list to a set to dedupe, then back to a list.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two minutes, then show the answers. Q1 tests the empty set trap, Q2 uniqueness, Q3 remove versus discard, Q4 when to use a list.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empty curly braces make a dictionary. Q2: B, duplicates are removed. Q3: B, discard is silent while remove raises an error. Q4: A, sets do not guarantee order.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ideas. The source page ends the Python Basics path and points to the next topic, functions, under Building Programs.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F6FED"/>
          </a:solidFill>
          <a:ln/>
        </p:spPr>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000" b="1" dirty="0">
                <a:solidFill>
                  <a:srgbClr val="0F1729"/>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548640" y="1371600"/>
            <a:ext cx="73152" cy="1463040"/>
          </a:xfrm>
          <a:prstGeom prst="rect">
            <a:avLst/>
          </a:prstGeom>
          <a:solidFill>
            <a:srgbClr val="2F6FED"/>
          </a:solidFill>
          <a:ln w="12700">
            <a:solidFill>
              <a:srgbClr val="2F6FED"/>
            </a:solidFill>
            <a:prstDash val="solid"/>
          </a:ln>
        </p:spPr>
      </p:sp>
      <p:sp>
        <p:nvSpPr>
          <p:cNvPr id="3" name="Text 1"/>
          <p:cNvSpPr txBox="1"/>
          <p:nvPr/>
        </p:nvSpPr>
        <p:spPr>
          <a:xfrm>
            <a:off x="822960" y="1280160"/>
            <a:ext cx="7772400" cy="914400"/>
          </a:xfrm>
          <a:prstGeom prst="rect">
            <a:avLst/>
          </a:prstGeom>
          <a:noFill/>
          <a:ln/>
        </p:spPr>
        <p:txBody>
          <a:bodyPr wrap="square" lIns="0" tIns="0" rIns="0" bIns="0" rtlCol="0" anchor="ctr"/>
          <a:lstStyle/>
          <a:p>
            <a:pPr marL="0" indent="0">
              <a:buNone/>
            </a:pPr>
            <a:r>
              <a:rPr lang="en-US" sz="4600" b="1" dirty="0">
                <a:solidFill>
                  <a:srgbClr val="FFFFFF"/>
                </a:solidFill>
              </a:rPr>
              <a:t>Python Sets</a:t>
            </a:r>
            <a:endParaRPr lang="en-US" sz="4600" dirty="0"/>
          </a:p>
        </p:txBody>
      </p:sp>
      <p:sp>
        <p:nvSpPr>
          <p:cNvPr id="4" name="Text 2"/>
          <p:cNvSpPr txBox="1"/>
          <p:nvPr/>
        </p:nvSpPr>
        <p:spPr>
          <a:xfrm>
            <a:off x="822960" y="2194560"/>
            <a:ext cx="7772400" cy="731520"/>
          </a:xfrm>
          <a:prstGeom prst="rect">
            <a:avLst/>
          </a:prstGeom>
          <a:noFill/>
          <a:ln/>
        </p:spPr>
        <p:txBody>
          <a:bodyPr wrap="square" lIns="0" tIns="0" rIns="0" bIns="0" rtlCol="0" anchor="ctr"/>
          <a:lstStyle/>
          <a:p>
            <a:pPr marL="0" indent="0">
              <a:buNone/>
            </a:pPr>
            <a:r>
              <a:rPr lang="en-US" sz="2000" dirty="0">
                <a:solidFill>
                  <a:srgbClr val="B8C4DC"/>
                </a:solidFill>
              </a:rPr>
              <a:t>Work with unique collections</a:t>
            </a:r>
            <a:endParaRPr lang="en-US" sz="2000" dirty="0"/>
          </a:p>
        </p:txBody>
      </p:sp>
      <p:sp>
        <p:nvSpPr>
          <p:cNvPr id="5" name="Text 3"/>
          <p:cNvSpPr txBox="1"/>
          <p:nvPr/>
        </p:nvSpPr>
        <p:spPr>
          <a:xfrm>
            <a:off x="822960" y="4206240"/>
            <a:ext cx="7315200" cy="365760"/>
          </a:xfrm>
          <a:prstGeom prst="rect">
            <a:avLst/>
          </a:prstGeom>
          <a:noFill/>
          <a:ln/>
        </p:spPr>
        <p:txBody>
          <a:bodyPr wrap="square" lIns="0" tIns="0" rIns="0" bIns="0" rtlCol="0" anchor="ctr"/>
          <a:lstStyle/>
          <a:p>
            <a:pPr marL="0" indent="0">
              <a:buNone/>
            </a:pPr>
            <a:r>
              <a:rPr lang="en-US" sz="1300" dirty="0">
                <a:solidFill>
                  <a:srgbClr val="7F8CA8"/>
                </a:solidFill>
              </a:rPr>
              <a:t>Beginner  |  </a:t>
            </a:r>
            <a:r>
              <a:rPr lang="en-US" sz="1300" dirty="0" smtClean="0">
                <a:solidFill>
                  <a:srgbClr val="7F8CA8"/>
                </a:solidFill>
              </a:rPr>
              <a:t>6 units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What are sets?</a:t>
            </a:r>
            <a:endParaRPr lang="en-US" sz="3000" dirty="0"/>
          </a:p>
        </p:txBody>
      </p:sp>
      <p:sp>
        <p:nvSpPr>
          <p:cNvPr id="4" name="Shape 1"/>
          <p:cNvSpPr/>
          <p:nvPr/>
        </p:nvSpPr>
        <p:spPr>
          <a:xfrm>
            <a:off x="457200" y="1188720"/>
            <a:ext cx="3931920" cy="1097280"/>
          </a:xfrm>
          <a:prstGeom prst="roundRect">
            <a:avLst>
              <a:gd name="adj" fmla="val 6667"/>
            </a:avLst>
          </a:prstGeom>
          <a:solidFill>
            <a:srgbClr val="F2F5FB"/>
          </a:solidFill>
          <a:ln w="12700">
            <a:solidFill>
              <a:srgbClr val="DDE2EE"/>
            </a:solidFill>
            <a:prstDash val="solid"/>
          </a:ln>
        </p:spPr>
      </p:sp>
      <p:sp>
        <p:nvSpPr>
          <p:cNvPr id="5" name="Shape 2"/>
          <p:cNvSpPr/>
          <p:nvPr/>
        </p:nvSpPr>
        <p:spPr>
          <a:xfrm>
            <a:off x="457200" y="1280160"/>
            <a:ext cx="54864" cy="914400"/>
          </a:xfrm>
          <a:prstGeom prst="rect">
            <a:avLst/>
          </a:prstGeom>
          <a:solidFill>
            <a:srgbClr val="2F6FED"/>
          </a:solidFill>
          <a:ln w="12700">
            <a:solidFill>
              <a:srgbClr val="2F6FED"/>
            </a:solidFill>
            <a:prstDash val="solid"/>
          </a:ln>
        </p:spPr>
      </p:sp>
      <p:sp>
        <p:nvSpPr>
          <p:cNvPr id="6" name="Text 3"/>
          <p:cNvSpPr txBox="1"/>
          <p:nvPr/>
        </p:nvSpPr>
        <p:spPr>
          <a:xfrm>
            <a:off x="685800" y="1188720"/>
            <a:ext cx="3566160" cy="1097280"/>
          </a:xfrm>
          <a:prstGeom prst="rect">
            <a:avLst/>
          </a:prstGeom>
          <a:noFill/>
          <a:ln/>
        </p:spPr>
        <p:txBody>
          <a:bodyPr wrap="square" lIns="0" tIns="0" rIns="0" bIns="0" rtlCol="0" anchor="ctr"/>
          <a:lstStyle/>
          <a:p>
            <a:pPr marL="0" indent="0">
              <a:buNone/>
            </a:pPr>
            <a:r>
              <a:rPr lang="en-US" sz="1500" b="1" dirty="0">
                <a:solidFill>
                  <a:srgbClr val="0F1729"/>
                </a:solidFill>
              </a:rPr>
              <a:t>Only unique values</a:t>
            </a:r>
            <a:endParaRPr lang="en-US" sz="1500" dirty="0"/>
          </a:p>
          <a:p>
            <a:pPr marL="0" indent="0">
              <a:buNone/>
            </a:pPr>
            <a:r>
              <a:rPr lang="en-US" sz="1300" dirty="0">
                <a:solidFill>
                  <a:srgbClr val="3A4357"/>
                </a:solidFill>
              </a:rPr>
              <a:t>A set never holds the same value twice.</a:t>
            </a:r>
            <a:endParaRPr lang="en-US" sz="1500" dirty="0"/>
          </a:p>
        </p:txBody>
      </p:sp>
      <p:sp>
        <p:nvSpPr>
          <p:cNvPr id="7" name="Shape 4"/>
          <p:cNvSpPr/>
          <p:nvPr/>
        </p:nvSpPr>
        <p:spPr>
          <a:xfrm>
            <a:off x="4754880" y="1188720"/>
            <a:ext cx="3931920" cy="1097280"/>
          </a:xfrm>
          <a:prstGeom prst="roundRect">
            <a:avLst>
              <a:gd name="adj" fmla="val 6667"/>
            </a:avLst>
          </a:prstGeom>
          <a:solidFill>
            <a:srgbClr val="F2F5FB"/>
          </a:solidFill>
          <a:ln w="12700">
            <a:solidFill>
              <a:srgbClr val="DDE2EE"/>
            </a:solidFill>
            <a:prstDash val="solid"/>
          </a:ln>
        </p:spPr>
      </p:sp>
      <p:sp>
        <p:nvSpPr>
          <p:cNvPr id="8" name="Shape 5"/>
          <p:cNvSpPr/>
          <p:nvPr/>
        </p:nvSpPr>
        <p:spPr>
          <a:xfrm>
            <a:off x="4754880" y="1280160"/>
            <a:ext cx="54864" cy="914400"/>
          </a:xfrm>
          <a:prstGeom prst="rect">
            <a:avLst/>
          </a:prstGeom>
          <a:solidFill>
            <a:srgbClr val="1FA67A"/>
          </a:solidFill>
          <a:ln w="12700">
            <a:solidFill>
              <a:srgbClr val="1FA67A"/>
            </a:solidFill>
            <a:prstDash val="solid"/>
          </a:ln>
        </p:spPr>
      </p:sp>
      <p:sp>
        <p:nvSpPr>
          <p:cNvPr id="9" name="Text 6"/>
          <p:cNvSpPr txBox="1"/>
          <p:nvPr/>
        </p:nvSpPr>
        <p:spPr>
          <a:xfrm>
            <a:off x="4983480" y="1188720"/>
            <a:ext cx="3566160" cy="1097280"/>
          </a:xfrm>
          <a:prstGeom prst="rect">
            <a:avLst/>
          </a:prstGeom>
          <a:noFill/>
          <a:ln/>
        </p:spPr>
        <p:txBody>
          <a:bodyPr wrap="square" lIns="0" tIns="0" rIns="0" bIns="0" rtlCol="0" anchor="ctr"/>
          <a:lstStyle/>
          <a:p>
            <a:pPr marL="0" indent="0">
              <a:buNone/>
            </a:pPr>
            <a:r>
              <a:rPr lang="en-US" sz="1500" b="1" dirty="0">
                <a:solidFill>
                  <a:srgbClr val="0F1729"/>
                </a:solidFill>
              </a:rPr>
              <a:t>Duplicates vanish</a:t>
            </a:r>
            <a:endParaRPr lang="en-US" sz="1500" dirty="0"/>
          </a:p>
          <a:p>
            <a:pPr marL="0" indent="0">
              <a:buNone/>
            </a:pPr>
            <a:r>
              <a:rPr lang="en-US" sz="1300" dirty="0">
                <a:solidFill>
                  <a:srgbClr val="3A4357"/>
                </a:solidFill>
              </a:rPr>
              <a:t>Adding a repeated value changes nothing.</a:t>
            </a:r>
            <a:endParaRPr lang="en-US" sz="1500" dirty="0"/>
          </a:p>
        </p:txBody>
      </p:sp>
      <p:sp>
        <p:nvSpPr>
          <p:cNvPr id="10" name="Text 7"/>
          <p:cNvSpPr txBox="1"/>
          <p:nvPr/>
        </p:nvSpPr>
        <p:spPr>
          <a:xfrm>
            <a:off x="457200" y="2560320"/>
            <a:ext cx="8229600" cy="365760"/>
          </a:xfrm>
          <a:prstGeom prst="rect">
            <a:avLst/>
          </a:prstGeom>
          <a:noFill/>
          <a:ln/>
        </p:spPr>
        <p:txBody>
          <a:bodyPr wrap="square" lIns="0" tIns="0" rIns="0" bIns="0" rtlCol="0" anchor="ctr"/>
          <a:lstStyle/>
          <a:p>
            <a:pPr marL="0" indent="0">
              <a:buNone/>
            </a:pPr>
            <a:r>
              <a:rPr lang="en-US" sz="1600" b="1" dirty="0">
                <a:solidFill>
                  <a:srgbClr val="0F1729"/>
                </a:solidFill>
              </a:rPr>
              <a:t>Think of a set as...</a:t>
            </a:r>
            <a:endParaRPr lang="en-US" sz="1600" dirty="0"/>
          </a:p>
        </p:txBody>
      </p:sp>
      <p:sp>
        <p:nvSpPr>
          <p:cNvPr id="11" name="Shape 8"/>
          <p:cNvSpPr/>
          <p:nvPr/>
        </p:nvSpPr>
        <p:spPr>
          <a:xfrm>
            <a:off x="457200" y="3017520"/>
            <a:ext cx="2651760" cy="822960"/>
          </a:xfrm>
          <a:prstGeom prst="roundRect">
            <a:avLst>
              <a:gd name="adj" fmla="val 8889"/>
            </a:avLst>
          </a:prstGeom>
          <a:solidFill>
            <a:srgbClr val="F2F5FB"/>
          </a:solidFill>
          <a:ln w="12700">
            <a:solidFill>
              <a:srgbClr val="DDE2EE"/>
            </a:solidFill>
            <a:prstDash val="solid"/>
          </a:ln>
        </p:spPr>
      </p:sp>
      <p:sp>
        <p:nvSpPr>
          <p:cNvPr id="12" name="Shape 9"/>
          <p:cNvSpPr/>
          <p:nvPr/>
        </p:nvSpPr>
        <p:spPr>
          <a:xfrm>
            <a:off x="457200" y="3108960"/>
            <a:ext cx="54864" cy="640080"/>
          </a:xfrm>
          <a:prstGeom prst="rect">
            <a:avLst/>
          </a:prstGeom>
          <a:solidFill>
            <a:srgbClr val="F5A623"/>
          </a:solidFill>
          <a:ln w="12700">
            <a:solidFill>
              <a:srgbClr val="F5A623"/>
            </a:solidFill>
            <a:prstDash val="solid"/>
          </a:ln>
        </p:spPr>
      </p:sp>
      <p:sp>
        <p:nvSpPr>
          <p:cNvPr id="13" name="Text 10"/>
          <p:cNvSpPr txBox="1"/>
          <p:nvPr/>
        </p:nvSpPr>
        <p:spPr>
          <a:xfrm>
            <a:off x="685800" y="3017520"/>
            <a:ext cx="2286000" cy="822960"/>
          </a:xfrm>
          <a:prstGeom prst="rect">
            <a:avLst/>
          </a:prstGeom>
          <a:noFill/>
          <a:ln/>
        </p:spPr>
        <p:txBody>
          <a:bodyPr wrap="square" lIns="0" tIns="0" rIns="0" bIns="0" rtlCol="0" anchor="ctr"/>
          <a:lstStyle/>
          <a:p>
            <a:pPr marL="0" indent="0">
              <a:buNone/>
            </a:pPr>
            <a:r>
              <a:rPr lang="en-US" sz="1500" b="1" dirty="0">
                <a:solidFill>
                  <a:srgbClr val="0F1729"/>
                </a:solidFill>
              </a:rPr>
              <a:t>A bag of unique marbles</a:t>
            </a:r>
            <a:endParaRPr lang="en-US" sz="1500" dirty="0"/>
          </a:p>
          <a:p>
            <a:pPr marL="0" indent="0">
              <a:buNone/>
            </a:pPr>
            <a:endParaRPr lang="en-US" sz="1500" dirty="0"/>
          </a:p>
        </p:txBody>
      </p:sp>
      <p:sp>
        <p:nvSpPr>
          <p:cNvPr id="14" name="Shape 11"/>
          <p:cNvSpPr/>
          <p:nvPr/>
        </p:nvSpPr>
        <p:spPr>
          <a:xfrm>
            <a:off x="3246120" y="3017520"/>
            <a:ext cx="2651760" cy="822960"/>
          </a:xfrm>
          <a:prstGeom prst="roundRect">
            <a:avLst>
              <a:gd name="adj" fmla="val 8889"/>
            </a:avLst>
          </a:prstGeom>
          <a:solidFill>
            <a:srgbClr val="F2F5FB"/>
          </a:solidFill>
          <a:ln w="12700">
            <a:solidFill>
              <a:srgbClr val="DDE2EE"/>
            </a:solidFill>
            <a:prstDash val="solid"/>
          </a:ln>
        </p:spPr>
      </p:sp>
      <p:sp>
        <p:nvSpPr>
          <p:cNvPr id="15" name="Shape 12"/>
          <p:cNvSpPr/>
          <p:nvPr/>
        </p:nvSpPr>
        <p:spPr>
          <a:xfrm>
            <a:off x="3246120" y="3108960"/>
            <a:ext cx="54864" cy="640080"/>
          </a:xfrm>
          <a:prstGeom prst="rect">
            <a:avLst/>
          </a:prstGeom>
          <a:solidFill>
            <a:srgbClr val="F5A623"/>
          </a:solidFill>
          <a:ln w="12700">
            <a:solidFill>
              <a:srgbClr val="F5A623"/>
            </a:solidFill>
            <a:prstDash val="solid"/>
          </a:ln>
        </p:spPr>
      </p:sp>
      <p:sp>
        <p:nvSpPr>
          <p:cNvPr id="16" name="Text 13"/>
          <p:cNvSpPr txBox="1"/>
          <p:nvPr/>
        </p:nvSpPr>
        <p:spPr>
          <a:xfrm>
            <a:off x="3474720" y="3017520"/>
            <a:ext cx="2286000" cy="822960"/>
          </a:xfrm>
          <a:prstGeom prst="rect">
            <a:avLst/>
          </a:prstGeom>
          <a:noFill/>
          <a:ln/>
        </p:spPr>
        <p:txBody>
          <a:bodyPr wrap="square" lIns="0" tIns="0" rIns="0" bIns="0" rtlCol="0" anchor="ctr"/>
          <a:lstStyle/>
          <a:p>
            <a:pPr marL="0" indent="0">
              <a:buNone/>
            </a:pPr>
            <a:r>
              <a:rPr lang="en-US" sz="1500" b="1" dirty="0">
                <a:solidFill>
                  <a:srgbClr val="0F1729"/>
                </a:solidFill>
              </a:rPr>
              <a:t>A guest list</a:t>
            </a:r>
            <a:endParaRPr lang="en-US" sz="1500" dirty="0"/>
          </a:p>
          <a:p>
            <a:pPr marL="0" indent="0">
              <a:buNone/>
            </a:pPr>
            <a:r>
              <a:rPr lang="en-US" sz="1300" dirty="0">
                <a:solidFill>
                  <a:srgbClr val="3A4357"/>
                </a:solidFill>
              </a:rPr>
              <a:t>Each person once.</a:t>
            </a:r>
            <a:endParaRPr lang="en-US" sz="1500" dirty="0"/>
          </a:p>
        </p:txBody>
      </p:sp>
      <p:sp>
        <p:nvSpPr>
          <p:cNvPr id="17" name="Shape 14"/>
          <p:cNvSpPr/>
          <p:nvPr/>
        </p:nvSpPr>
        <p:spPr>
          <a:xfrm>
            <a:off x="6035040" y="3017520"/>
            <a:ext cx="2651760" cy="822960"/>
          </a:xfrm>
          <a:prstGeom prst="roundRect">
            <a:avLst>
              <a:gd name="adj" fmla="val 8889"/>
            </a:avLst>
          </a:prstGeom>
          <a:solidFill>
            <a:srgbClr val="F2F5FB"/>
          </a:solidFill>
          <a:ln w="12700">
            <a:solidFill>
              <a:srgbClr val="DDE2EE"/>
            </a:solidFill>
            <a:prstDash val="solid"/>
          </a:ln>
        </p:spPr>
      </p:sp>
      <p:sp>
        <p:nvSpPr>
          <p:cNvPr id="18" name="Shape 15"/>
          <p:cNvSpPr/>
          <p:nvPr/>
        </p:nvSpPr>
        <p:spPr>
          <a:xfrm>
            <a:off x="6035040" y="3108960"/>
            <a:ext cx="54864" cy="640080"/>
          </a:xfrm>
          <a:prstGeom prst="rect">
            <a:avLst/>
          </a:prstGeom>
          <a:solidFill>
            <a:srgbClr val="F5A623"/>
          </a:solidFill>
          <a:ln w="12700">
            <a:solidFill>
              <a:srgbClr val="F5A623"/>
            </a:solidFill>
            <a:prstDash val="solid"/>
          </a:ln>
        </p:spPr>
      </p:sp>
      <p:sp>
        <p:nvSpPr>
          <p:cNvPr id="19" name="Text 16"/>
          <p:cNvSpPr txBox="1"/>
          <p:nvPr/>
        </p:nvSpPr>
        <p:spPr>
          <a:xfrm>
            <a:off x="6263640" y="3017520"/>
            <a:ext cx="2286000" cy="822960"/>
          </a:xfrm>
          <a:prstGeom prst="rect">
            <a:avLst/>
          </a:prstGeom>
          <a:noFill/>
          <a:ln/>
        </p:spPr>
        <p:txBody>
          <a:bodyPr wrap="square" lIns="0" tIns="0" rIns="0" bIns="0" rtlCol="0" anchor="ctr"/>
          <a:lstStyle/>
          <a:p>
            <a:pPr marL="0" indent="0">
              <a:buNone/>
            </a:pPr>
            <a:r>
              <a:rPr lang="en-US" sz="1500" b="1" dirty="0">
                <a:solidFill>
                  <a:srgbClr val="0F1729"/>
                </a:solidFill>
              </a:rPr>
              <a:t>Unique tags</a:t>
            </a:r>
            <a:endParaRPr lang="en-US" sz="1500" dirty="0"/>
          </a:p>
          <a:p>
            <a:pPr marL="0" indent="0">
              <a:buNone/>
            </a:pPr>
            <a:r>
              <a:rPr lang="en-US" sz="1300" dirty="0">
                <a:solidFill>
                  <a:srgbClr val="3A4357"/>
                </a:solidFill>
              </a:rPr>
              <a:t>Or categories.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Creating sets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b="1" dirty="0">
                <a:solidFill>
                  <a:srgbClr val="B26B00"/>
                </a:solidFill>
              </a:rPr>
              <a:t>Practice: </a:t>
            </a:r>
            <a:r>
              <a:rPr lang="en-US" dirty="0">
                <a:solidFill>
                  <a:srgbClr val="1B1F2A"/>
                </a:solidFill>
              </a:rPr>
              <a:t>Create a set from [1, 2, 2, 3, 3, 3]. What does it contain?</a:t>
            </a:r>
            <a:endParaRPr lang="en-US" dirty="0"/>
          </a:p>
        </p:txBody>
      </p:sp>
      <p:sp>
        <p:nvSpPr>
          <p:cNvPr id="6" name="Shape 3"/>
          <p:cNvSpPr/>
          <p:nvPr/>
        </p:nvSpPr>
        <p:spPr>
          <a:xfrm>
            <a:off x="457200" y="1188720"/>
            <a:ext cx="8229600" cy="1737360"/>
          </a:xfrm>
          <a:prstGeom prst="roundRect">
            <a:avLst>
              <a:gd name="adj" fmla="val 4211"/>
            </a:avLst>
          </a:prstGeom>
          <a:solidFill>
            <a:srgbClr val="0F1729"/>
          </a:solidFill>
          <a:ln w="12700">
            <a:solidFill>
              <a:srgbClr val="0F1729"/>
            </a:solidFill>
            <a:prstDash val="solid"/>
          </a:ln>
        </p:spPr>
      </p:sp>
      <p:sp>
        <p:nvSpPr>
          <p:cNvPr id="7" name="Text 4"/>
          <p:cNvSpPr txBox="1"/>
          <p:nvPr/>
        </p:nvSpPr>
        <p:spPr>
          <a:xfrm>
            <a:off x="594360" y="1188720"/>
            <a:ext cx="7955280" cy="17373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numbers = {1, 2, 3, </a:t>
            </a:r>
            <a:r>
              <a:rPr lang="en-US" sz="1300" dirty="0" smtClean="0">
                <a:solidFill>
                  <a:srgbClr val="E6EDF7"/>
                </a:solidFill>
                <a:latin typeface="Consolas" pitchFamily="34" charset="0"/>
                <a:ea typeface="Consolas" pitchFamily="34" charset="-122"/>
                <a:cs typeface="Consolas" pitchFamily="34" charset="-120"/>
              </a:rPr>
              <a:t>4</a:t>
            </a:r>
            <a:r>
              <a:rPr lang="en-US" sz="1300" dirty="0">
                <a:solidFill>
                  <a:srgbClr val="E6EDF7"/>
                </a:solidFill>
                <a:latin typeface="Consolas" pitchFamily="34" charset="0"/>
                <a:ea typeface="Consolas" pitchFamily="34" charset="-122"/>
                <a:cs typeface="Consolas" pitchFamily="34" charset="-120"/>
              </a:rPr>
              <a:t>, 5}</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fruits = set(["apple", "banana", "orange"])</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scores = [85, 90, 85, 92, 90]</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unique_scores = set(scores)   # {85, 90, 92}</a:t>
            </a:r>
            <a:endParaRPr lang="en-US" sz="1300" dirty="0"/>
          </a:p>
        </p:txBody>
      </p:sp>
      <p:sp>
        <p:nvSpPr>
          <p:cNvPr id="8" name="Text 5"/>
          <p:cNvSpPr txBox="1"/>
          <p:nvPr/>
        </p:nvSpPr>
        <p:spPr>
          <a:xfrm>
            <a:off x="457200" y="3200400"/>
            <a:ext cx="8229600" cy="457200"/>
          </a:xfrm>
          <a:prstGeom prst="rect">
            <a:avLst/>
          </a:prstGeom>
          <a:noFill/>
          <a:ln/>
        </p:spPr>
        <p:txBody>
          <a:bodyPr wrap="square" lIns="0" tIns="0" rIns="0" bIns="0" rtlCol="0" anchor="ctr"/>
          <a:lstStyle/>
          <a:p>
            <a:pPr marL="0" indent="0">
              <a:buNone/>
            </a:pPr>
            <a:r>
              <a:rPr lang="en-US" sz="1600" i="1" dirty="0">
                <a:solidFill>
                  <a:srgbClr val="5B6475"/>
                </a:solidFill>
              </a:rPr>
              <a:t>Curly braces with values, or set() with an iterable such as a list.</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Common use: remove duplicates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300" b="1" dirty="0">
                <a:solidFill>
                  <a:srgbClr val="B26B00"/>
                </a:solidFill>
              </a:rPr>
              <a:t>Practice: </a:t>
            </a:r>
            <a:r>
              <a:rPr lang="en-US" sz="1300" dirty="0">
                <a:solidFill>
                  <a:srgbClr val="1B1F2A"/>
                </a:solidFill>
              </a:rPr>
              <a:t>Remove the duplicates from nums = [4, 7, 4, 9, 7] and keep the result as a list.</a:t>
            </a:r>
            <a:endParaRPr lang="en-US" sz="1300" dirty="0"/>
          </a:p>
        </p:txBody>
      </p:sp>
      <p:sp>
        <p:nvSpPr>
          <p:cNvPr id="6" name="Shape 3"/>
          <p:cNvSpPr/>
          <p:nvPr/>
        </p:nvSpPr>
        <p:spPr>
          <a:xfrm>
            <a:off x="457200" y="1188720"/>
            <a:ext cx="8229600" cy="1554480"/>
          </a:xfrm>
          <a:prstGeom prst="roundRect">
            <a:avLst>
              <a:gd name="adj" fmla="val 4706"/>
            </a:avLst>
          </a:prstGeom>
          <a:solidFill>
            <a:srgbClr val="0F1729"/>
          </a:solidFill>
          <a:ln w="12700">
            <a:solidFill>
              <a:srgbClr val="0F1729"/>
            </a:solidFill>
            <a:prstDash val="solid"/>
          </a:ln>
        </p:spPr>
      </p:sp>
      <p:sp>
        <p:nvSpPr>
          <p:cNvPr id="7" name="Text 4"/>
          <p:cNvSpPr txBox="1"/>
          <p:nvPr/>
        </p:nvSpPr>
        <p:spPr>
          <a:xfrm>
            <a:off x="594360" y="1188720"/>
            <a:ext cx="7955280" cy="155448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names = ["Alice", "Bob", "Alice", "Charlie", "Bob"]</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unique_names = list(set(names))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print(unique_names)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["Alice", "Bob", "Charlie"]</a:t>
            </a:r>
            <a:endParaRPr lang="en-US" sz="1300" dirty="0"/>
          </a:p>
        </p:txBody>
      </p:sp>
      <p:sp>
        <p:nvSpPr>
          <p:cNvPr id="8" name="Text 5"/>
          <p:cNvSpPr txBox="1"/>
          <p:nvPr/>
        </p:nvSpPr>
        <p:spPr>
          <a:xfrm>
            <a:off x="457200" y="3108960"/>
            <a:ext cx="8229600" cy="457200"/>
          </a:xfrm>
          <a:prstGeom prst="rect">
            <a:avLst/>
          </a:prstGeom>
          <a:noFill/>
          <a:ln/>
        </p:spPr>
        <p:txBody>
          <a:bodyPr wrap="square" lIns="0" tIns="0" rIns="0" bIns="0" rtlCol="0" anchor="ctr"/>
          <a:lstStyle/>
          <a:p>
            <a:pPr marL="0" indent="0">
              <a:buNone/>
            </a:pPr>
            <a:r>
              <a:rPr lang="en-US" sz="1600" i="1" dirty="0">
                <a:solidFill>
                  <a:srgbClr val="5B6475"/>
                </a:solidFill>
              </a:rPr>
              <a:t>list to set (drops duplicates) to list again.</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Careful: the empty set</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b="1" dirty="0">
                <a:solidFill>
                  <a:srgbClr val="B26B00"/>
                </a:solidFill>
              </a:rPr>
              <a:t>Practice: </a:t>
            </a:r>
            <a:r>
              <a:rPr lang="en-US" dirty="0">
                <a:solidFill>
                  <a:srgbClr val="1B1F2A"/>
                </a:solidFill>
              </a:rPr>
              <a:t>Which creates an empty set: a = {} or b = set()? What type is the other one?</a:t>
            </a:r>
            <a:endParaRPr lang="en-US" dirty="0"/>
          </a:p>
        </p:txBody>
      </p:sp>
      <p:sp>
        <p:nvSpPr>
          <p:cNvPr id="6" name="Shape 3"/>
          <p:cNvSpPr/>
          <p:nvPr/>
        </p:nvSpPr>
        <p:spPr>
          <a:xfrm>
            <a:off x="457200" y="1188720"/>
            <a:ext cx="4572000" cy="1828800"/>
          </a:xfrm>
          <a:prstGeom prst="roundRect">
            <a:avLst>
              <a:gd name="adj" fmla="val 4000"/>
            </a:avLst>
          </a:prstGeom>
          <a:solidFill>
            <a:srgbClr val="0F1729"/>
          </a:solidFill>
          <a:ln w="12700">
            <a:solidFill>
              <a:srgbClr val="0F1729"/>
            </a:solidFill>
            <a:prstDash val="solid"/>
          </a:ln>
        </p:spPr>
      </p:sp>
      <p:sp>
        <p:nvSpPr>
          <p:cNvPr id="7" name="Text 4"/>
          <p:cNvSpPr txBox="1"/>
          <p:nvPr/>
        </p:nvSpPr>
        <p:spPr>
          <a:xfrm>
            <a:off x="594360" y="1188720"/>
            <a:ext cx="4297680" cy="182880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Wrong - creates an empty dict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empty = {}</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Right - use set()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empty = set()</a:t>
            </a:r>
            <a:endParaRPr lang="en-US" sz="1300" dirty="0"/>
          </a:p>
        </p:txBody>
      </p:sp>
      <p:sp>
        <p:nvSpPr>
          <p:cNvPr id="8" name="Shape 5"/>
          <p:cNvSpPr/>
          <p:nvPr/>
        </p:nvSpPr>
        <p:spPr>
          <a:xfrm>
            <a:off x="5303520" y="1188720"/>
            <a:ext cx="3383280" cy="1828800"/>
          </a:xfrm>
          <a:prstGeom prst="roundRect">
            <a:avLst>
              <a:gd name="adj" fmla="val 4000"/>
            </a:avLst>
          </a:prstGeom>
          <a:solidFill>
            <a:srgbClr val="F2F5FB"/>
          </a:solidFill>
          <a:ln w="12700">
            <a:solidFill>
              <a:srgbClr val="DDE2EE"/>
            </a:solidFill>
            <a:prstDash val="solid"/>
          </a:ln>
        </p:spPr>
      </p:sp>
      <p:sp>
        <p:nvSpPr>
          <p:cNvPr id="9" name="Shape 6"/>
          <p:cNvSpPr/>
          <p:nvPr/>
        </p:nvSpPr>
        <p:spPr>
          <a:xfrm>
            <a:off x="5303520" y="1280160"/>
            <a:ext cx="54864" cy="1645920"/>
          </a:xfrm>
          <a:prstGeom prst="rect">
            <a:avLst/>
          </a:prstGeom>
          <a:solidFill>
            <a:srgbClr val="D64550"/>
          </a:solidFill>
          <a:ln w="12700">
            <a:solidFill>
              <a:srgbClr val="D64550"/>
            </a:solidFill>
            <a:prstDash val="solid"/>
          </a:ln>
        </p:spPr>
      </p:sp>
      <p:sp>
        <p:nvSpPr>
          <p:cNvPr id="10" name="Text 7"/>
          <p:cNvSpPr txBox="1"/>
          <p:nvPr/>
        </p:nvSpPr>
        <p:spPr>
          <a:xfrm>
            <a:off x="5532120" y="1188720"/>
            <a:ext cx="3017520" cy="1828800"/>
          </a:xfrm>
          <a:prstGeom prst="rect">
            <a:avLst/>
          </a:prstGeom>
          <a:noFill/>
          <a:ln/>
        </p:spPr>
        <p:txBody>
          <a:bodyPr wrap="square" lIns="0" tIns="0" rIns="0" bIns="0" rtlCol="0" anchor="ctr"/>
          <a:lstStyle/>
          <a:p>
            <a:pPr marL="0" indent="0">
              <a:buNone/>
            </a:pPr>
            <a:r>
              <a:rPr lang="en-US" sz="1500" b="1" dirty="0">
                <a:solidFill>
                  <a:srgbClr val="0F1729"/>
                </a:solidFill>
              </a:rPr>
              <a:t>Warning</a:t>
            </a:r>
            <a:endParaRPr lang="en-US" sz="1500" dirty="0"/>
          </a:p>
          <a:p>
            <a:pPr marL="0" indent="0">
              <a:buNone/>
            </a:pPr>
            <a:r>
              <a:rPr lang="en-US" sz="1300" dirty="0">
                <a:solidFill>
                  <a:srgbClr val="3A4357"/>
                </a:solidFill>
              </a:rPr>
              <a:t>Use set() for empty sets, not {}. Empty curly braces create a dictionary.</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Basic operations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600" b="1" dirty="0">
                <a:solidFill>
                  <a:srgbClr val="B26B00"/>
                </a:solidFill>
              </a:rPr>
              <a:t>Practice: </a:t>
            </a:r>
            <a:r>
              <a:rPr lang="en-US" sz="1600" dirty="0">
                <a:solidFill>
                  <a:srgbClr val="1B1F2A"/>
                </a:solidFill>
              </a:rPr>
              <a:t>Start with colors = {"red", "blue"}. Add "green", remove "blue", discard "yellow". What is left? Which call would fail if you used remove() instead of discard()?</a:t>
            </a:r>
            <a:endParaRPr lang="en-US" sz="1600" dirty="0"/>
          </a:p>
        </p:txBody>
      </p:sp>
      <p:sp>
        <p:nvSpPr>
          <p:cNvPr id="6" name="Shape 3"/>
          <p:cNvSpPr/>
          <p:nvPr/>
        </p:nvSpPr>
        <p:spPr>
          <a:xfrm>
            <a:off x="457200" y="1097280"/>
            <a:ext cx="5486400" cy="2743200"/>
          </a:xfrm>
          <a:prstGeom prst="roundRect">
            <a:avLst>
              <a:gd name="adj" fmla="val 2667"/>
            </a:avLst>
          </a:prstGeom>
          <a:solidFill>
            <a:srgbClr val="0F1729"/>
          </a:solidFill>
          <a:ln w="12700">
            <a:solidFill>
              <a:srgbClr val="0F1729"/>
            </a:solidFill>
            <a:prstDash val="solid"/>
          </a:ln>
        </p:spPr>
      </p:sp>
      <p:sp>
        <p:nvSpPr>
          <p:cNvPr id="7" name="Text 4"/>
          <p:cNvSpPr txBox="1"/>
          <p:nvPr/>
        </p:nvSpPr>
        <p:spPr>
          <a:xfrm>
            <a:off x="594360" y="1097280"/>
            <a:ext cx="5212080" cy="274320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colors = {"red", "blue"}</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colors.add("green")</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colors.remove("blue")     # error if not found</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colors.discard("yellow")  # no error if not </a:t>
            </a:r>
            <a:r>
              <a:rPr lang="en-US" sz="1300" dirty="0" smtClean="0">
                <a:solidFill>
                  <a:srgbClr val="E6EDF7"/>
                </a:solidFill>
                <a:latin typeface="Consolas" pitchFamily="34" charset="0"/>
                <a:ea typeface="Consolas" pitchFamily="34" charset="-122"/>
                <a:cs typeface="Consolas" pitchFamily="34" charset="-120"/>
              </a:rPr>
              <a:t>found</a:t>
            </a:r>
          </a:p>
          <a:p>
            <a:pPr marL="0" indent="0">
              <a:buNone/>
            </a:pPr>
            <a:r>
              <a:rPr lang="en-US" sz="1300" dirty="0">
                <a:solidFill>
                  <a:srgbClr val="E6EDF7"/>
                </a:solidFill>
                <a:latin typeface="Consolas" pitchFamily="34" charset="0"/>
              </a:rPr>
              <a:t>c</a:t>
            </a:r>
            <a:r>
              <a:rPr lang="en-US" sz="1300" dirty="0" smtClean="0">
                <a:solidFill>
                  <a:srgbClr val="E6EDF7"/>
                </a:solidFill>
                <a:latin typeface="Consolas" pitchFamily="34" charset="0"/>
              </a:rPr>
              <a:t>olors.update([“pink”, “red”])</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if "red" in colors: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print("Red is available")</a:t>
            </a:r>
            <a:endParaRPr lang="en-US" sz="1300" dirty="0"/>
          </a:p>
        </p:txBody>
      </p:sp>
      <p:sp>
        <p:nvSpPr>
          <p:cNvPr id="8" name="Shape 5"/>
          <p:cNvSpPr/>
          <p:nvPr/>
        </p:nvSpPr>
        <p:spPr>
          <a:xfrm>
            <a:off x="6217920" y="1097280"/>
            <a:ext cx="2468880" cy="1737360"/>
          </a:xfrm>
          <a:prstGeom prst="roundRect">
            <a:avLst>
              <a:gd name="adj" fmla="val 4211"/>
            </a:avLst>
          </a:prstGeom>
          <a:solidFill>
            <a:srgbClr val="F2F5FB"/>
          </a:solidFill>
          <a:ln w="12700">
            <a:solidFill>
              <a:srgbClr val="DDE2EE"/>
            </a:solidFill>
            <a:prstDash val="solid"/>
          </a:ln>
        </p:spPr>
      </p:sp>
      <p:sp>
        <p:nvSpPr>
          <p:cNvPr id="9" name="Shape 6"/>
          <p:cNvSpPr/>
          <p:nvPr/>
        </p:nvSpPr>
        <p:spPr>
          <a:xfrm>
            <a:off x="6217920" y="1188720"/>
            <a:ext cx="54864" cy="1554480"/>
          </a:xfrm>
          <a:prstGeom prst="rect">
            <a:avLst/>
          </a:prstGeom>
          <a:solidFill>
            <a:srgbClr val="F5A623"/>
          </a:solidFill>
          <a:ln w="12700">
            <a:solidFill>
              <a:srgbClr val="F5A623"/>
            </a:solidFill>
            <a:prstDash val="solid"/>
          </a:ln>
        </p:spPr>
      </p:sp>
      <p:sp>
        <p:nvSpPr>
          <p:cNvPr id="10" name="Text 7"/>
          <p:cNvSpPr txBox="1"/>
          <p:nvPr/>
        </p:nvSpPr>
        <p:spPr>
          <a:xfrm>
            <a:off x="6446520" y="1097280"/>
            <a:ext cx="2103120" cy="1737360"/>
          </a:xfrm>
          <a:prstGeom prst="rect">
            <a:avLst/>
          </a:prstGeom>
          <a:noFill/>
          <a:ln/>
        </p:spPr>
        <p:txBody>
          <a:bodyPr wrap="square" lIns="0" tIns="0" rIns="0" bIns="0" rtlCol="0" anchor="ctr"/>
          <a:lstStyle/>
          <a:p>
            <a:pPr marL="0" indent="0">
              <a:buNone/>
            </a:pPr>
            <a:r>
              <a:rPr lang="en-US" sz="1500" b="1" dirty="0">
                <a:solidFill>
                  <a:srgbClr val="0F1729"/>
                </a:solidFill>
              </a:rPr>
              <a:t>remove vs discard</a:t>
            </a:r>
            <a:endParaRPr lang="en-US" sz="1500" dirty="0"/>
          </a:p>
          <a:p>
            <a:pPr marL="0" indent="0">
              <a:buNone/>
            </a:pPr>
            <a:r>
              <a:rPr lang="en-US" sz="1300" dirty="0">
                <a:solidFill>
                  <a:srgbClr val="3A4357"/>
                </a:solidFill>
              </a:rPr>
              <a:t>remove raises an error if the item is missing. discard does not.</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Common use: fast membership testing</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300" b="1" dirty="0">
                <a:solidFill>
                  <a:srgbClr val="B26B00"/>
                </a:solidFill>
              </a:rPr>
              <a:t>Practice: </a:t>
            </a:r>
            <a:r>
              <a:rPr lang="en-US" sz="1300" dirty="0">
                <a:solidFill>
                  <a:srgbClr val="1B1F2A"/>
                </a:solidFill>
              </a:rPr>
              <a:t>Write an if statement that prints "Welcome" when "bob" is in allowed_users.</a:t>
            </a:r>
            <a:endParaRPr lang="en-US" sz="1300" dirty="0"/>
          </a:p>
        </p:txBody>
      </p:sp>
      <p:sp>
        <p:nvSpPr>
          <p:cNvPr id="6" name="Shape 3"/>
          <p:cNvSpPr/>
          <p:nvPr/>
        </p:nvSpPr>
        <p:spPr>
          <a:xfrm>
            <a:off x="457200" y="1188720"/>
            <a:ext cx="8229600" cy="1554480"/>
          </a:xfrm>
          <a:prstGeom prst="roundRect">
            <a:avLst>
              <a:gd name="adj" fmla="val 4706"/>
            </a:avLst>
          </a:prstGeom>
          <a:solidFill>
            <a:srgbClr val="0F1729"/>
          </a:solidFill>
          <a:ln w="12700">
            <a:solidFill>
              <a:srgbClr val="0F1729"/>
            </a:solidFill>
            <a:prstDash val="solid"/>
          </a:ln>
        </p:spPr>
      </p:sp>
      <p:sp>
        <p:nvSpPr>
          <p:cNvPr id="7" name="Text 4"/>
          <p:cNvSpPr txBox="1"/>
          <p:nvPr/>
        </p:nvSpPr>
        <p:spPr>
          <a:xfrm>
            <a:off x="594360" y="1188720"/>
            <a:ext cx="7955280" cy="155448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allowed_users = {"alice", "bob", "charlie"}</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if "alice" in allowed_users:   # Very fast!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print("Access granted")</a:t>
            </a:r>
            <a:endParaRPr lang="en-US" sz="1300" dirty="0"/>
          </a:p>
        </p:txBody>
      </p:sp>
      <p:sp>
        <p:nvSpPr>
          <p:cNvPr id="8" name="Text 5"/>
          <p:cNvSpPr txBox="1"/>
          <p:nvPr/>
        </p:nvSpPr>
        <p:spPr>
          <a:xfrm>
            <a:off x="457200" y="3108960"/>
            <a:ext cx="8229600" cy="457200"/>
          </a:xfrm>
          <a:prstGeom prst="rect">
            <a:avLst/>
          </a:prstGeom>
          <a:noFill/>
          <a:ln/>
        </p:spPr>
        <p:txBody>
          <a:bodyPr wrap="square" lIns="0" tIns="0" rIns="0" bIns="0" rtlCol="0" anchor="ctr"/>
          <a:lstStyle/>
          <a:p>
            <a:pPr marL="0" indent="0">
              <a:buNone/>
            </a:pPr>
            <a:r>
              <a:rPr lang="en-US" sz="1600" i="1" dirty="0">
                <a:solidFill>
                  <a:srgbClr val="5B6475"/>
                </a:solidFill>
              </a:rPr>
              <a:t>Checking "in" on a set is very fast.</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Common mistake: sets are unordered</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300" b="1" dirty="0">
                <a:solidFill>
                  <a:srgbClr val="B26B00"/>
                </a:solidFill>
              </a:rPr>
              <a:t>Practice: </a:t>
            </a:r>
            <a:r>
              <a:rPr lang="en-US" sz="1300" dirty="0">
                <a:solidFill>
                  <a:srgbClr val="1B1F2A"/>
                </a:solidFill>
              </a:rPr>
              <a:t>Why might print({3, 1, 4, 1, 5}) not show 3, 1, 4, 5 in that order? What would you use if order matters?</a:t>
            </a:r>
            <a:endParaRPr lang="en-US" sz="1300" dirty="0"/>
          </a:p>
        </p:txBody>
      </p:sp>
      <p:sp>
        <p:nvSpPr>
          <p:cNvPr id="6" name="Shape 3"/>
          <p:cNvSpPr/>
          <p:nvPr/>
        </p:nvSpPr>
        <p:spPr>
          <a:xfrm>
            <a:off x="457200" y="1188720"/>
            <a:ext cx="5120640" cy="2011680"/>
          </a:xfrm>
          <a:prstGeom prst="roundRect">
            <a:avLst>
              <a:gd name="adj" fmla="val 3636"/>
            </a:avLst>
          </a:prstGeom>
          <a:solidFill>
            <a:srgbClr val="0F1729"/>
          </a:solidFill>
          <a:ln w="12700">
            <a:solidFill>
              <a:srgbClr val="0F1729"/>
            </a:solidFill>
            <a:prstDash val="solid"/>
          </a:ln>
        </p:spPr>
      </p:sp>
      <p:sp>
        <p:nvSpPr>
          <p:cNvPr id="7" name="Text 4"/>
          <p:cNvSpPr txBox="1"/>
          <p:nvPr/>
        </p:nvSpPr>
        <p:spPr>
          <a:xfrm>
            <a:off x="594360" y="1188720"/>
            <a:ext cx="4846320" cy="201168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Order is not guaranteed!</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numbers = {3, 1, 4, 1, 5}</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print(numbers)   # could be any order</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Use a list if order matters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ordered = [3, 1, 4, 1, 5]</a:t>
            </a:r>
            <a:endParaRPr lang="en-US" sz="1300" dirty="0"/>
          </a:p>
        </p:txBody>
      </p:sp>
      <p:sp>
        <p:nvSpPr>
          <p:cNvPr id="8" name="Shape 5"/>
          <p:cNvSpPr/>
          <p:nvPr/>
        </p:nvSpPr>
        <p:spPr>
          <a:xfrm>
            <a:off x="5852160" y="1188720"/>
            <a:ext cx="2834640" cy="1188720"/>
          </a:xfrm>
          <a:prstGeom prst="roundRect">
            <a:avLst>
              <a:gd name="adj" fmla="val 6154"/>
            </a:avLst>
          </a:prstGeom>
          <a:solidFill>
            <a:srgbClr val="F2F5FB"/>
          </a:solidFill>
          <a:ln w="12700">
            <a:solidFill>
              <a:srgbClr val="DDE2EE"/>
            </a:solidFill>
            <a:prstDash val="solid"/>
          </a:ln>
        </p:spPr>
      </p:sp>
      <p:sp>
        <p:nvSpPr>
          <p:cNvPr id="9" name="Shape 6"/>
          <p:cNvSpPr/>
          <p:nvPr/>
        </p:nvSpPr>
        <p:spPr>
          <a:xfrm>
            <a:off x="5852160" y="1280160"/>
            <a:ext cx="54864" cy="1005840"/>
          </a:xfrm>
          <a:prstGeom prst="rect">
            <a:avLst/>
          </a:prstGeom>
          <a:solidFill>
            <a:srgbClr val="D64550"/>
          </a:solidFill>
          <a:ln w="12700">
            <a:solidFill>
              <a:srgbClr val="D64550"/>
            </a:solidFill>
            <a:prstDash val="solid"/>
          </a:ln>
        </p:spPr>
      </p:sp>
      <p:sp>
        <p:nvSpPr>
          <p:cNvPr id="10" name="Text 7"/>
          <p:cNvSpPr txBox="1"/>
          <p:nvPr/>
        </p:nvSpPr>
        <p:spPr>
          <a:xfrm>
            <a:off x="6080760" y="1188720"/>
            <a:ext cx="2468880" cy="1188720"/>
          </a:xfrm>
          <a:prstGeom prst="rect">
            <a:avLst/>
          </a:prstGeom>
          <a:noFill/>
          <a:ln/>
        </p:spPr>
        <p:txBody>
          <a:bodyPr wrap="square" lIns="0" tIns="0" rIns="0" bIns="0" rtlCol="0" anchor="ctr"/>
          <a:lstStyle/>
          <a:p>
            <a:pPr marL="0" indent="0">
              <a:buNone/>
            </a:pPr>
            <a:r>
              <a:rPr lang="en-US" sz="1500" b="1" dirty="0">
                <a:solidFill>
                  <a:srgbClr val="0F1729"/>
                </a:solidFill>
              </a:rPr>
              <a:t>Remember</a:t>
            </a:r>
            <a:endParaRPr lang="en-US" sz="1500" dirty="0"/>
          </a:p>
          <a:p>
            <a:pPr marL="0" indent="0">
              <a:buNone/>
            </a:pPr>
            <a:r>
              <a:rPr lang="en-US" sz="1300" dirty="0">
                <a:solidFill>
                  <a:srgbClr val="3A4357"/>
                </a:solidFill>
              </a:rPr>
              <a:t>No guaranteed order, and no duplicates.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Set or list?</a:t>
            </a:r>
            <a:endParaRPr lang="en-US" sz="3000" dirty="0"/>
          </a:p>
        </p:txBody>
      </p:sp>
      <p:sp>
        <p:nvSpPr>
          <p:cNvPr id="4" name="Shape 1"/>
          <p:cNvSpPr/>
          <p:nvPr/>
        </p:nvSpPr>
        <p:spPr>
          <a:xfrm>
            <a:off x="457200" y="1188720"/>
            <a:ext cx="4023360" cy="1920240"/>
          </a:xfrm>
          <a:prstGeom prst="roundRect">
            <a:avLst>
              <a:gd name="adj" fmla="val 3810"/>
            </a:avLst>
          </a:prstGeom>
          <a:solidFill>
            <a:srgbClr val="F2F5FB"/>
          </a:solidFill>
          <a:ln w="12700">
            <a:solidFill>
              <a:srgbClr val="DDE2EE"/>
            </a:solidFill>
            <a:prstDash val="solid"/>
          </a:ln>
        </p:spPr>
      </p:sp>
      <p:sp>
        <p:nvSpPr>
          <p:cNvPr id="5" name="Shape 2"/>
          <p:cNvSpPr/>
          <p:nvPr/>
        </p:nvSpPr>
        <p:spPr>
          <a:xfrm>
            <a:off x="457200" y="1280160"/>
            <a:ext cx="54864" cy="1737360"/>
          </a:xfrm>
          <a:prstGeom prst="rect">
            <a:avLst/>
          </a:prstGeom>
          <a:solidFill>
            <a:srgbClr val="2F6FED"/>
          </a:solidFill>
          <a:ln w="12700">
            <a:solidFill>
              <a:srgbClr val="2F6FED"/>
            </a:solidFill>
            <a:prstDash val="solid"/>
          </a:ln>
        </p:spPr>
      </p:sp>
      <p:sp>
        <p:nvSpPr>
          <p:cNvPr id="6" name="Text 3"/>
          <p:cNvSpPr txBox="1"/>
          <p:nvPr/>
        </p:nvSpPr>
        <p:spPr>
          <a:xfrm>
            <a:off x="685800" y="1188720"/>
            <a:ext cx="3657600" cy="1920240"/>
          </a:xfrm>
          <a:prstGeom prst="rect">
            <a:avLst/>
          </a:prstGeom>
          <a:noFill/>
          <a:ln/>
        </p:spPr>
        <p:txBody>
          <a:bodyPr wrap="square" lIns="0" tIns="0" rIns="0" bIns="0" rtlCol="0" anchor="ctr"/>
          <a:lstStyle/>
          <a:p>
            <a:pPr marL="0" indent="0">
              <a:buNone/>
            </a:pPr>
            <a:r>
              <a:rPr lang="en-US" sz="2400" b="1" dirty="0">
                <a:solidFill>
                  <a:srgbClr val="0F1729"/>
                </a:solidFill>
              </a:rPr>
              <a:t>Use a set when...</a:t>
            </a:r>
            <a:endParaRPr lang="en-US" sz="2400" dirty="0"/>
          </a:p>
          <a:p>
            <a:pPr marL="0" indent="0">
              <a:buNone/>
            </a:pPr>
            <a:r>
              <a:rPr lang="en-US" sz="2000" dirty="0">
                <a:solidFill>
                  <a:srgbClr val="3A4357"/>
                </a:solidFill>
              </a:rPr>
              <a:t>You need unique values.</a:t>
            </a:r>
            <a:endParaRPr lang="en-US" sz="2400" dirty="0"/>
          </a:p>
          <a:p>
            <a:pPr marL="0" indent="0">
              <a:buNone/>
            </a:pPr>
            <a:r>
              <a:rPr lang="en-US" sz="2000" dirty="0">
                <a:solidFill>
                  <a:srgbClr val="3A4357"/>
                </a:solidFill>
              </a:rPr>
              <a:t>You check membership often.</a:t>
            </a:r>
            <a:endParaRPr lang="en-US" sz="2400" dirty="0"/>
          </a:p>
          <a:p>
            <a:pPr marL="0" indent="0">
              <a:buNone/>
            </a:pPr>
            <a:r>
              <a:rPr lang="en-US" sz="2000" dirty="0">
                <a:solidFill>
                  <a:srgbClr val="3A4357"/>
                </a:solidFill>
              </a:rPr>
              <a:t>Order does not matter.</a:t>
            </a:r>
            <a:endParaRPr lang="en-US" sz="2400" dirty="0"/>
          </a:p>
        </p:txBody>
      </p:sp>
      <p:sp>
        <p:nvSpPr>
          <p:cNvPr id="7" name="Shape 4"/>
          <p:cNvSpPr/>
          <p:nvPr/>
        </p:nvSpPr>
        <p:spPr>
          <a:xfrm>
            <a:off x="4663440" y="1188720"/>
            <a:ext cx="4023360" cy="1920240"/>
          </a:xfrm>
          <a:prstGeom prst="roundRect">
            <a:avLst>
              <a:gd name="adj" fmla="val 3810"/>
            </a:avLst>
          </a:prstGeom>
          <a:solidFill>
            <a:srgbClr val="F2F5FB"/>
          </a:solidFill>
          <a:ln w="12700">
            <a:solidFill>
              <a:srgbClr val="DDE2EE"/>
            </a:solidFill>
            <a:prstDash val="solid"/>
          </a:ln>
        </p:spPr>
      </p:sp>
      <p:sp>
        <p:nvSpPr>
          <p:cNvPr id="8" name="Shape 5"/>
          <p:cNvSpPr/>
          <p:nvPr/>
        </p:nvSpPr>
        <p:spPr>
          <a:xfrm>
            <a:off x="4663440" y="1280160"/>
            <a:ext cx="54864" cy="1737360"/>
          </a:xfrm>
          <a:prstGeom prst="rect">
            <a:avLst/>
          </a:prstGeom>
          <a:solidFill>
            <a:srgbClr val="1FA67A"/>
          </a:solidFill>
          <a:ln w="12700">
            <a:solidFill>
              <a:srgbClr val="1FA67A"/>
            </a:solidFill>
            <a:prstDash val="solid"/>
          </a:ln>
        </p:spPr>
      </p:sp>
      <p:sp>
        <p:nvSpPr>
          <p:cNvPr id="9" name="Text 6"/>
          <p:cNvSpPr txBox="1"/>
          <p:nvPr/>
        </p:nvSpPr>
        <p:spPr>
          <a:xfrm>
            <a:off x="4892040" y="1188720"/>
            <a:ext cx="3657600" cy="1920240"/>
          </a:xfrm>
          <a:prstGeom prst="rect">
            <a:avLst/>
          </a:prstGeom>
          <a:noFill/>
          <a:ln/>
        </p:spPr>
        <p:txBody>
          <a:bodyPr wrap="square" lIns="0" tIns="0" rIns="0" bIns="0" rtlCol="0" anchor="ctr"/>
          <a:lstStyle/>
          <a:p>
            <a:pPr marL="0" indent="0">
              <a:buNone/>
            </a:pPr>
            <a:r>
              <a:rPr lang="en-US" sz="2400" b="1" dirty="0">
                <a:solidFill>
                  <a:srgbClr val="0F1729"/>
                </a:solidFill>
              </a:rPr>
              <a:t>Use a list when...</a:t>
            </a:r>
            <a:endParaRPr lang="en-US" sz="2400" dirty="0"/>
          </a:p>
          <a:p>
            <a:pPr marL="0" indent="0">
              <a:buNone/>
            </a:pPr>
            <a:r>
              <a:rPr lang="en-US" sz="2000" dirty="0">
                <a:solidFill>
                  <a:srgbClr val="3A4357"/>
                </a:solidFill>
              </a:rPr>
              <a:t>Order matters.</a:t>
            </a:r>
            <a:endParaRPr lang="en-US" sz="2400" dirty="0"/>
          </a:p>
          <a:p>
            <a:pPr marL="0" indent="0">
              <a:buNone/>
            </a:pPr>
            <a:r>
              <a:rPr lang="en-US" sz="2000" dirty="0">
                <a:solidFill>
                  <a:srgbClr val="3A4357"/>
                </a:solidFill>
              </a:rPr>
              <a:t>You want to keep duplicates.</a:t>
            </a:r>
            <a:endParaRPr lang="en-US" sz="2400" dirty="0"/>
          </a:p>
          <a:p>
            <a:pPr marL="0" indent="0">
              <a:buNone/>
            </a:pPr>
            <a:r>
              <a:rPr lang="en-US" sz="2000" dirty="0">
                <a:solidFill>
                  <a:srgbClr val="3A4357"/>
                </a:solidFill>
              </a:rPr>
              <a:t>You need to access items by position.</a:t>
            </a:r>
            <a:endParaRPr lang="en-US" sz="2400" dirty="0"/>
          </a:p>
        </p:txBody>
      </p:sp>
      <p:sp>
        <p:nvSpPr>
          <p:cNvPr id="10" name="Text 7"/>
          <p:cNvSpPr txBox="1"/>
          <p:nvPr/>
        </p:nvSpPr>
        <p:spPr>
          <a:xfrm>
            <a:off x="457200" y="3474720"/>
            <a:ext cx="8229600" cy="457200"/>
          </a:xfrm>
          <a:prstGeom prst="rect">
            <a:avLst/>
          </a:prstGeom>
          <a:noFill/>
          <a:ln/>
        </p:spPr>
        <p:txBody>
          <a:bodyPr wrap="square" lIns="0" tIns="0" rIns="0" bIns="0" rtlCol="0" anchor="ctr"/>
          <a:lstStyle/>
          <a:p>
            <a:pPr marL="0" indent="0">
              <a:buNone/>
            </a:pPr>
            <a:r>
              <a:rPr lang="en-US" sz="1600" i="1" dirty="0">
                <a:solidFill>
                  <a:srgbClr val="5B6475"/>
                </a:solidFill>
              </a:rPr>
              <a:t>Need uniqueness: set. Need order: list.</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Quick quiz</a:t>
            </a:r>
            <a:endParaRPr lang="en-US" sz="3000" dirty="0"/>
          </a:p>
        </p:txBody>
      </p:sp>
      <p:sp>
        <p:nvSpPr>
          <p:cNvPr id="4" name="Shape 1"/>
          <p:cNvSpPr/>
          <p:nvPr/>
        </p:nvSpPr>
        <p:spPr>
          <a:xfrm>
            <a:off x="457200" y="1188720"/>
            <a:ext cx="8229600" cy="731520"/>
          </a:xfrm>
          <a:prstGeom prst="roundRect">
            <a:avLst>
              <a:gd name="adj" fmla="val 10000"/>
            </a:avLst>
          </a:prstGeom>
          <a:solidFill>
            <a:srgbClr val="F2F5FB"/>
          </a:solidFill>
          <a:ln w="12700">
            <a:solidFill>
              <a:srgbClr val="DDE2EE"/>
            </a:solidFill>
            <a:prstDash val="solid"/>
          </a:ln>
        </p:spPr>
      </p:sp>
      <p:sp>
        <p:nvSpPr>
          <p:cNvPr id="5" name="Text 2"/>
          <p:cNvSpPr txBox="1"/>
          <p:nvPr/>
        </p:nvSpPr>
        <p:spPr>
          <a:xfrm>
            <a:off x="640080" y="118872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1.  Which creates an empty set?</a:t>
            </a:r>
            <a:endParaRPr lang="en-US" sz="1500" dirty="0"/>
          </a:p>
          <a:p>
            <a:pPr marL="0" indent="0">
              <a:buNone/>
            </a:pPr>
            <a:r>
              <a:rPr lang="en-US" sz="1300" dirty="0">
                <a:solidFill>
                  <a:srgbClr val="3A4357"/>
                </a:solidFill>
              </a:rPr>
              <a:t>A) {}    B) set()    C) []</a:t>
            </a:r>
            <a:endParaRPr lang="en-US" sz="1500" dirty="0"/>
          </a:p>
        </p:txBody>
      </p:sp>
      <p:sp>
        <p:nvSpPr>
          <p:cNvPr id="6" name="Shape 3"/>
          <p:cNvSpPr/>
          <p:nvPr/>
        </p:nvSpPr>
        <p:spPr>
          <a:xfrm>
            <a:off x="457200" y="2057400"/>
            <a:ext cx="8229600" cy="731520"/>
          </a:xfrm>
          <a:prstGeom prst="roundRect">
            <a:avLst>
              <a:gd name="adj" fmla="val 10000"/>
            </a:avLst>
          </a:prstGeom>
          <a:solidFill>
            <a:srgbClr val="F2F5FB"/>
          </a:solidFill>
          <a:ln w="12700">
            <a:solidFill>
              <a:srgbClr val="DDE2EE"/>
            </a:solidFill>
            <a:prstDash val="solid"/>
          </a:ln>
        </p:spPr>
      </p:sp>
      <p:sp>
        <p:nvSpPr>
          <p:cNvPr id="7" name="Text 4"/>
          <p:cNvSpPr txBox="1"/>
          <p:nvPr/>
        </p:nvSpPr>
        <p:spPr>
          <a:xfrm>
            <a:off x="640080" y="205740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2.  What is set([1, 2, 2, 3])?</a:t>
            </a:r>
            <a:endParaRPr lang="en-US" sz="1500" dirty="0"/>
          </a:p>
          <a:p>
            <a:pPr marL="0" indent="0">
              <a:buNone/>
            </a:pPr>
            <a:r>
              <a:rPr lang="en-US" sz="1300" dirty="0">
                <a:solidFill>
                  <a:srgbClr val="3A4357"/>
                </a:solidFill>
              </a:rPr>
              <a:t>A) {1, 2, 2, 3}    B) {1, 2, 3}    C) an error</a:t>
            </a:r>
            <a:endParaRPr lang="en-US" sz="1500" dirty="0"/>
          </a:p>
        </p:txBody>
      </p:sp>
      <p:sp>
        <p:nvSpPr>
          <p:cNvPr id="8" name="Shape 5"/>
          <p:cNvSpPr/>
          <p:nvPr/>
        </p:nvSpPr>
        <p:spPr>
          <a:xfrm>
            <a:off x="457200" y="2926080"/>
            <a:ext cx="8229600" cy="731520"/>
          </a:xfrm>
          <a:prstGeom prst="roundRect">
            <a:avLst>
              <a:gd name="adj" fmla="val 10000"/>
            </a:avLst>
          </a:prstGeom>
          <a:solidFill>
            <a:srgbClr val="F2F5FB"/>
          </a:solidFill>
          <a:ln w="12700">
            <a:solidFill>
              <a:srgbClr val="DDE2EE"/>
            </a:solidFill>
            <a:prstDash val="solid"/>
          </a:ln>
        </p:spPr>
      </p:sp>
      <p:sp>
        <p:nvSpPr>
          <p:cNvPr id="9" name="Text 6"/>
          <p:cNvSpPr txBox="1"/>
          <p:nvPr/>
        </p:nvSpPr>
        <p:spPr>
          <a:xfrm>
            <a:off x="640080" y="292608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3.  Which call does NOT raise an error if the item is missing?</a:t>
            </a:r>
            <a:endParaRPr lang="en-US" sz="1500" dirty="0"/>
          </a:p>
          <a:p>
            <a:pPr marL="0" indent="0">
              <a:buNone/>
            </a:pPr>
            <a:r>
              <a:rPr lang="en-US" sz="1300" dirty="0">
                <a:solidFill>
                  <a:srgbClr val="3A4357"/>
                </a:solidFill>
              </a:rPr>
              <a:t>A) remove()    B) discard()    C) both</a:t>
            </a:r>
            <a:endParaRPr lang="en-US" sz="1500" dirty="0"/>
          </a:p>
        </p:txBody>
      </p:sp>
      <p:sp>
        <p:nvSpPr>
          <p:cNvPr id="10" name="Shape 7"/>
          <p:cNvSpPr/>
          <p:nvPr/>
        </p:nvSpPr>
        <p:spPr>
          <a:xfrm>
            <a:off x="457200" y="3794760"/>
            <a:ext cx="8229600" cy="731520"/>
          </a:xfrm>
          <a:prstGeom prst="roundRect">
            <a:avLst>
              <a:gd name="adj" fmla="val 10000"/>
            </a:avLst>
          </a:prstGeom>
          <a:solidFill>
            <a:srgbClr val="F2F5FB"/>
          </a:solidFill>
          <a:ln w="12700">
            <a:solidFill>
              <a:srgbClr val="DDE2EE"/>
            </a:solidFill>
            <a:prstDash val="solid"/>
          </a:ln>
        </p:spPr>
      </p:sp>
      <p:sp>
        <p:nvSpPr>
          <p:cNvPr id="11" name="Text 8"/>
          <p:cNvSpPr txBox="1"/>
          <p:nvPr/>
        </p:nvSpPr>
        <p:spPr>
          <a:xfrm>
            <a:off x="640080" y="379476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4.  When is a list better than a set?</a:t>
            </a:r>
            <a:endParaRPr lang="en-US" sz="1500" dirty="0"/>
          </a:p>
          <a:p>
            <a:pPr marL="0" indent="0">
              <a:buNone/>
            </a:pPr>
            <a:r>
              <a:rPr lang="en-US" sz="1300" dirty="0">
                <a:solidFill>
                  <a:srgbClr val="3A4357"/>
                </a:solidFill>
              </a:rPr>
              <a:t>A) when order matters    B) when values must be unique    C) never</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Quiz answers</a:t>
            </a:r>
            <a:endParaRPr lang="en-US" sz="3000" dirty="0"/>
          </a:p>
        </p:txBody>
      </p:sp>
      <p:sp>
        <p:nvSpPr>
          <p:cNvPr id="4" name="Shape 1"/>
          <p:cNvSpPr/>
          <p:nvPr/>
        </p:nvSpPr>
        <p:spPr>
          <a:xfrm>
            <a:off x="457200" y="1188720"/>
            <a:ext cx="8229600" cy="731520"/>
          </a:xfrm>
          <a:prstGeom prst="roundRect">
            <a:avLst>
              <a:gd name="adj" fmla="val 10000"/>
            </a:avLst>
          </a:prstGeom>
          <a:solidFill>
            <a:srgbClr val="F2F5FB"/>
          </a:solidFill>
          <a:ln w="12700">
            <a:solidFill>
              <a:srgbClr val="DDE2EE"/>
            </a:solidFill>
            <a:prstDash val="solid"/>
          </a:ln>
        </p:spPr>
      </p:sp>
      <p:sp>
        <p:nvSpPr>
          <p:cNvPr id="5" name="Shape 2"/>
          <p:cNvSpPr/>
          <p:nvPr/>
        </p:nvSpPr>
        <p:spPr>
          <a:xfrm>
            <a:off x="457200" y="1280160"/>
            <a:ext cx="54864" cy="548640"/>
          </a:xfrm>
          <a:prstGeom prst="rect">
            <a:avLst/>
          </a:prstGeom>
          <a:solidFill>
            <a:srgbClr val="1FA67A"/>
          </a:solidFill>
          <a:ln w="12700">
            <a:solidFill>
              <a:srgbClr val="1FA67A"/>
            </a:solidFill>
            <a:prstDash val="solid"/>
          </a:ln>
        </p:spPr>
      </p:sp>
      <p:sp>
        <p:nvSpPr>
          <p:cNvPr id="6" name="Text 3"/>
          <p:cNvSpPr txBox="1"/>
          <p:nvPr/>
        </p:nvSpPr>
        <p:spPr>
          <a:xfrm>
            <a:off x="685800" y="118872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1.  B) set()</a:t>
            </a:r>
            <a:endParaRPr lang="en-US" sz="1500" dirty="0"/>
          </a:p>
          <a:p>
            <a:pPr marL="0" indent="0">
              <a:buNone/>
            </a:pPr>
            <a:r>
              <a:rPr lang="en-US" sz="1300" dirty="0">
                <a:solidFill>
                  <a:srgbClr val="3A4357"/>
                </a:solidFill>
              </a:rPr>
              <a:t>{} creates an empty dictionary, not a set.</a:t>
            </a:r>
            <a:endParaRPr lang="en-US" sz="1500" dirty="0"/>
          </a:p>
        </p:txBody>
      </p:sp>
      <p:sp>
        <p:nvSpPr>
          <p:cNvPr id="7" name="Shape 4"/>
          <p:cNvSpPr/>
          <p:nvPr/>
        </p:nvSpPr>
        <p:spPr>
          <a:xfrm>
            <a:off x="457200" y="2057400"/>
            <a:ext cx="8229600" cy="731520"/>
          </a:xfrm>
          <a:prstGeom prst="roundRect">
            <a:avLst>
              <a:gd name="adj" fmla="val 10000"/>
            </a:avLst>
          </a:prstGeom>
          <a:solidFill>
            <a:srgbClr val="F2F5FB"/>
          </a:solidFill>
          <a:ln w="12700">
            <a:solidFill>
              <a:srgbClr val="DDE2EE"/>
            </a:solidFill>
            <a:prstDash val="solid"/>
          </a:ln>
        </p:spPr>
      </p:sp>
      <p:sp>
        <p:nvSpPr>
          <p:cNvPr id="8" name="Shape 5"/>
          <p:cNvSpPr/>
          <p:nvPr/>
        </p:nvSpPr>
        <p:spPr>
          <a:xfrm>
            <a:off x="457200" y="2148840"/>
            <a:ext cx="54864" cy="548640"/>
          </a:xfrm>
          <a:prstGeom prst="rect">
            <a:avLst/>
          </a:prstGeom>
          <a:solidFill>
            <a:srgbClr val="1FA67A"/>
          </a:solidFill>
          <a:ln w="12700">
            <a:solidFill>
              <a:srgbClr val="1FA67A"/>
            </a:solidFill>
            <a:prstDash val="solid"/>
          </a:ln>
        </p:spPr>
      </p:sp>
      <p:sp>
        <p:nvSpPr>
          <p:cNvPr id="9" name="Text 6"/>
          <p:cNvSpPr txBox="1"/>
          <p:nvPr/>
        </p:nvSpPr>
        <p:spPr>
          <a:xfrm>
            <a:off x="685800" y="205740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2.  B) {1, 2, 3}</a:t>
            </a:r>
            <a:endParaRPr lang="en-US" sz="1500" dirty="0"/>
          </a:p>
          <a:p>
            <a:pPr marL="0" indent="0">
              <a:buNone/>
            </a:pPr>
            <a:r>
              <a:rPr lang="en-US" sz="1300" dirty="0">
                <a:solidFill>
                  <a:srgbClr val="3A4357"/>
                </a:solidFill>
              </a:rPr>
              <a:t>A set stores only unique values.</a:t>
            </a:r>
            <a:endParaRPr lang="en-US" sz="1500" dirty="0"/>
          </a:p>
        </p:txBody>
      </p:sp>
      <p:sp>
        <p:nvSpPr>
          <p:cNvPr id="10" name="Shape 7"/>
          <p:cNvSpPr/>
          <p:nvPr/>
        </p:nvSpPr>
        <p:spPr>
          <a:xfrm>
            <a:off x="457200" y="2926080"/>
            <a:ext cx="8229600" cy="731520"/>
          </a:xfrm>
          <a:prstGeom prst="roundRect">
            <a:avLst>
              <a:gd name="adj" fmla="val 10000"/>
            </a:avLst>
          </a:prstGeom>
          <a:solidFill>
            <a:srgbClr val="F2F5FB"/>
          </a:solidFill>
          <a:ln w="12700">
            <a:solidFill>
              <a:srgbClr val="DDE2EE"/>
            </a:solidFill>
            <a:prstDash val="solid"/>
          </a:ln>
        </p:spPr>
      </p:sp>
      <p:sp>
        <p:nvSpPr>
          <p:cNvPr id="11" name="Shape 8"/>
          <p:cNvSpPr/>
          <p:nvPr/>
        </p:nvSpPr>
        <p:spPr>
          <a:xfrm>
            <a:off x="457200" y="3017520"/>
            <a:ext cx="54864" cy="548640"/>
          </a:xfrm>
          <a:prstGeom prst="rect">
            <a:avLst/>
          </a:prstGeom>
          <a:solidFill>
            <a:srgbClr val="1FA67A"/>
          </a:solidFill>
          <a:ln w="12700">
            <a:solidFill>
              <a:srgbClr val="1FA67A"/>
            </a:solidFill>
            <a:prstDash val="solid"/>
          </a:ln>
        </p:spPr>
      </p:sp>
      <p:sp>
        <p:nvSpPr>
          <p:cNvPr id="12" name="Text 9"/>
          <p:cNvSpPr txBox="1"/>
          <p:nvPr/>
        </p:nvSpPr>
        <p:spPr>
          <a:xfrm>
            <a:off x="685800" y="292608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3.  B) discard()</a:t>
            </a:r>
            <a:endParaRPr lang="en-US" sz="1500" dirty="0"/>
          </a:p>
          <a:p>
            <a:pPr marL="0" indent="0">
              <a:buNone/>
            </a:pPr>
            <a:r>
              <a:rPr lang="en-US" sz="1300" dirty="0">
                <a:solidFill>
                  <a:srgbClr val="3A4357"/>
                </a:solidFill>
              </a:rPr>
              <a:t>remove() raises an error when the item is not found.</a:t>
            </a:r>
            <a:endParaRPr lang="en-US" sz="1500" dirty="0"/>
          </a:p>
        </p:txBody>
      </p:sp>
      <p:sp>
        <p:nvSpPr>
          <p:cNvPr id="13" name="Shape 10"/>
          <p:cNvSpPr/>
          <p:nvPr/>
        </p:nvSpPr>
        <p:spPr>
          <a:xfrm>
            <a:off x="457200" y="3794760"/>
            <a:ext cx="8229600" cy="731520"/>
          </a:xfrm>
          <a:prstGeom prst="roundRect">
            <a:avLst>
              <a:gd name="adj" fmla="val 10000"/>
            </a:avLst>
          </a:prstGeom>
          <a:solidFill>
            <a:srgbClr val="F2F5FB"/>
          </a:solidFill>
          <a:ln w="12700">
            <a:solidFill>
              <a:srgbClr val="DDE2EE"/>
            </a:solidFill>
            <a:prstDash val="solid"/>
          </a:ln>
        </p:spPr>
      </p:sp>
      <p:sp>
        <p:nvSpPr>
          <p:cNvPr id="14" name="Shape 11"/>
          <p:cNvSpPr/>
          <p:nvPr/>
        </p:nvSpPr>
        <p:spPr>
          <a:xfrm>
            <a:off x="457200" y="3886200"/>
            <a:ext cx="54864" cy="548640"/>
          </a:xfrm>
          <a:prstGeom prst="rect">
            <a:avLst/>
          </a:prstGeom>
          <a:solidFill>
            <a:srgbClr val="1FA67A"/>
          </a:solidFill>
          <a:ln w="12700">
            <a:solidFill>
              <a:srgbClr val="1FA67A"/>
            </a:solidFill>
            <a:prstDash val="solid"/>
          </a:ln>
        </p:spPr>
      </p:sp>
      <p:sp>
        <p:nvSpPr>
          <p:cNvPr id="15" name="Text 12"/>
          <p:cNvSpPr txBox="1"/>
          <p:nvPr/>
        </p:nvSpPr>
        <p:spPr>
          <a:xfrm>
            <a:off x="685800" y="379476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4.  A) when order matters</a:t>
            </a:r>
            <a:endParaRPr lang="en-US" sz="1500" dirty="0"/>
          </a:p>
          <a:p>
            <a:pPr marL="0" indent="0">
              <a:buNone/>
            </a:pPr>
            <a:r>
              <a:rPr lang="en-US" sz="1300" dirty="0">
                <a:solidFill>
                  <a:srgbClr val="3A4357"/>
                </a:solidFill>
              </a:rPr>
              <a:t>Sets do not guarantee order, and they drop duplicates.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Recap and next steps</a:t>
            </a:r>
            <a:endParaRPr lang="en-US" sz="3000" dirty="0"/>
          </a:p>
        </p:txBody>
      </p:sp>
      <p:sp>
        <p:nvSpPr>
          <p:cNvPr id="4" name="Shape 1"/>
          <p:cNvSpPr/>
          <p:nvPr/>
        </p:nvSpPr>
        <p:spPr>
          <a:xfrm>
            <a:off x="457200" y="1188720"/>
            <a:ext cx="3931920" cy="1005840"/>
          </a:xfrm>
          <a:prstGeom prst="roundRect">
            <a:avLst>
              <a:gd name="adj" fmla="val 7273"/>
            </a:avLst>
          </a:prstGeom>
          <a:solidFill>
            <a:srgbClr val="F2F5FB"/>
          </a:solidFill>
          <a:ln w="12700">
            <a:solidFill>
              <a:srgbClr val="DDE2EE"/>
            </a:solidFill>
            <a:prstDash val="solid"/>
          </a:ln>
        </p:spPr>
      </p:sp>
      <p:sp>
        <p:nvSpPr>
          <p:cNvPr id="5" name="Shape 2"/>
          <p:cNvSpPr/>
          <p:nvPr/>
        </p:nvSpPr>
        <p:spPr>
          <a:xfrm>
            <a:off x="457200" y="1280160"/>
            <a:ext cx="54864" cy="822960"/>
          </a:xfrm>
          <a:prstGeom prst="rect">
            <a:avLst/>
          </a:prstGeom>
          <a:solidFill>
            <a:srgbClr val="2F6FED"/>
          </a:solidFill>
          <a:ln w="12700">
            <a:solidFill>
              <a:srgbClr val="2F6FED"/>
            </a:solidFill>
            <a:prstDash val="solid"/>
          </a:ln>
        </p:spPr>
      </p:sp>
      <p:sp>
        <p:nvSpPr>
          <p:cNvPr id="6" name="Text 3"/>
          <p:cNvSpPr txBox="1"/>
          <p:nvPr/>
        </p:nvSpPr>
        <p:spPr>
          <a:xfrm>
            <a:off x="685800" y="118872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Unique values</a:t>
            </a:r>
            <a:endParaRPr lang="en-US" sz="1500" dirty="0"/>
          </a:p>
          <a:p>
            <a:pPr marL="0" indent="0">
              <a:buNone/>
            </a:pPr>
            <a:r>
              <a:rPr lang="en-US" sz="1300" dirty="0">
                <a:solidFill>
                  <a:srgbClr val="3A4357"/>
                </a:solidFill>
              </a:rPr>
              <a:t>Sets drop duplicates automatically.</a:t>
            </a:r>
            <a:endParaRPr lang="en-US" sz="1500" dirty="0"/>
          </a:p>
        </p:txBody>
      </p:sp>
      <p:sp>
        <p:nvSpPr>
          <p:cNvPr id="7" name="Shape 4"/>
          <p:cNvSpPr/>
          <p:nvPr/>
        </p:nvSpPr>
        <p:spPr>
          <a:xfrm>
            <a:off x="4754880" y="1188720"/>
            <a:ext cx="3931920" cy="1005840"/>
          </a:xfrm>
          <a:prstGeom prst="roundRect">
            <a:avLst>
              <a:gd name="adj" fmla="val 7273"/>
            </a:avLst>
          </a:prstGeom>
          <a:solidFill>
            <a:srgbClr val="F2F5FB"/>
          </a:solidFill>
          <a:ln w="12700">
            <a:solidFill>
              <a:srgbClr val="DDE2EE"/>
            </a:solidFill>
            <a:prstDash val="solid"/>
          </a:ln>
        </p:spPr>
      </p:sp>
      <p:sp>
        <p:nvSpPr>
          <p:cNvPr id="8" name="Shape 5"/>
          <p:cNvSpPr/>
          <p:nvPr/>
        </p:nvSpPr>
        <p:spPr>
          <a:xfrm>
            <a:off x="4754880" y="1280160"/>
            <a:ext cx="54864" cy="822960"/>
          </a:xfrm>
          <a:prstGeom prst="rect">
            <a:avLst/>
          </a:prstGeom>
          <a:solidFill>
            <a:srgbClr val="D64550"/>
          </a:solidFill>
          <a:ln w="12700">
            <a:solidFill>
              <a:srgbClr val="D64550"/>
            </a:solidFill>
            <a:prstDash val="solid"/>
          </a:ln>
        </p:spPr>
      </p:sp>
      <p:sp>
        <p:nvSpPr>
          <p:cNvPr id="9" name="Text 6"/>
          <p:cNvSpPr txBox="1"/>
          <p:nvPr/>
        </p:nvSpPr>
        <p:spPr>
          <a:xfrm>
            <a:off x="4983480" y="118872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Creating</a:t>
            </a:r>
            <a:endParaRPr lang="en-US" sz="1500" dirty="0"/>
          </a:p>
          <a:p>
            <a:pPr marL="0" indent="0">
              <a:buNone/>
            </a:pPr>
            <a:r>
              <a:rPr lang="en-US" sz="1300" dirty="0">
                <a:solidFill>
                  <a:srgbClr val="3A4357"/>
                </a:solidFill>
              </a:rPr>
              <a:t>Use set() for empty sets; {} makes a dict.</a:t>
            </a:r>
            <a:endParaRPr lang="en-US" sz="1500" dirty="0"/>
          </a:p>
        </p:txBody>
      </p:sp>
      <p:sp>
        <p:nvSpPr>
          <p:cNvPr id="10" name="Shape 7"/>
          <p:cNvSpPr/>
          <p:nvPr/>
        </p:nvSpPr>
        <p:spPr>
          <a:xfrm>
            <a:off x="457200" y="2377440"/>
            <a:ext cx="3931920" cy="1005840"/>
          </a:xfrm>
          <a:prstGeom prst="roundRect">
            <a:avLst>
              <a:gd name="adj" fmla="val 7273"/>
            </a:avLst>
          </a:prstGeom>
          <a:solidFill>
            <a:srgbClr val="F2F5FB"/>
          </a:solidFill>
          <a:ln w="12700">
            <a:solidFill>
              <a:srgbClr val="DDE2EE"/>
            </a:solidFill>
            <a:prstDash val="solid"/>
          </a:ln>
        </p:spPr>
      </p:sp>
      <p:sp>
        <p:nvSpPr>
          <p:cNvPr id="11" name="Shape 8"/>
          <p:cNvSpPr/>
          <p:nvPr/>
        </p:nvSpPr>
        <p:spPr>
          <a:xfrm>
            <a:off x="457200" y="2468880"/>
            <a:ext cx="54864" cy="822960"/>
          </a:xfrm>
          <a:prstGeom prst="rect">
            <a:avLst/>
          </a:prstGeom>
          <a:solidFill>
            <a:srgbClr val="F5A623"/>
          </a:solidFill>
          <a:ln w="12700">
            <a:solidFill>
              <a:srgbClr val="F5A623"/>
            </a:solidFill>
            <a:prstDash val="solid"/>
          </a:ln>
        </p:spPr>
      </p:sp>
      <p:sp>
        <p:nvSpPr>
          <p:cNvPr id="12" name="Text 9"/>
          <p:cNvSpPr txBox="1"/>
          <p:nvPr/>
        </p:nvSpPr>
        <p:spPr>
          <a:xfrm>
            <a:off x="685800" y="237744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Operations</a:t>
            </a:r>
            <a:endParaRPr lang="en-US" sz="1500" dirty="0"/>
          </a:p>
          <a:p>
            <a:pPr marL="0" indent="0">
              <a:buNone/>
            </a:pPr>
            <a:r>
              <a:rPr lang="en-US" sz="1300" dirty="0">
                <a:solidFill>
                  <a:srgbClr val="3A4357"/>
                </a:solidFill>
              </a:rPr>
              <a:t>add, remove, discard, and in.</a:t>
            </a:r>
            <a:endParaRPr lang="en-US" sz="1500" dirty="0"/>
          </a:p>
        </p:txBody>
      </p:sp>
      <p:sp>
        <p:nvSpPr>
          <p:cNvPr id="13" name="Shape 10"/>
          <p:cNvSpPr/>
          <p:nvPr/>
        </p:nvSpPr>
        <p:spPr>
          <a:xfrm>
            <a:off x="4754880" y="2377440"/>
            <a:ext cx="3931920" cy="1005840"/>
          </a:xfrm>
          <a:prstGeom prst="roundRect">
            <a:avLst>
              <a:gd name="adj" fmla="val 7273"/>
            </a:avLst>
          </a:prstGeom>
          <a:solidFill>
            <a:srgbClr val="F2F5FB"/>
          </a:solidFill>
          <a:ln w="12700">
            <a:solidFill>
              <a:srgbClr val="DDE2EE"/>
            </a:solidFill>
            <a:prstDash val="solid"/>
          </a:ln>
        </p:spPr>
      </p:sp>
      <p:sp>
        <p:nvSpPr>
          <p:cNvPr id="14" name="Shape 11"/>
          <p:cNvSpPr/>
          <p:nvPr/>
        </p:nvSpPr>
        <p:spPr>
          <a:xfrm>
            <a:off x="4754880" y="2468880"/>
            <a:ext cx="54864" cy="822960"/>
          </a:xfrm>
          <a:prstGeom prst="rect">
            <a:avLst/>
          </a:prstGeom>
          <a:solidFill>
            <a:srgbClr val="1FA67A"/>
          </a:solidFill>
          <a:ln w="12700">
            <a:solidFill>
              <a:srgbClr val="1FA67A"/>
            </a:solidFill>
            <a:prstDash val="solid"/>
          </a:ln>
        </p:spPr>
      </p:sp>
      <p:sp>
        <p:nvSpPr>
          <p:cNvPr id="15" name="Text 12"/>
          <p:cNvSpPr txBox="1"/>
          <p:nvPr/>
        </p:nvSpPr>
        <p:spPr>
          <a:xfrm>
            <a:off x="4983480" y="237744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Uses</a:t>
            </a:r>
            <a:endParaRPr lang="en-US" sz="1500" dirty="0"/>
          </a:p>
          <a:p>
            <a:pPr marL="0" indent="0">
              <a:buNone/>
            </a:pPr>
            <a:r>
              <a:rPr lang="en-US" sz="1300" dirty="0">
                <a:solidFill>
                  <a:srgbClr val="3A4357"/>
                </a:solidFill>
              </a:rPr>
              <a:t>Remove duplicates and fast membership tests.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PyLearn">
  <a:themeElements>
    <a:clrScheme name="PyLearn">
      <a:dk1>
        <a:srgbClr val="1B1F2A"/>
      </a:dk1>
      <a:lt1>
        <a:srgbClr val="FFFFFF"/>
      </a:lt1>
      <a:dk2>
        <a:srgbClr val="0F1729"/>
      </a:dk2>
      <a:lt2>
        <a:srgbClr val="F2F5FB"/>
      </a:lt2>
      <a:accent1>
        <a:srgbClr val="2F6FED"/>
      </a:accent1>
      <a:accent2>
        <a:srgbClr val="F5A623"/>
      </a:accent2>
      <a:accent3>
        <a:srgbClr val="1FA67A"/>
      </a:accent3>
      <a:accent4>
        <a:srgbClr val="D64550"/>
      </a:accent4>
      <a:accent5>
        <a:srgbClr val="7A5AF8"/>
      </a:accent5>
      <a:accent6>
        <a:srgbClr val="5B6475"/>
      </a:accent6>
      <a:hlink>
        <a:srgbClr val="2F6FED"/>
      </a:hlink>
      <a:folHlink>
        <a:srgbClr val="7A5AF8"/>
      </a:folHlink>
    </a:clrScheme>
    <a:fontScheme name="PyLear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1600</Words>
  <Application>Microsoft Office PowerPoint</Application>
  <PresentationFormat>On-screen Show (16:9)</PresentationFormat>
  <Paragraphs>140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PyLearn</vt:lpstr>
      <vt:lpstr>PowerPoint Presentation</vt:lpstr>
      <vt:lpstr>What are sets?</vt:lpstr>
      <vt:lpstr>Creating sets</vt:lpstr>
      <vt:lpstr>Common use: remove duplicates</vt:lpstr>
      <vt:lpstr>Careful: the empty set</vt:lpstr>
      <vt:lpstr>Basic operations</vt:lpstr>
      <vt:lpstr>Common use: fast membership testing</vt:lpstr>
      <vt:lpstr>Common mistake: sets are unordered</vt:lpstr>
      <vt:lpstr>Set or list?</vt:lpstr>
      <vt:lpstr>Quick quiz</vt:lpstr>
      <vt:lpstr>Quiz answers</vt:lpstr>
      <vt:lpstr>Recap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5</cp:revision>
  <dcterms:created xsi:type="dcterms:W3CDTF">2026-10-14T06:18:11Z</dcterms:created>
  <dcterms:modified xsi:type="dcterms:W3CDTF">2026-10-15T05:37:49Z</dcterms:modified>
</cp:coreProperties>
</file>