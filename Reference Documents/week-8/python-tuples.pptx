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9b253184-372f-268a-dc4a-2efd69d960e2}">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covers Python tuples, based on the Data Structures section of python.datalumina.com. Tuples come after lists and dictionaries, and just before sets. Opening question: can you think of data that should never change after you create it, such as a coordinate or an RGB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tuple is like a list, but it cannot be changed once created. The technical word is immutable. Use tuples for data that should not change. The four uses on the slide come straight from the source: coordinates, RGB colors, database records and function return values. Ask learners why it can be a good thing that data cannot be changed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Tuples use parentheses. An empty tuple is just empty parentheses. You can also create one without parentheses, simply by separating values with commas; the source calls this implicit. Ask learners which line creates the coordinates tuple without parentheses. Practice answer: rgb = (255, 0, 0) and print(type(rgb)) prints &lt;class "tuple"&gt;.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single-item tuple needs a trailing comma. Parentheses alone are just grouping, so (42) is the number 42, not a tuple. This is the first common mistake on the source page. Demo both type() calls to prove it. Practice answer: type((7)) is int because it is just 7 in parentheses. type((7,)) is tuple.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Tuples use indexing just like lists. Indexes start at 0 and negative indexes count from the end. Slicing also works and returns a new tuple. Remind learners that the stop index in a slice is not included, so colors[0:2] gives the first two items. Practice answer: "green", "green", and ("green",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calls this Python's coolest tuple feature. Unpacking assigns each item of a tuple to its own variable in one line. The number of variables on the left must match the number of items. After the example, x is 3 and y is 5. Practice answer: name, age = person, then print(name) gives Asha and print(age) gives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assignment is unpacking of an implicit tuple: a, b, c = 1, 2, 3 is the same as assigning from (1, 2, 3). The swap line is the elegant payoff: the right side is evaluated first as a tuple, then unpacked, so no temporary variable is needed. Practice answer: x is 2 and y is 1. The values are swapped.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Tuples are immutable, so assigning to an index raises a TypeError. This is the section the source calls Trying to modify tuples. Emphasise that this is not a bug in Python; it is the whole point of a tuple. If you need to change values, use a list or build a new tuple. Practice answer: Tuples are immutable, so their items cannot be assigned to after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approaches from the source. Option one: create a new tuple using the old values, here (4, point[1]) keeps the second item and replaces the first. Option two: convert to a list, change the list, then convert back with tuple(). Either way you end up with a new tuple; the original is never modified. Practice answer: Approach 1: point = (9, point[1]). Approach 2: temp = list(point), then temp[0] = 9, then point = tuple(temp).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decision. Use a tuple for data that should not change, such as coordinates or colors. Use a list when you need to add, remove or change items. Both support indexing and slicing, so they feel similar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two minutes, then show the answers. Q1 tests the single-item comma, Q2 immutability, Q3 unpacking, Q4 swapping.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without the comma it is just the number 42 in parentheses. Q2: B, tuples are immutable. Q3: B, unpacking assigns 3 to x and 5 to y. Q4: B, the right side is evaluated first, then unpacked.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ideas. The source page ends by pointing to sets, the final data structure in the Python Basics path.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F6FED"/>
          </a:solidFill>
          <a:ln/>
        </p:spPr>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rgbClr val="0F1729"/>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548640" y="1371600"/>
            <a:ext cx="73152" cy="1463040"/>
          </a:xfrm>
          <a:prstGeom prst="rect">
            <a:avLst/>
          </a:prstGeom>
          <a:solidFill>
            <a:srgbClr val="2F6FED"/>
          </a:solidFill>
          <a:ln w="12700">
            <a:solidFill>
              <a:srgbClr val="2F6FED"/>
            </a:solidFill>
            <a:prstDash val="solid"/>
          </a:ln>
        </p:spPr>
      </p:sp>
      <p:sp>
        <p:nvSpPr>
          <p:cNvPr id="3" name="Text 1"/>
          <p:cNvSpPr txBox="1"/>
          <p:nvPr/>
        </p:nvSpPr>
        <p:spPr>
          <a:xfrm>
            <a:off x="822960" y="1280160"/>
            <a:ext cx="7772400" cy="914400"/>
          </a:xfrm>
          <a:prstGeom prst="rect">
            <a:avLst/>
          </a:prstGeom>
          <a:noFill/>
          <a:ln/>
        </p:spPr>
        <p:txBody>
          <a:bodyPr wrap="square" lIns="0" tIns="0" rIns="0" bIns="0" rtlCol="0" anchor="ctr"/>
          <a:lstStyle/>
          <a:p>
            <a:pPr indent="0" marL="0">
              <a:buNone/>
            </a:pPr>
            <a:r>
              <a:rPr lang="en-US" sz="4600" b="1" dirty="0">
                <a:solidFill>
                  <a:srgbClr val="FFFFFF"/>
                </a:solidFill>
              </a:rPr>
              <a:t>Python Tuples</a:t>
            </a:r>
            <a:endParaRPr lang="en-US" sz="4600" dirty="0"/>
          </a:p>
        </p:txBody>
      </p:sp>
      <p:sp>
        <p:nvSpPr>
          <p:cNvPr id="4" name="Text 2"/>
          <p:cNvSpPr txBox="1"/>
          <p:nvPr/>
        </p:nvSpPr>
        <p:spPr>
          <a:xfrm>
            <a:off x="822960" y="2194560"/>
            <a:ext cx="7772400" cy="731520"/>
          </a:xfrm>
          <a:prstGeom prst="rect">
            <a:avLst/>
          </a:prstGeom>
          <a:noFill/>
          <a:ln/>
        </p:spPr>
        <p:txBody>
          <a:bodyPr wrap="square" lIns="0" tIns="0" rIns="0" bIns="0" rtlCol="0" anchor="ctr"/>
          <a:lstStyle/>
          <a:p>
            <a:pPr indent="0" marL="0">
              <a:buNone/>
            </a:pPr>
            <a:r>
              <a:rPr lang="en-US" sz="2000" dirty="0">
                <a:solidFill>
                  <a:srgbClr val="B8C4DC"/>
                </a:solidFill>
              </a:rPr>
              <a:t>Work with immutable sequences</a:t>
            </a:r>
            <a:endParaRPr lang="en-US" sz="2000" dirty="0"/>
          </a:p>
        </p:txBody>
      </p:sp>
      <p:sp>
        <p:nvSpPr>
          <p:cNvPr id="5" name="Text 3"/>
          <p:cNvSpPr txBox="1"/>
          <p:nvPr/>
        </p:nvSpPr>
        <p:spPr>
          <a:xfrm>
            <a:off x="822960" y="4206240"/>
            <a:ext cx="7315200" cy="365760"/>
          </a:xfrm>
          <a:prstGeom prst="rect">
            <a:avLst/>
          </a:prstGeom>
          <a:noFill/>
          <a:ln/>
        </p:spPr>
        <p:txBody>
          <a:bodyPr wrap="square" lIns="0" tIns="0" rIns="0" bIns="0" rtlCol="0" anchor="ctr"/>
          <a:lstStyle/>
          <a:p>
            <a:pPr indent="0" marL="0">
              <a:buNone/>
            </a:pPr>
            <a:r>
              <a:rPr lang="en-US" sz="1300" dirty="0">
                <a:solidFill>
                  <a:srgbClr val="7F8CA8"/>
                </a:solidFill>
              </a:rPr>
              <a:t>Beginner  |  Based on python.datalumina.com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What are tuples?</a:t>
            </a:r>
            <a:endParaRPr lang="en-US" sz="3000" dirty="0"/>
          </a:p>
        </p:txBody>
      </p:sp>
      <p:sp>
        <p:nvSpPr>
          <p:cNvPr id="4" name="Shape 1"/>
          <p:cNvSpPr/>
          <p:nvPr/>
        </p:nvSpPr>
        <p:spPr>
          <a:xfrm>
            <a:off x="457200" y="1188720"/>
            <a:ext cx="3931920" cy="1005840"/>
          </a:xfrm>
          <a:prstGeom prst="roundRect">
            <a:avLst>
              <a:gd name="adj" fmla="val 7273"/>
            </a:avLst>
          </a:prstGeom>
          <a:solidFill>
            <a:srgbClr val="F2F5FB"/>
          </a:solidFill>
          <a:ln w="12700">
            <a:solidFill>
              <a:srgbClr val="DDE2EE"/>
            </a:solidFill>
            <a:prstDash val="solid"/>
          </a:ln>
        </p:spPr>
      </p:sp>
      <p:sp>
        <p:nvSpPr>
          <p:cNvPr id="5" name="Shape 2"/>
          <p:cNvSpPr/>
          <p:nvPr/>
        </p:nvSpPr>
        <p:spPr>
          <a:xfrm>
            <a:off x="457200" y="1280160"/>
            <a:ext cx="54864" cy="822960"/>
          </a:xfrm>
          <a:prstGeom prst="rect">
            <a:avLst/>
          </a:prstGeom>
          <a:solidFill>
            <a:srgbClr val="2F6FED"/>
          </a:solidFill>
          <a:ln w="12700">
            <a:solidFill>
              <a:srgbClr val="2F6FED"/>
            </a:solidFill>
            <a:prstDash val="solid"/>
          </a:ln>
        </p:spPr>
      </p:sp>
      <p:sp>
        <p:nvSpPr>
          <p:cNvPr id="6" name="Text 3"/>
          <p:cNvSpPr txBox="1"/>
          <p:nvPr/>
        </p:nvSpPr>
        <p:spPr>
          <a:xfrm>
            <a:off x="685800" y="1188720"/>
            <a:ext cx="3566160" cy="1005840"/>
          </a:xfrm>
          <a:prstGeom prst="rect">
            <a:avLst/>
          </a:prstGeom>
          <a:noFill/>
          <a:ln/>
        </p:spPr>
        <p:txBody>
          <a:bodyPr wrap="square" lIns="0" tIns="0" rIns="0" bIns="0" rtlCol="0" anchor="ctr"/>
          <a:lstStyle/>
          <a:p>
            <a:pPr indent="0" marL="0">
              <a:buNone/>
            </a:pPr>
            <a:r>
              <a:rPr lang="en-US" sz="1500" b="1" dirty="0">
                <a:solidFill>
                  <a:srgbClr val="0F1729"/>
                </a:solidFill>
              </a:rPr>
              <a:t>Like lists</a:t>
            </a:r>
            <a:endParaRPr lang="en-US" sz="1500" dirty="0"/>
          </a:p>
          <a:p>
            <a:pPr indent="0" marL="0">
              <a:buNone/>
            </a:pPr>
            <a:r>
              <a:rPr lang="en-US" sz="1300" dirty="0">
                <a:solidFill>
                  <a:srgbClr val="3A4357"/>
                </a:solidFill>
              </a:rPr>
              <a:t>Ordered sequences you can index and slice.</a:t>
            </a:r>
            <a:endParaRPr lang="en-US" sz="1500" dirty="0"/>
          </a:p>
        </p:txBody>
      </p:sp>
      <p:sp>
        <p:nvSpPr>
          <p:cNvPr id="7" name="Shape 4"/>
          <p:cNvSpPr/>
          <p:nvPr/>
        </p:nvSpPr>
        <p:spPr>
          <a:xfrm>
            <a:off x="4754880" y="1188720"/>
            <a:ext cx="3931920" cy="1005840"/>
          </a:xfrm>
          <a:prstGeom prst="roundRect">
            <a:avLst>
              <a:gd name="adj" fmla="val 7273"/>
            </a:avLst>
          </a:prstGeom>
          <a:solidFill>
            <a:srgbClr val="F2F5FB"/>
          </a:solidFill>
          <a:ln w="12700">
            <a:solidFill>
              <a:srgbClr val="DDE2EE"/>
            </a:solidFill>
            <a:prstDash val="solid"/>
          </a:ln>
        </p:spPr>
      </p:sp>
      <p:sp>
        <p:nvSpPr>
          <p:cNvPr id="8" name="Shape 5"/>
          <p:cNvSpPr/>
          <p:nvPr/>
        </p:nvSpPr>
        <p:spPr>
          <a:xfrm>
            <a:off x="4754880" y="1280160"/>
            <a:ext cx="54864" cy="822960"/>
          </a:xfrm>
          <a:prstGeom prst="rect">
            <a:avLst/>
          </a:prstGeom>
          <a:solidFill>
            <a:srgbClr val="D64550"/>
          </a:solidFill>
          <a:ln w="12700">
            <a:solidFill>
              <a:srgbClr val="D64550"/>
            </a:solidFill>
            <a:prstDash val="solid"/>
          </a:ln>
        </p:spPr>
      </p:sp>
      <p:sp>
        <p:nvSpPr>
          <p:cNvPr id="9" name="Text 6"/>
          <p:cNvSpPr txBox="1"/>
          <p:nvPr/>
        </p:nvSpPr>
        <p:spPr>
          <a:xfrm>
            <a:off x="4983480" y="1188720"/>
            <a:ext cx="3566160" cy="1005840"/>
          </a:xfrm>
          <a:prstGeom prst="rect">
            <a:avLst/>
          </a:prstGeom>
          <a:noFill/>
          <a:ln/>
        </p:spPr>
        <p:txBody>
          <a:bodyPr wrap="square" lIns="0" tIns="0" rIns="0" bIns="0" rtlCol="0" anchor="ctr"/>
          <a:lstStyle/>
          <a:p>
            <a:pPr indent="0" marL="0">
              <a:buNone/>
            </a:pPr>
            <a:r>
              <a:rPr lang="en-US" sz="1500" b="1" dirty="0">
                <a:solidFill>
                  <a:srgbClr val="0F1729"/>
                </a:solidFill>
              </a:rPr>
              <a:t>But immutable</a:t>
            </a:r>
            <a:endParaRPr lang="en-US" sz="1500" dirty="0"/>
          </a:p>
          <a:p>
            <a:pPr indent="0" marL="0">
              <a:buNone/>
            </a:pPr>
            <a:r>
              <a:rPr lang="en-US" sz="1300" dirty="0">
                <a:solidFill>
                  <a:srgbClr val="3A4357"/>
                </a:solidFill>
              </a:rPr>
              <a:t>They cannot be changed once created.</a:t>
            </a:r>
            <a:endParaRPr lang="en-US" sz="1500" dirty="0"/>
          </a:p>
        </p:txBody>
      </p:sp>
      <p:sp>
        <p:nvSpPr>
          <p:cNvPr id="10" name="Text 7"/>
          <p:cNvSpPr txBox="1"/>
          <p:nvPr/>
        </p:nvSpPr>
        <p:spPr>
          <a:xfrm>
            <a:off x="457200" y="2468880"/>
            <a:ext cx="8229600" cy="365760"/>
          </a:xfrm>
          <a:prstGeom prst="rect">
            <a:avLst/>
          </a:prstGeom>
          <a:noFill/>
          <a:ln/>
        </p:spPr>
        <p:txBody>
          <a:bodyPr wrap="square" lIns="0" tIns="0" rIns="0" bIns="0" rtlCol="0" anchor="ctr"/>
          <a:lstStyle/>
          <a:p>
            <a:pPr indent="0" marL="0">
              <a:buNone/>
            </a:pPr>
            <a:r>
              <a:rPr lang="en-US" sz="1600" b="1" dirty="0">
                <a:solidFill>
                  <a:srgbClr val="0F1729"/>
                </a:solidFill>
              </a:rPr>
              <a:t>Use tuples for data that should not change</a:t>
            </a:r>
            <a:endParaRPr lang="en-US" sz="1600" dirty="0"/>
          </a:p>
        </p:txBody>
      </p:sp>
      <p:sp>
        <p:nvSpPr>
          <p:cNvPr id="11" name="Shape 8"/>
          <p:cNvSpPr/>
          <p:nvPr/>
        </p:nvSpPr>
        <p:spPr>
          <a:xfrm>
            <a:off x="457200" y="2926080"/>
            <a:ext cx="1920240" cy="822960"/>
          </a:xfrm>
          <a:prstGeom prst="roundRect">
            <a:avLst>
              <a:gd name="adj" fmla="val 8889"/>
            </a:avLst>
          </a:prstGeom>
          <a:solidFill>
            <a:srgbClr val="F2F5FB"/>
          </a:solidFill>
          <a:ln w="12700">
            <a:solidFill>
              <a:srgbClr val="DDE2EE"/>
            </a:solidFill>
            <a:prstDash val="solid"/>
          </a:ln>
        </p:spPr>
      </p:sp>
      <p:sp>
        <p:nvSpPr>
          <p:cNvPr id="12" name="Shape 9"/>
          <p:cNvSpPr/>
          <p:nvPr/>
        </p:nvSpPr>
        <p:spPr>
          <a:xfrm>
            <a:off x="457200" y="3017520"/>
            <a:ext cx="54864" cy="640080"/>
          </a:xfrm>
          <a:prstGeom prst="rect">
            <a:avLst/>
          </a:prstGeom>
          <a:solidFill>
            <a:srgbClr val="F5A623"/>
          </a:solidFill>
          <a:ln w="12700">
            <a:solidFill>
              <a:srgbClr val="F5A623"/>
            </a:solidFill>
            <a:prstDash val="solid"/>
          </a:ln>
        </p:spPr>
      </p:sp>
      <p:sp>
        <p:nvSpPr>
          <p:cNvPr id="13" name="Text 10"/>
          <p:cNvSpPr txBox="1"/>
          <p:nvPr/>
        </p:nvSpPr>
        <p:spPr>
          <a:xfrm>
            <a:off x="685800" y="2926080"/>
            <a:ext cx="1554480" cy="822960"/>
          </a:xfrm>
          <a:prstGeom prst="rect">
            <a:avLst/>
          </a:prstGeom>
          <a:noFill/>
          <a:ln/>
        </p:spPr>
        <p:txBody>
          <a:bodyPr wrap="square" lIns="0" tIns="0" rIns="0" bIns="0" rtlCol="0" anchor="ctr"/>
          <a:lstStyle/>
          <a:p>
            <a:pPr indent="0" marL="0">
              <a:buNone/>
            </a:pPr>
            <a:r>
              <a:rPr lang="en-US" sz="1500" b="1" dirty="0">
                <a:solidFill>
                  <a:srgbClr val="0F1729"/>
                </a:solidFill>
              </a:rPr>
              <a:t>Coordinates</a:t>
            </a:r>
            <a:endParaRPr lang="en-US" sz="1500" dirty="0"/>
          </a:p>
          <a:p>
            <a:pPr indent="0" marL="0">
              <a:buNone/>
            </a:pPr>
            <a:r>
              <a:rPr lang="en-US" sz="1300" dirty="0">
                <a:solidFill>
                  <a:srgbClr val="3A4357"/>
                </a:solidFill>
              </a:rPr>
              <a:t>(x, y)</a:t>
            </a:r>
            <a:endParaRPr lang="en-US" sz="1500" dirty="0"/>
          </a:p>
        </p:txBody>
      </p:sp>
      <p:sp>
        <p:nvSpPr>
          <p:cNvPr id="14" name="Shape 11"/>
          <p:cNvSpPr/>
          <p:nvPr/>
        </p:nvSpPr>
        <p:spPr>
          <a:xfrm>
            <a:off x="2514600" y="2926080"/>
            <a:ext cx="1920240" cy="822960"/>
          </a:xfrm>
          <a:prstGeom prst="roundRect">
            <a:avLst>
              <a:gd name="adj" fmla="val 8889"/>
            </a:avLst>
          </a:prstGeom>
          <a:solidFill>
            <a:srgbClr val="F2F5FB"/>
          </a:solidFill>
          <a:ln w="12700">
            <a:solidFill>
              <a:srgbClr val="DDE2EE"/>
            </a:solidFill>
            <a:prstDash val="solid"/>
          </a:ln>
        </p:spPr>
      </p:sp>
      <p:sp>
        <p:nvSpPr>
          <p:cNvPr id="15" name="Shape 12"/>
          <p:cNvSpPr/>
          <p:nvPr/>
        </p:nvSpPr>
        <p:spPr>
          <a:xfrm>
            <a:off x="2514600" y="3017520"/>
            <a:ext cx="54864" cy="640080"/>
          </a:xfrm>
          <a:prstGeom prst="rect">
            <a:avLst/>
          </a:prstGeom>
          <a:solidFill>
            <a:srgbClr val="F5A623"/>
          </a:solidFill>
          <a:ln w="12700">
            <a:solidFill>
              <a:srgbClr val="F5A623"/>
            </a:solidFill>
            <a:prstDash val="solid"/>
          </a:ln>
        </p:spPr>
      </p:sp>
      <p:sp>
        <p:nvSpPr>
          <p:cNvPr id="16" name="Text 13"/>
          <p:cNvSpPr txBox="1"/>
          <p:nvPr/>
        </p:nvSpPr>
        <p:spPr>
          <a:xfrm>
            <a:off x="2743200" y="2926080"/>
            <a:ext cx="1554480" cy="822960"/>
          </a:xfrm>
          <a:prstGeom prst="rect">
            <a:avLst/>
          </a:prstGeom>
          <a:noFill/>
          <a:ln/>
        </p:spPr>
        <p:txBody>
          <a:bodyPr wrap="square" lIns="0" tIns="0" rIns="0" bIns="0" rtlCol="0" anchor="ctr"/>
          <a:lstStyle/>
          <a:p>
            <a:pPr indent="0" marL="0">
              <a:buNone/>
            </a:pPr>
            <a:r>
              <a:rPr lang="en-US" sz="1500" b="1" dirty="0">
                <a:solidFill>
                  <a:srgbClr val="0F1729"/>
                </a:solidFill>
              </a:rPr>
              <a:t>RGB colors</a:t>
            </a:r>
            <a:endParaRPr lang="en-US" sz="1500" dirty="0"/>
          </a:p>
          <a:p>
            <a:pPr indent="0" marL="0">
              <a:buNone/>
            </a:pPr>
            <a:r>
              <a:rPr lang="en-US" sz="1300" dirty="0">
                <a:solidFill>
                  <a:srgbClr val="3A4357"/>
                </a:solidFill>
              </a:rPr>
              <a:t>(255, 0, 0)</a:t>
            </a:r>
            <a:endParaRPr lang="en-US" sz="1500" dirty="0"/>
          </a:p>
        </p:txBody>
      </p:sp>
      <p:sp>
        <p:nvSpPr>
          <p:cNvPr id="17" name="Shape 14"/>
          <p:cNvSpPr/>
          <p:nvPr/>
        </p:nvSpPr>
        <p:spPr>
          <a:xfrm>
            <a:off x="4572000" y="2926080"/>
            <a:ext cx="1920240" cy="822960"/>
          </a:xfrm>
          <a:prstGeom prst="roundRect">
            <a:avLst>
              <a:gd name="adj" fmla="val 8889"/>
            </a:avLst>
          </a:prstGeom>
          <a:solidFill>
            <a:srgbClr val="F2F5FB"/>
          </a:solidFill>
          <a:ln w="12700">
            <a:solidFill>
              <a:srgbClr val="DDE2EE"/>
            </a:solidFill>
            <a:prstDash val="solid"/>
          </a:ln>
        </p:spPr>
      </p:sp>
      <p:sp>
        <p:nvSpPr>
          <p:cNvPr id="18" name="Shape 15"/>
          <p:cNvSpPr/>
          <p:nvPr/>
        </p:nvSpPr>
        <p:spPr>
          <a:xfrm>
            <a:off x="4572000" y="3017520"/>
            <a:ext cx="54864" cy="640080"/>
          </a:xfrm>
          <a:prstGeom prst="rect">
            <a:avLst/>
          </a:prstGeom>
          <a:solidFill>
            <a:srgbClr val="F5A623"/>
          </a:solidFill>
          <a:ln w="12700">
            <a:solidFill>
              <a:srgbClr val="F5A623"/>
            </a:solidFill>
            <a:prstDash val="solid"/>
          </a:ln>
        </p:spPr>
      </p:sp>
      <p:sp>
        <p:nvSpPr>
          <p:cNvPr id="19" name="Text 16"/>
          <p:cNvSpPr txBox="1"/>
          <p:nvPr/>
        </p:nvSpPr>
        <p:spPr>
          <a:xfrm>
            <a:off x="4800600" y="2926080"/>
            <a:ext cx="1554480" cy="822960"/>
          </a:xfrm>
          <a:prstGeom prst="rect">
            <a:avLst/>
          </a:prstGeom>
          <a:noFill/>
          <a:ln/>
        </p:spPr>
        <p:txBody>
          <a:bodyPr wrap="square" lIns="0" tIns="0" rIns="0" bIns="0" rtlCol="0" anchor="ctr"/>
          <a:lstStyle/>
          <a:p>
            <a:pPr indent="0" marL="0">
              <a:buNone/>
            </a:pPr>
            <a:r>
              <a:rPr lang="en-US" sz="1500" b="1" dirty="0">
                <a:solidFill>
                  <a:srgbClr val="0F1729"/>
                </a:solidFill>
              </a:rPr>
              <a:t>Database records</a:t>
            </a:r>
            <a:endParaRPr lang="en-US" sz="1500" dirty="0"/>
          </a:p>
          <a:p>
            <a:pPr indent="0" marL="0">
              <a:buNone/>
            </a:pPr>
            <a:r>
              <a:rPr lang="en-US" sz="1300" dirty="0">
                <a:solidFill>
                  <a:srgbClr val="3A4357"/>
                </a:solidFill>
              </a:rPr>
              <a:t>One row of data.</a:t>
            </a:r>
            <a:endParaRPr lang="en-US" sz="1500" dirty="0"/>
          </a:p>
        </p:txBody>
      </p:sp>
      <p:sp>
        <p:nvSpPr>
          <p:cNvPr id="20" name="Shape 17"/>
          <p:cNvSpPr/>
          <p:nvPr/>
        </p:nvSpPr>
        <p:spPr>
          <a:xfrm>
            <a:off x="6629400" y="2926080"/>
            <a:ext cx="2057400" cy="822960"/>
          </a:xfrm>
          <a:prstGeom prst="roundRect">
            <a:avLst>
              <a:gd name="adj" fmla="val 8889"/>
            </a:avLst>
          </a:prstGeom>
          <a:solidFill>
            <a:srgbClr val="F2F5FB"/>
          </a:solidFill>
          <a:ln w="12700">
            <a:solidFill>
              <a:srgbClr val="DDE2EE"/>
            </a:solidFill>
            <a:prstDash val="solid"/>
          </a:ln>
        </p:spPr>
      </p:sp>
      <p:sp>
        <p:nvSpPr>
          <p:cNvPr id="21" name="Shape 18"/>
          <p:cNvSpPr/>
          <p:nvPr/>
        </p:nvSpPr>
        <p:spPr>
          <a:xfrm>
            <a:off x="6629400" y="3017520"/>
            <a:ext cx="54864" cy="640080"/>
          </a:xfrm>
          <a:prstGeom prst="rect">
            <a:avLst/>
          </a:prstGeom>
          <a:solidFill>
            <a:srgbClr val="F5A623"/>
          </a:solidFill>
          <a:ln w="12700">
            <a:solidFill>
              <a:srgbClr val="F5A623"/>
            </a:solidFill>
            <a:prstDash val="solid"/>
          </a:ln>
        </p:spPr>
      </p:sp>
      <p:sp>
        <p:nvSpPr>
          <p:cNvPr id="22" name="Text 19"/>
          <p:cNvSpPr txBox="1"/>
          <p:nvPr/>
        </p:nvSpPr>
        <p:spPr>
          <a:xfrm>
            <a:off x="6858000" y="2926080"/>
            <a:ext cx="1691640" cy="822960"/>
          </a:xfrm>
          <a:prstGeom prst="rect">
            <a:avLst/>
          </a:prstGeom>
          <a:noFill/>
          <a:ln/>
        </p:spPr>
        <p:txBody>
          <a:bodyPr wrap="square" lIns="0" tIns="0" rIns="0" bIns="0" rtlCol="0" anchor="ctr"/>
          <a:lstStyle/>
          <a:p>
            <a:pPr indent="0" marL="0">
              <a:buNone/>
            </a:pPr>
            <a:r>
              <a:rPr lang="en-US" sz="1500" b="1" dirty="0">
                <a:solidFill>
                  <a:srgbClr val="0F1729"/>
                </a:solidFill>
              </a:rPr>
              <a:t>Return values</a:t>
            </a:r>
            <a:endParaRPr lang="en-US" sz="1500" dirty="0"/>
          </a:p>
          <a:p>
            <a:pPr indent="0" marL="0">
              <a:buNone/>
            </a:pPr>
            <a:r>
              <a:rPr lang="en-US" sz="1300" dirty="0">
                <a:solidFill>
                  <a:srgbClr val="3A4357"/>
                </a:solidFill>
              </a:rPr>
              <a:t>From functions.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Creating tuples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Create a tuple called rgb for the color red (255, 0, 0). Print its type.</a:t>
            </a:r>
            <a:endParaRPr lang="en-US" sz="1300" dirty="0"/>
          </a:p>
        </p:txBody>
      </p:sp>
      <p:sp>
        <p:nvSpPr>
          <p:cNvPr id="6" name="Shape 3"/>
          <p:cNvSpPr/>
          <p:nvPr/>
        </p:nvSpPr>
        <p:spPr>
          <a:xfrm>
            <a:off x="457200" y="1188720"/>
            <a:ext cx="8229600" cy="2194560"/>
          </a:xfrm>
          <a:prstGeom prst="roundRect">
            <a:avLst>
              <a:gd name="adj" fmla="val 3333"/>
            </a:avLst>
          </a:prstGeom>
          <a:solidFill>
            <a:srgbClr val="0F1729"/>
          </a:solidFill>
          <a:ln w="12700">
            <a:solidFill>
              <a:srgbClr val="0F1729"/>
            </a:solidFill>
            <a:prstDash val="solid"/>
          </a:ln>
        </p:spPr>
      </p:sp>
      <p:sp>
        <p:nvSpPr>
          <p:cNvPr id="7" name="Text 4"/>
          <p:cNvSpPr txBox="1"/>
          <p:nvPr/>
        </p:nvSpPr>
        <p:spPr>
          <a:xfrm>
            <a:off x="594360" y="1188720"/>
            <a:ext cx="7955280" cy="219456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empty = ()</a:t>
            </a:r>
            <a:endParaRPr lang="en-US" sz="1300" dirty="0"/>
          </a:p>
          <a:p>
            <a:pPr indent="0" marL="0">
              <a:buNone/>
            </a:pP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point = (3, 5)</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colors = ("red", "green", "blue")</a:t>
            </a:r>
            <a:endParaRPr lang="en-US" sz="1300" dirty="0"/>
          </a:p>
          <a:p>
            <a:pPr indent="0" marL="0">
              <a:buNone/>
            </a:pP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 Without parentheses (implicit)</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coordinates = 10, 20</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The single-item trap</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What do type((7)) and type((7,)) print?</a:t>
            </a:r>
            <a:endParaRPr lang="en-US" sz="1300" dirty="0"/>
          </a:p>
        </p:txBody>
      </p:sp>
      <p:sp>
        <p:nvSpPr>
          <p:cNvPr id="6" name="Shape 3"/>
          <p:cNvSpPr/>
          <p:nvPr/>
        </p:nvSpPr>
        <p:spPr>
          <a:xfrm>
            <a:off x="457200" y="1188720"/>
            <a:ext cx="5120640" cy="2011680"/>
          </a:xfrm>
          <a:prstGeom prst="roundRect">
            <a:avLst>
              <a:gd name="adj" fmla="val 3636"/>
            </a:avLst>
          </a:prstGeom>
          <a:solidFill>
            <a:srgbClr val="0F1729"/>
          </a:solidFill>
          <a:ln w="12700">
            <a:solidFill>
              <a:srgbClr val="0F1729"/>
            </a:solidFill>
            <a:prstDash val="solid"/>
          </a:ln>
        </p:spPr>
      </p:sp>
      <p:sp>
        <p:nvSpPr>
          <p:cNvPr id="7" name="Text 4"/>
          <p:cNvSpPr txBox="1"/>
          <p:nvPr/>
        </p:nvSpPr>
        <p:spPr>
          <a:xfrm>
            <a:off x="594360" y="1188720"/>
            <a:ext cx="4846320" cy="201168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single = (42,)    # a tuple</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not_tuple = (42)  # just the number 42</a:t>
            </a:r>
            <a:endParaRPr lang="en-US" sz="1300" dirty="0"/>
          </a:p>
          <a:p>
            <a:pPr indent="0" marL="0">
              <a:buNone/>
            </a:pP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print(type(single))     # &lt;class "tuple"&gt;</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print(type(not_tuple))  # &lt;class "int"&gt;</a:t>
            </a:r>
            <a:endParaRPr lang="en-US" sz="1300" dirty="0"/>
          </a:p>
        </p:txBody>
      </p:sp>
      <p:sp>
        <p:nvSpPr>
          <p:cNvPr id="8" name="Shape 5"/>
          <p:cNvSpPr/>
          <p:nvPr/>
        </p:nvSpPr>
        <p:spPr>
          <a:xfrm>
            <a:off x="5852160" y="1188720"/>
            <a:ext cx="2834640" cy="2011680"/>
          </a:xfrm>
          <a:prstGeom prst="roundRect">
            <a:avLst>
              <a:gd name="adj" fmla="val 3636"/>
            </a:avLst>
          </a:prstGeom>
          <a:solidFill>
            <a:srgbClr val="F2F5FB"/>
          </a:solidFill>
          <a:ln w="12700">
            <a:solidFill>
              <a:srgbClr val="DDE2EE"/>
            </a:solidFill>
            <a:prstDash val="solid"/>
          </a:ln>
        </p:spPr>
      </p:sp>
      <p:sp>
        <p:nvSpPr>
          <p:cNvPr id="9" name="Shape 6"/>
          <p:cNvSpPr/>
          <p:nvPr/>
        </p:nvSpPr>
        <p:spPr>
          <a:xfrm>
            <a:off x="5852160" y="1280160"/>
            <a:ext cx="54864" cy="1828800"/>
          </a:xfrm>
          <a:prstGeom prst="rect">
            <a:avLst/>
          </a:prstGeom>
          <a:solidFill>
            <a:srgbClr val="D64550"/>
          </a:solidFill>
          <a:ln w="12700">
            <a:solidFill>
              <a:srgbClr val="D64550"/>
            </a:solidFill>
            <a:prstDash val="solid"/>
          </a:ln>
        </p:spPr>
      </p:sp>
      <p:sp>
        <p:nvSpPr>
          <p:cNvPr id="10" name="Text 7"/>
          <p:cNvSpPr txBox="1"/>
          <p:nvPr/>
        </p:nvSpPr>
        <p:spPr>
          <a:xfrm>
            <a:off x="6080760" y="1188720"/>
            <a:ext cx="2468880" cy="2011680"/>
          </a:xfrm>
          <a:prstGeom prst="rect">
            <a:avLst/>
          </a:prstGeom>
          <a:noFill/>
          <a:ln/>
        </p:spPr>
        <p:txBody>
          <a:bodyPr wrap="square" lIns="0" tIns="0" rIns="0" bIns="0" rtlCol="0" anchor="ctr"/>
          <a:lstStyle/>
          <a:p>
            <a:pPr indent="0" marL="0">
              <a:buNone/>
            </a:pPr>
            <a:r>
              <a:rPr lang="en-US" sz="1500" b="1" dirty="0">
                <a:solidFill>
                  <a:srgbClr val="0F1729"/>
                </a:solidFill>
              </a:rPr>
              <a:t>Warning</a:t>
            </a:r>
            <a:endParaRPr lang="en-US" sz="1500" dirty="0"/>
          </a:p>
          <a:p>
            <a:pPr indent="0" marL="0">
              <a:buNone/>
            </a:pPr>
            <a:r>
              <a:rPr lang="en-US" sz="1300" dirty="0">
                <a:solidFill>
                  <a:srgbClr val="3A4357"/>
                </a:solidFill>
              </a:rPr>
              <a:t>A single-item tuple needs a comma: (42,) not (42).</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Accessing items</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With colors = ("red", "green", "blue"), what do colors[1], colors[-2] and colors[1:3] return?</a:t>
            </a:r>
            <a:endParaRPr lang="en-US" sz="1300" dirty="0"/>
          </a:p>
        </p:txBody>
      </p:sp>
      <p:sp>
        <p:nvSpPr>
          <p:cNvPr id="6" name="Shape 3"/>
          <p:cNvSpPr/>
          <p:nvPr/>
        </p:nvSpPr>
        <p:spPr>
          <a:xfrm>
            <a:off x="457200" y="1188720"/>
            <a:ext cx="8229600" cy="2011680"/>
          </a:xfrm>
          <a:prstGeom prst="roundRect">
            <a:avLst>
              <a:gd name="adj" fmla="val 3636"/>
            </a:avLst>
          </a:prstGeom>
          <a:solidFill>
            <a:srgbClr val="0F1729"/>
          </a:solidFill>
          <a:ln w="12700">
            <a:solidFill>
              <a:srgbClr val="0F1729"/>
            </a:solidFill>
            <a:prstDash val="solid"/>
          </a:ln>
        </p:spPr>
      </p:sp>
      <p:sp>
        <p:nvSpPr>
          <p:cNvPr id="7" name="Text 4"/>
          <p:cNvSpPr txBox="1"/>
          <p:nvPr/>
        </p:nvSpPr>
        <p:spPr>
          <a:xfrm>
            <a:off x="594360" y="1188720"/>
            <a:ext cx="7955280" cy="201168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point = (3, 5)</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colors = ("red", "green", "blue")</a:t>
            </a:r>
            <a:endParaRPr lang="en-US" sz="1300" dirty="0"/>
          </a:p>
          <a:p>
            <a:pPr indent="0" marL="0">
              <a:buNone/>
            </a:pP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print(point[0])      # 3</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print(colors[-1])    # "blue"</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print(colors[0:2])   # ("red", "green")</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Tuple unpacking</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Unpack person = ("Asha", 21) into the variables name and age. Print both.</a:t>
            </a:r>
            <a:endParaRPr lang="en-US" sz="1300" dirty="0"/>
          </a:p>
        </p:txBody>
      </p:sp>
      <p:sp>
        <p:nvSpPr>
          <p:cNvPr id="6" name="Shape 3"/>
          <p:cNvSpPr/>
          <p:nvPr/>
        </p:nvSpPr>
        <p:spPr>
          <a:xfrm>
            <a:off x="457200" y="1188720"/>
            <a:ext cx="4572000" cy="1280160"/>
          </a:xfrm>
          <a:prstGeom prst="roundRect">
            <a:avLst>
              <a:gd name="adj" fmla="val 5714"/>
            </a:avLst>
          </a:prstGeom>
          <a:solidFill>
            <a:srgbClr val="0F1729"/>
          </a:solidFill>
          <a:ln w="12700">
            <a:solidFill>
              <a:srgbClr val="0F1729"/>
            </a:solidFill>
            <a:prstDash val="solid"/>
          </a:ln>
        </p:spPr>
      </p:sp>
      <p:sp>
        <p:nvSpPr>
          <p:cNvPr id="7" name="Text 4"/>
          <p:cNvSpPr txBox="1"/>
          <p:nvPr/>
        </p:nvSpPr>
        <p:spPr>
          <a:xfrm>
            <a:off x="594360" y="1188720"/>
            <a:ext cx="4297680" cy="128016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point = (3, 5)</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x, y = point   # x = 3, y = 5</a:t>
            </a:r>
            <a:endParaRPr lang="en-US" sz="1300" dirty="0"/>
          </a:p>
        </p:txBody>
      </p:sp>
      <p:sp>
        <p:nvSpPr>
          <p:cNvPr id="8" name="Shape 5"/>
          <p:cNvSpPr/>
          <p:nvPr/>
        </p:nvSpPr>
        <p:spPr>
          <a:xfrm>
            <a:off x="5303520" y="1188720"/>
            <a:ext cx="3383280" cy="914400"/>
          </a:xfrm>
          <a:prstGeom prst="roundRect">
            <a:avLst>
              <a:gd name="adj" fmla="val 8000"/>
            </a:avLst>
          </a:prstGeom>
          <a:solidFill>
            <a:srgbClr val="F2F5FB"/>
          </a:solidFill>
          <a:ln w="12700">
            <a:solidFill>
              <a:srgbClr val="DDE2EE"/>
            </a:solidFill>
            <a:prstDash val="solid"/>
          </a:ln>
        </p:spPr>
      </p:sp>
      <p:sp>
        <p:nvSpPr>
          <p:cNvPr id="9" name="Shape 6"/>
          <p:cNvSpPr/>
          <p:nvPr/>
        </p:nvSpPr>
        <p:spPr>
          <a:xfrm>
            <a:off x="5303520" y="1280160"/>
            <a:ext cx="54864" cy="731520"/>
          </a:xfrm>
          <a:prstGeom prst="rect">
            <a:avLst/>
          </a:prstGeom>
          <a:solidFill>
            <a:srgbClr val="1FA67A"/>
          </a:solidFill>
          <a:ln w="12700">
            <a:solidFill>
              <a:srgbClr val="1FA67A"/>
            </a:solidFill>
            <a:prstDash val="solid"/>
          </a:ln>
        </p:spPr>
      </p:sp>
      <p:sp>
        <p:nvSpPr>
          <p:cNvPr id="10" name="Text 7"/>
          <p:cNvSpPr txBox="1"/>
          <p:nvPr/>
        </p:nvSpPr>
        <p:spPr>
          <a:xfrm>
            <a:off x="5532120" y="1188720"/>
            <a:ext cx="3017520" cy="914400"/>
          </a:xfrm>
          <a:prstGeom prst="rect">
            <a:avLst/>
          </a:prstGeom>
          <a:noFill/>
          <a:ln/>
        </p:spPr>
        <p:txBody>
          <a:bodyPr wrap="square" lIns="0" tIns="0" rIns="0" bIns="0" rtlCol="0" anchor="ctr"/>
          <a:lstStyle/>
          <a:p>
            <a:pPr indent="0" marL="0">
              <a:buNone/>
            </a:pPr>
            <a:r>
              <a:rPr lang="en-US" sz="1500" b="1" dirty="0">
                <a:solidFill>
                  <a:srgbClr val="0F1729"/>
                </a:solidFill>
              </a:rPr>
              <a:t>One line</a:t>
            </a:r>
            <a:endParaRPr lang="en-US" sz="1500" dirty="0"/>
          </a:p>
          <a:p>
            <a:pPr indent="0" marL="0">
              <a:buNone/>
            </a:pPr>
            <a:r>
              <a:rPr lang="en-US" sz="1300" dirty="0">
                <a:solidFill>
                  <a:srgbClr val="3A4357"/>
                </a:solidFill>
              </a:rPr>
              <a:t>Each item goes to its own variable.</a:t>
            </a:r>
            <a:endParaRPr lang="en-US" sz="1500" dirty="0"/>
          </a:p>
        </p:txBody>
      </p:sp>
      <p:sp>
        <p:nvSpPr>
          <p:cNvPr id="11" name="Shape 8"/>
          <p:cNvSpPr/>
          <p:nvPr/>
        </p:nvSpPr>
        <p:spPr>
          <a:xfrm>
            <a:off x="5303520" y="2240280"/>
            <a:ext cx="3383280" cy="914400"/>
          </a:xfrm>
          <a:prstGeom prst="roundRect">
            <a:avLst>
              <a:gd name="adj" fmla="val 8000"/>
            </a:avLst>
          </a:prstGeom>
          <a:solidFill>
            <a:srgbClr val="F2F5FB"/>
          </a:solidFill>
          <a:ln w="12700">
            <a:solidFill>
              <a:srgbClr val="DDE2EE"/>
            </a:solidFill>
            <a:prstDash val="solid"/>
          </a:ln>
        </p:spPr>
      </p:sp>
      <p:sp>
        <p:nvSpPr>
          <p:cNvPr id="12" name="Shape 9"/>
          <p:cNvSpPr/>
          <p:nvPr/>
        </p:nvSpPr>
        <p:spPr>
          <a:xfrm>
            <a:off x="5303520" y="2331720"/>
            <a:ext cx="54864" cy="731520"/>
          </a:xfrm>
          <a:prstGeom prst="rect">
            <a:avLst/>
          </a:prstGeom>
          <a:solidFill>
            <a:srgbClr val="F5A623"/>
          </a:solidFill>
          <a:ln w="12700">
            <a:solidFill>
              <a:srgbClr val="F5A623"/>
            </a:solidFill>
            <a:prstDash val="solid"/>
          </a:ln>
        </p:spPr>
      </p:sp>
      <p:sp>
        <p:nvSpPr>
          <p:cNvPr id="13" name="Text 10"/>
          <p:cNvSpPr txBox="1"/>
          <p:nvPr/>
        </p:nvSpPr>
        <p:spPr>
          <a:xfrm>
            <a:off x="5532120" y="2240280"/>
            <a:ext cx="3017520" cy="914400"/>
          </a:xfrm>
          <a:prstGeom prst="rect">
            <a:avLst/>
          </a:prstGeom>
          <a:noFill/>
          <a:ln/>
        </p:spPr>
        <p:txBody>
          <a:bodyPr wrap="square" lIns="0" tIns="0" rIns="0" bIns="0" rtlCol="0" anchor="ctr"/>
          <a:lstStyle/>
          <a:p>
            <a:pPr indent="0" marL="0">
              <a:buNone/>
            </a:pPr>
            <a:r>
              <a:rPr lang="en-US" sz="1500" b="1" dirty="0">
                <a:solidFill>
                  <a:srgbClr val="0F1729"/>
                </a:solidFill>
              </a:rPr>
              <a:t>Match the count</a:t>
            </a:r>
            <a:endParaRPr lang="en-US" sz="1500" dirty="0"/>
          </a:p>
          <a:p>
            <a:pPr indent="0" marL="0">
              <a:buNone/>
            </a:pPr>
            <a:r>
              <a:rPr lang="en-US" sz="1300" dirty="0">
                <a:solidFill>
                  <a:srgbClr val="3A4357"/>
                </a:solidFill>
              </a:rPr>
              <a:t>Variables on the left must match the items.</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Multiple assignment and swapping</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If x = 1 and y = 2, what are x and y after x, y = y, x?</a:t>
            </a:r>
            <a:endParaRPr lang="en-US" sz="1300" dirty="0"/>
          </a:p>
        </p:txBody>
      </p:sp>
      <p:sp>
        <p:nvSpPr>
          <p:cNvPr id="6" name="Shape 3"/>
          <p:cNvSpPr/>
          <p:nvPr/>
        </p:nvSpPr>
        <p:spPr>
          <a:xfrm>
            <a:off x="457200" y="1188720"/>
            <a:ext cx="8229600" cy="1828800"/>
          </a:xfrm>
          <a:prstGeom prst="roundRect">
            <a:avLst>
              <a:gd name="adj" fmla="val 4000"/>
            </a:avLst>
          </a:prstGeom>
          <a:solidFill>
            <a:srgbClr val="0F1729"/>
          </a:solidFill>
          <a:ln w="12700">
            <a:solidFill>
              <a:srgbClr val="0F1729"/>
            </a:solidFill>
            <a:prstDash val="solid"/>
          </a:ln>
        </p:spPr>
      </p:sp>
      <p:sp>
        <p:nvSpPr>
          <p:cNvPr id="7" name="Text 4"/>
          <p:cNvSpPr txBox="1"/>
          <p:nvPr/>
        </p:nvSpPr>
        <p:spPr>
          <a:xfrm>
            <a:off x="594360" y="1188720"/>
            <a:ext cx="7955280" cy="182880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 Multiple assignment</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a, b, c = 1, 2, 3   # same as (1, 2, 3)</a:t>
            </a:r>
            <a:endParaRPr lang="en-US" sz="1300" dirty="0"/>
          </a:p>
          <a:p>
            <a:pPr indent="0" marL="0">
              <a:buNone/>
            </a:pP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 Swap variables elegantly</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x, y = y, x         # swaps values!</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Common mistake: modifying a tuple</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Why does point[0] = 4 raise a TypeError?</a:t>
            </a:r>
            <a:endParaRPr lang="en-US" sz="1300" dirty="0"/>
          </a:p>
        </p:txBody>
      </p:sp>
      <p:sp>
        <p:nvSpPr>
          <p:cNvPr id="6" name="Shape 3"/>
          <p:cNvSpPr/>
          <p:nvPr/>
        </p:nvSpPr>
        <p:spPr>
          <a:xfrm>
            <a:off x="457200" y="1188720"/>
            <a:ext cx="4937760" cy="1371600"/>
          </a:xfrm>
          <a:prstGeom prst="roundRect">
            <a:avLst>
              <a:gd name="adj" fmla="val 5333"/>
            </a:avLst>
          </a:prstGeom>
          <a:solidFill>
            <a:srgbClr val="0F1729"/>
          </a:solidFill>
          <a:ln w="12700">
            <a:solidFill>
              <a:srgbClr val="0F1729"/>
            </a:solidFill>
            <a:prstDash val="solid"/>
          </a:ln>
        </p:spPr>
      </p:sp>
      <p:sp>
        <p:nvSpPr>
          <p:cNvPr id="7" name="Text 4"/>
          <p:cNvSpPr txBox="1"/>
          <p:nvPr/>
        </p:nvSpPr>
        <p:spPr>
          <a:xfrm>
            <a:off x="594360" y="1188720"/>
            <a:ext cx="4663440" cy="137160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 Wrong - tuples are immutable</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point = (3, 5)</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point[0] = 4   # TypeError!</a:t>
            </a:r>
            <a:endParaRPr lang="en-US" sz="1300" dirty="0"/>
          </a:p>
        </p:txBody>
      </p:sp>
      <p:sp>
        <p:nvSpPr>
          <p:cNvPr id="8" name="Shape 5"/>
          <p:cNvSpPr/>
          <p:nvPr/>
        </p:nvSpPr>
        <p:spPr>
          <a:xfrm>
            <a:off x="5669280" y="1188720"/>
            <a:ext cx="3017520" cy="1371600"/>
          </a:xfrm>
          <a:prstGeom prst="roundRect">
            <a:avLst>
              <a:gd name="adj" fmla="val 5333"/>
            </a:avLst>
          </a:prstGeom>
          <a:solidFill>
            <a:srgbClr val="F2F5FB"/>
          </a:solidFill>
          <a:ln w="12700">
            <a:solidFill>
              <a:srgbClr val="DDE2EE"/>
            </a:solidFill>
            <a:prstDash val="solid"/>
          </a:ln>
        </p:spPr>
      </p:sp>
      <p:sp>
        <p:nvSpPr>
          <p:cNvPr id="9" name="Shape 6"/>
          <p:cNvSpPr/>
          <p:nvPr/>
        </p:nvSpPr>
        <p:spPr>
          <a:xfrm>
            <a:off x="5669280" y="1280160"/>
            <a:ext cx="54864" cy="1188720"/>
          </a:xfrm>
          <a:prstGeom prst="rect">
            <a:avLst/>
          </a:prstGeom>
          <a:solidFill>
            <a:srgbClr val="D64550"/>
          </a:solidFill>
          <a:ln w="12700">
            <a:solidFill>
              <a:srgbClr val="D64550"/>
            </a:solidFill>
            <a:prstDash val="solid"/>
          </a:ln>
        </p:spPr>
      </p:sp>
      <p:sp>
        <p:nvSpPr>
          <p:cNvPr id="10" name="Text 7"/>
          <p:cNvSpPr txBox="1"/>
          <p:nvPr/>
        </p:nvSpPr>
        <p:spPr>
          <a:xfrm>
            <a:off x="5897880" y="1188720"/>
            <a:ext cx="2651760" cy="1371600"/>
          </a:xfrm>
          <a:prstGeom prst="rect">
            <a:avLst/>
          </a:prstGeom>
          <a:noFill/>
          <a:ln/>
        </p:spPr>
        <p:txBody>
          <a:bodyPr wrap="square" lIns="0" tIns="0" rIns="0" bIns="0" rtlCol="0" anchor="ctr"/>
          <a:lstStyle/>
          <a:p>
            <a:pPr indent="0" marL="0">
              <a:buNone/>
            </a:pPr>
            <a:r>
              <a:rPr lang="en-US" sz="1500" b="1" dirty="0">
                <a:solidFill>
                  <a:srgbClr val="0F1729"/>
                </a:solidFill>
              </a:rPr>
              <a:t>TypeError</a:t>
            </a:r>
            <a:endParaRPr lang="en-US" sz="1500" dirty="0"/>
          </a:p>
          <a:p>
            <a:pPr indent="0" marL="0">
              <a:buNone/>
            </a:pPr>
            <a:r>
              <a:rPr lang="en-US" sz="1300" dirty="0">
                <a:solidFill>
                  <a:srgbClr val="3A4357"/>
                </a:solidFill>
              </a:rPr>
              <a:t>Item assignment is not allowed on tuples.</a:t>
            </a:r>
            <a:endParaRPr lang="en-US" sz="1500" dirty="0"/>
          </a:p>
        </p:txBody>
      </p:sp>
      <p:sp>
        <p:nvSpPr>
          <p:cNvPr id="11" name="Text 8"/>
          <p:cNvSpPr txBox="1"/>
          <p:nvPr/>
        </p:nvSpPr>
        <p:spPr>
          <a:xfrm>
            <a:off x="457200" y="3017520"/>
            <a:ext cx="8229600" cy="457200"/>
          </a:xfrm>
          <a:prstGeom prst="rect">
            <a:avLst/>
          </a:prstGeom>
          <a:noFill/>
          <a:ln/>
        </p:spPr>
        <p:txBody>
          <a:bodyPr wrap="square" lIns="0" tIns="0" rIns="0" bIns="0" rtlCol="0" anchor="ctr"/>
          <a:lstStyle/>
          <a:p>
            <a:pPr indent="0" marL="0">
              <a:buNone/>
            </a:pPr>
            <a:r>
              <a:rPr lang="en-US" sz="1600" i="1" dirty="0">
                <a:solidFill>
                  <a:srgbClr val="5B6475"/>
                </a:solidFill>
              </a:rPr>
              <a:t>If you need to change the data, use a list instead.</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How to "change" a tuple</a:t>
            </a:r>
            <a:endParaRPr lang="en-US" sz="3000" dirty="0"/>
          </a:p>
        </p:txBody>
      </p:sp>
      <p:sp>
        <p:nvSpPr>
          <p:cNvPr id="4" name="Shape 1"/>
          <p:cNvSpPr/>
          <p:nvPr/>
        </p:nvSpPr>
        <p:spPr>
          <a:xfrm>
            <a:off x="457200" y="3977640"/>
            <a:ext cx="8229600" cy="685800"/>
          </a:xfrm>
          <a:prstGeom prst="roundRect">
            <a:avLst>
              <a:gd name="adj" fmla="val 10667"/>
            </a:avLst>
          </a:prstGeom>
          <a:solidFill>
            <a:srgbClr val="FFF6E5"/>
          </a:solidFill>
          <a:ln w="12700">
            <a:solidFill>
              <a:srgbClr val="F5A623"/>
            </a:solidFill>
            <a:prstDash val="solid"/>
          </a:ln>
        </p:spPr>
      </p:sp>
      <p:sp>
        <p:nvSpPr>
          <p:cNvPr id="5" name="Text 2"/>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300" b="1" dirty="0">
                <a:solidFill>
                  <a:srgbClr val="B26B00"/>
                </a:solidFill>
              </a:rPr>
              <a:t>Practice: </a:t>
            </a:r>
            <a:pPr indent="0" marL="0">
              <a:buNone/>
            </a:pPr>
            <a:r>
              <a:rPr lang="en-US" sz="1300" dirty="0">
                <a:solidFill>
                  <a:srgbClr val="1B1F2A"/>
                </a:solidFill>
              </a:rPr>
              <a:t>Change the first item of point = (3, 5) to 9, once with each approach.</a:t>
            </a:r>
            <a:endParaRPr lang="en-US" sz="1300" dirty="0"/>
          </a:p>
        </p:txBody>
      </p:sp>
      <p:sp>
        <p:nvSpPr>
          <p:cNvPr id="6" name="Shape 3"/>
          <p:cNvSpPr/>
          <p:nvPr/>
        </p:nvSpPr>
        <p:spPr>
          <a:xfrm>
            <a:off x="457200" y="1188720"/>
            <a:ext cx="4023360" cy="1188720"/>
          </a:xfrm>
          <a:prstGeom prst="roundRect">
            <a:avLst>
              <a:gd name="adj" fmla="val 6154"/>
            </a:avLst>
          </a:prstGeom>
          <a:solidFill>
            <a:srgbClr val="0F1729"/>
          </a:solidFill>
          <a:ln w="12700">
            <a:solidFill>
              <a:srgbClr val="0F1729"/>
            </a:solidFill>
            <a:prstDash val="solid"/>
          </a:ln>
        </p:spPr>
      </p:sp>
      <p:sp>
        <p:nvSpPr>
          <p:cNvPr id="7" name="Text 4"/>
          <p:cNvSpPr txBox="1"/>
          <p:nvPr/>
        </p:nvSpPr>
        <p:spPr>
          <a:xfrm>
            <a:off x="594360" y="1188720"/>
            <a:ext cx="3749040" cy="118872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 Right - create a new tuple</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point = (4, point[1])</a:t>
            </a:r>
            <a:endParaRPr lang="en-US" sz="1300" dirty="0"/>
          </a:p>
        </p:txBody>
      </p:sp>
      <p:sp>
        <p:nvSpPr>
          <p:cNvPr id="8" name="Shape 5"/>
          <p:cNvSpPr/>
          <p:nvPr/>
        </p:nvSpPr>
        <p:spPr>
          <a:xfrm>
            <a:off x="4663440" y="1188720"/>
            <a:ext cx="4023360" cy="1737360"/>
          </a:xfrm>
          <a:prstGeom prst="roundRect">
            <a:avLst>
              <a:gd name="adj" fmla="val 4211"/>
            </a:avLst>
          </a:prstGeom>
          <a:solidFill>
            <a:srgbClr val="0F1729"/>
          </a:solidFill>
          <a:ln w="12700">
            <a:solidFill>
              <a:srgbClr val="0F1729"/>
            </a:solidFill>
            <a:prstDash val="solid"/>
          </a:ln>
        </p:spPr>
      </p:sp>
      <p:sp>
        <p:nvSpPr>
          <p:cNvPr id="9" name="Text 6"/>
          <p:cNvSpPr txBox="1"/>
          <p:nvPr/>
        </p:nvSpPr>
        <p:spPr>
          <a:xfrm>
            <a:off x="4800600" y="1188720"/>
            <a:ext cx="3749040" cy="1737360"/>
          </a:xfrm>
          <a:prstGeom prst="rect">
            <a:avLst/>
          </a:prstGeom>
          <a:noFill/>
          <a:ln/>
        </p:spPr>
        <p:txBody>
          <a:bodyPr wrap="square" lIns="0" tIns="0" rIns="0" bIns="0" rtlCol="0" anchor="ctr"/>
          <a:lstStyle/>
          <a:p>
            <a:pPr indent="0" marL="0">
              <a:buNone/>
            </a:pPr>
            <a:r>
              <a:rPr lang="en-US" sz="1300" dirty="0">
                <a:solidFill>
                  <a:srgbClr val="E6EDF7"/>
                </a:solidFill>
                <a:latin typeface="Consolas" pitchFamily="34" charset="0"/>
                <a:ea typeface="Consolas" pitchFamily="34" charset="-122"/>
                <a:cs typeface="Consolas" pitchFamily="34" charset="-120"/>
              </a:rPr>
              <a:t># Or go through a list</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temp = list(point)</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temp[0] = 4</a:t>
            </a:r>
            <a:endParaRPr lang="en-US" sz="1300" dirty="0"/>
          </a:p>
          <a:p>
            <a:pPr indent="0" marL="0">
              <a:buNone/>
            </a:pPr>
            <a:r>
              <a:rPr lang="en-US" sz="1300" dirty="0">
                <a:solidFill>
                  <a:srgbClr val="E6EDF7"/>
                </a:solidFill>
                <a:latin typeface="Consolas" pitchFamily="34" charset="0"/>
                <a:ea typeface="Consolas" pitchFamily="34" charset="-122"/>
                <a:cs typeface="Consolas" pitchFamily="34" charset="-120"/>
              </a:rPr>
              <a:t>point = tuple(temp)</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Tuple or list?</a:t>
            </a:r>
            <a:endParaRPr lang="en-US" sz="3000" dirty="0"/>
          </a:p>
        </p:txBody>
      </p:sp>
      <p:sp>
        <p:nvSpPr>
          <p:cNvPr id="4" name="Shape 1"/>
          <p:cNvSpPr/>
          <p:nvPr/>
        </p:nvSpPr>
        <p:spPr>
          <a:xfrm>
            <a:off x="457200" y="1188720"/>
            <a:ext cx="4023360" cy="1920240"/>
          </a:xfrm>
          <a:prstGeom prst="roundRect">
            <a:avLst>
              <a:gd name="adj" fmla="val 3810"/>
            </a:avLst>
          </a:prstGeom>
          <a:solidFill>
            <a:srgbClr val="F2F5FB"/>
          </a:solidFill>
          <a:ln w="12700">
            <a:solidFill>
              <a:srgbClr val="DDE2EE"/>
            </a:solidFill>
            <a:prstDash val="solid"/>
          </a:ln>
        </p:spPr>
      </p:sp>
      <p:sp>
        <p:nvSpPr>
          <p:cNvPr id="5" name="Shape 2"/>
          <p:cNvSpPr/>
          <p:nvPr/>
        </p:nvSpPr>
        <p:spPr>
          <a:xfrm>
            <a:off x="457200" y="1280160"/>
            <a:ext cx="54864" cy="1737360"/>
          </a:xfrm>
          <a:prstGeom prst="rect">
            <a:avLst/>
          </a:prstGeom>
          <a:solidFill>
            <a:srgbClr val="2F6FED"/>
          </a:solidFill>
          <a:ln w="12700">
            <a:solidFill>
              <a:srgbClr val="2F6FED"/>
            </a:solidFill>
            <a:prstDash val="solid"/>
          </a:ln>
        </p:spPr>
      </p:sp>
      <p:sp>
        <p:nvSpPr>
          <p:cNvPr id="6" name="Text 3"/>
          <p:cNvSpPr txBox="1"/>
          <p:nvPr/>
        </p:nvSpPr>
        <p:spPr>
          <a:xfrm>
            <a:off x="685800" y="1188720"/>
            <a:ext cx="3657600" cy="1920240"/>
          </a:xfrm>
          <a:prstGeom prst="rect">
            <a:avLst/>
          </a:prstGeom>
          <a:noFill/>
          <a:ln/>
        </p:spPr>
        <p:txBody>
          <a:bodyPr wrap="square" lIns="0" tIns="0" rIns="0" bIns="0" rtlCol="0" anchor="ctr"/>
          <a:lstStyle/>
          <a:p>
            <a:pPr indent="0" marL="0">
              <a:buNone/>
            </a:pPr>
            <a:r>
              <a:rPr lang="en-US" sz="1500" b="1" dirty="0">
                <a:solidFill>
                  <a:srgbClr val="0F1729"/>
                </a:solidFill>
              </a:rPr>
              <a:t>Use a tuple when...</a:t>
            </a:r>
            <a:endParaRPr lang="en-US" sz="1500" dirty="0"/>
          </a:p>
          <a:p>
            <a:pPr indent="0" marL="0">
              <a:buNone/>
            </a:pPr>
            <a:r>
              <a:rPr lang="en-US" sz="1300" dirty="0">
                <a:solidFill>
                  <a:srgbClr val="3A4357"/>
                </a:solidFill>
              </a:rPr>
              <a:t>The data should not change.</a:t>
            </a:r>
            <a:endParaRPr lang="en-US" sz="1500" dirty="0"/>
          </a:p>
          <a:p>
            <a:pPr indent="0" marL="0">
              <a:buNone/>
            </a:pPr>
            <a:r>
              <a:rPr lang="en-US" sz="1300" dirty="0">
                <a:solidFill>
                  <a:srgbClr val="3A4357"/>
                </a:solidFill>
              </a:rPr>
              <a:t>Examples: coordinates, RGB colors, records.</a:t>
            </a:r>
            <a:endParaRPr lang="en-US" sz="1500" dirty="0"/>
          </a:p>
          <a:p>
            <a:pPr indent="0" marL="0">
              <a:buNone/>
            </a:pPr>
            <a:r>
              <a:rPr lang="en-US" sz="1300" dirty="0">
                <a:solidFill>
                  <a:srgbClr val="3A4357"/>
                </a:solidFill>
              </a:rPr>
              <a:t>You want protection from accidental edits.</a:t>
            </a:r>
            <a:endParaRPr lang="en-US" sz="1500" dirty="0"/>
          </a:p>
        </p:txBody>
      </p:sp>
      <p:sp>
        <p:nvSpPr>
          <p:cNvPr id="7" name="Shape 4"/>
          <p:cNvSpPr/>
          <p:nvPr/>
        </p:nvSpPr>
        <p:spPr>
          <a:xfrm>
            <a:off x="4663440" y="1188720"/>
            <a:ext cx="4023360" cy="1920240"/>
          </a:xfrm>
          <a:prstGeom prst="roundRect">
            <a:avLst>
              <a:gd name="adj" fmla="val 3810"/>
            </a:avLst>
          </a:prstGeom>
          <a:solidFill>
            <a:srgbClr val="F2F5FB"/>
          </a:solidFill>
          <a:ln w="12700">
            <a:solidFill>
              <a:srgbClr val="DDE2EE"/>
            </a:solidFill>
            <a:prstDash val="solid"/>
          </a:ln>
        </p:spPr>
      </p:sp>
      <p:sp>
        <p:nvSpPr>
          <p:cNvPr id="8" name="Shape 5"/>
          <p:cNvSpPr/>
          <p:nvPr/>
        </p:nvSpPr>
        <p:spPr>
          <a:xfrm>
            <a:off x="4663440" y="1280160"/>
            <a:ext cx="54864" cy="1737360"/>
          </a:xfrm>
          <a:prstGeom prst="rect">
            <a:avLst/>
          </a:prstGeom>
          <a:solidFill>
            <a:srgbClr val="1FA67A"/>
          </a:solidFill>
          <a:ln w="12700">
            <a:solidFill>
              <a:srgbClr val="1FA67A"/>
            </a:solidFill>
            <a:prstDash val="solid"/>
          </a:ln>
        </p:spPr>
      </p:sp>
      <p:sp>
        <p:nvSpPr>
          <p:cNvPr id="9" name="Text 6"/>
          <p:cNvSpPr txBox="1"/>
          <p:nvPr/>
        </p:nvSpPr>
        <p:spPr>
          <a:xfrm>
            <a:off x="4892040" y="1188720"/>
            <a:ext cx="3657600" cy="1920240"/>
          </a:xfrm>
          <a:prstGeom prst="rect">
            <a:avLst/>
          </a:prstGeom>
          <a:noFill/>
          <a:ln/>
        </p:spPr>
        <p:txBody>
          <a:bodyPr wrap="square" lIns="0" tIns="0" rIns="0" bIns="0" rtlCol="0" anchor="ctr"/>
          <a:lstStyle/>
          <a:p>
            <a:pPr indent="0" marL="0">
              <a:buNone/>
            </a:pPr>
            <a:r>
              <a:rPr lang="en-US" sz="1500" b="1" dirty="0">
                <a:solidFill>
                  <a:srgbClr val="0F1729"/>
                </a:solidFill>
              </a:rPr>
              <a:t>Use a list when...</a:t>
            </a:r>
            <a:endParaRPr lang="en-US" sz="1500" dirty="0"/>
          </a:p>
          <a:p>
            <a:pPr indent="0" marL="0">
              <a:buNone/>
            </a:pPr>
            <a:r>
              <a:rPr lang="en-US" sz="1300" dirty="0">
                <a:solidFill>
                  <a:srgbClr val="3A4357"/>
                </a:solidFill>
              </a:rPr>
              <a:t>You need to add or remove items.</a:t>
            </a:r>
            <a:endParaRPr lang="en-US" sz="1500" dirty="0"/>
          </a:p>
          <a:p>
            <a:pPr indent="0" marL="0">
              <a:buNone/>
            </a:pPr>
            <a:r>
              <a:rPr lang="en-US" sz="1300" dirty="0">
                <a:solidFill>
                  <a:srgbClr val="3A4357"/>
                </a:solidFill>
              </a:rPr>
              <a:t>You need to change values in place.</a:t>
            </a:r>
            <a:endParaRPr lang="en-US" sz="1500" dirty="0"/>
          </a:p>
          <a:p>
            <a:pPr indent="0" marL="0">
              <a:buNone/>
            </a:pPr>
            <a:r>
              <a:rPr lang="en-US" sz="1300" dirty="0">
                <a:solidFill>
                  <a:srgbClr val="3A4357"/>
                </a:solidFill>
              </a:rPr>
              <a:t>The data is expected to grow.</a:t>
            </a:r>
            <a:endParaRPr lang="en-US" sz="1500" dirty="0"/>
          </a:p>
        </p:txBody>
      </p:sp>
      <p:sp>
        <p:nvSpPr>
          <p:cNvPr id="10" name="Text 7"/>
          <p:cNvSpPr txBox="1"/>
          <p:nvPr/>
        </p:nvSpPr>
        <p:spPr>
          <a:xfrm>
            <a:off x="457200" y="3474720"/>
            <a:ext cx="8229600" cy="457200"/>
          </a:xfrm>
          <a:prstGeom prst="rect">
            <a:avLst/>
          </a:prstGeom>
          <a:noFill/>
          <a:ln/>
        </p:spPr>
        <p:txBody>
          <a:bodyPr wrap="square" lIns="0" tIns="0" rIns="0" bIns="0" rtlCol="0" anchor="ctr"/>
          <a:lstStyle/>
          <a:p>
            <a:pPr indent="0" marL="0">
              <a:buNone/>
            </a:pPr>
            <a:r>
              <a:rPr lang="en-US" sz="1600" i="1" dirty="0">
                <a:solidFill>
                  <a:srgbClr val="5B6475"/>
                </a:solidFill>
              </a:rPr>
              <a:t>Both support indexing and slicing. Only a list can be modified.</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Quick quiz</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Text 2"/>
          <p:cNvSpPr txBox="1"/>
          <p:nvPr/>
        </p:nvSpPr>
        <p:spPr>
          <a:xfrm>
            <a:off x="640080" y="118872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1.  What is type((42))?</a:t>
            </a:r>
            <a:endParaRPr lang="en-US" sz="1500" dirty="0"/>
          </a:p>
          <a:p>
            <a:pPr indent="0" marL="0">
              <a:buNone/>
            </a:pPr>
            <a:r>
              <a:rPr lang="en-US" sz="1300" dirty="0">
                <a:solidFill>
                  <a:srgbClr val="3A4357"/>
                </a:solidFill>
              </a:rPr>
              <a:t>A) tuple    B) int    C) list</a:t>
            </a:r>
            <a:endParaRPr lang="en-US" sz="1500" dirty="0"/>
          </a:p>
        </p:txBody>
      </p:sp>
      <p:sp>
        <p:nvSpPr>
          <p:cNvPr id="6" name="Shape 3"/>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7" name="Text 4"/>
          <p:cNvSpPr txBox="1"/>
          <p:nvPr/>
        </p:nvSpPr>
        <p:spPr>
          <a:xfrm>
            <a:off x="640080" y="205740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2.  What happens with point = (3, 5) then point[0] = 4?</a:t>
            </a:r>
            <a:endParaRPr lang="en-US" sz="1500" dirty="0"/>
          </a:p>
          <a:p>
            <a:pPr indent="0" marL="0">
              <a:buNone/>
            </a:pPr>
            <a:r>
              <a:rPr lang="en-US" sz="1300" dirty="0">
                <a:solidFill>
                  <a:srgbClr val="3A4357"/>
                </a:solidFill>
              </a:rPr>
              <a:t>A) point becomes (4, 5)    B) TypeError    C) nothing</a:t>
            </a:r>
            <a:endParaRPr lang="en-US" sz="1500" dirty="0"/>
          </a:p>
        </p:txBody>
      </p:sp>
      <p:sp>
        <p:nvSpPr>
          <p:cNvPr id="8" name="Shape 5"/>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9" name="Text 6"/>
          <p:cNvSpPr txBox="1"/>
          <p:nvPr/>
        </p:nvSpPr>
        <p:spPr>
          <a:xfrm>
            <a:off x="640080" y="292608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3.  After x, y = (3, 5), what is y?</a:t>
            </a:r>
            <a:endParaRPr lang="en-US" sz="1500" dirty="0"/>
          </a:p>
          <a:p>
            <a:pPr indent="0" marL="0">
              <a:buNone/>
            </a:pPr>
            <a:r>
              <a:rPr lang="en-US" sz="1300" dirty="0">
                <a:solidFill>
                  <a:srgbClr val="3A4357"/>
                </a:solidFill>
              </a:rPr>
              <a:t>A) 3    B) 5    C) (3, 5)</a:t>
            </a:r>
            <a:endParaRPr lang="en-US" sz="1500" dirty="0"/>
          </a:p>
        </p:txBody>
      </p:sp>
      <p:sp>
        <p:nvSpPr>
          <p:cNvPr id="10" name="Shape 7"/>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1" name="Text 8"/>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4.  Which line swaps the values of x and y?</a:t>
            </a:r>
            <a:endParaRPr lang="en-US" sz="1500" dirty="0"/>
          </a:p>
          <a:p>
            <a:pPr indent="0" marL="0">
              <a:buNone/>
            </a:pPr>
            <a:r>
              <a:rPr lang="en-US" sz="1300" dirty="0">
                <a:solidFill>
                  <a:srgbClr val="3A4357"/>
                </a:solidFill>
              </a:rPr>
              <a:t>A) x = y    B) x, y = y, x    C) swap(x, y)</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Quiz answers</a:t>
            </a:r>
            <a:endParaRPr lang="en-US" sz="3000" dirty="0"/>
          </a:p>
        </p:txBody>
      </p:sp>
      <p:sp>
        <p:nvSpPr>
          <p:cNvPr id="4" name="Shape 1"/>
          <p:cNvSpPr/>
          <p:nvPr/>
        </p:nvSpPr>
        <p:spPr>
          <a:xfrm>
            <a:off x="457200" y="1188720"/>
            <a:ext cx="8229600" cy="731520"/>
          </a:xfrm>
          <a:prstGeom prst="roundRect">
            <a:avLst>
              <a:gd name="adj" fmla="val 10000"/>
            </a:avLst>
          </a:prstGeom>
          <a:solidFill>
            <a:srgbClr val="F2F5FB"/>
          </a:solidFill>
          <a:ln w="12700">
            <a:solidFill>
              <a:srgbClr val="DDE2EE"/>
            </a:solidFill>
            <a:prstDash val="solid"/>
          </a:ln>
        </p:spPr>
      </p:sp>
      <p:sp>
        <p:nvSpPr>
          <p:cNvPr id="5" name="Shape 2"/>
          <p:cNvSpPr/>
          <p:nvPr/>
        </p:nvSpPr>
        <p:spPr>
          <a:xfrm>
            <a:off x="457200" y="1280160"/>
            <a:ext cx="54864" cy="548640"/>
          </a:xfrm>
          <a:prstGeom prst="rect">
            <a:avLst/>
          </a:prstGeom>
          <a:solidFill>
            <a:srgbClr val="1FA67A"/>
          </a:solidFill>
          <a:ln w="12700">
            <a:solidFill>
              <a:srgbClr val="1FA67A"/>
            </a:solidFill>
            <a:prstDash val="solid"/>
          </a:ln>
        </p:spPr>
      </p:sp>
      <p:sp>
        <p:nvSpPr>
          <p:cNvPr id="6" name="Text 3"/>
          <p:cNvSpPr txBox="1"/>
          <p:nvPr/>
        </p:nvSpPr>
        <p:spPr>
          <a:xfrm>
            <a:off x="685800" y="118872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1.  B) int</a:t>
            </a:r>
            <a:endParaRPr lang="en-US" sz="1500" dirty="0"/>
          </a:p>
          <a:p>
            <a:pPr indent="0" marL="0">
              <a:buNone/>
            </a:pPr>
            <a:r>
              <a:rPr lang="en-US" sz="1300" dirty="0">
                <a:solidFill>
                  <a:srgbClr val="3A4357"/>
                </a:solidFill>
              </a:rPr>
              <a:t>Without the trailing comma, (42) is just 42.</a:t>
            </a:r>
            <a:endParaRPr lang="en-US" sz="1500" dirty="0"/>
          </a:p>
        </p:txBody>
      </p:sp>
      <p:sp>
        <p:nvSpPr>
          <p:cNvPr id="7" name="Shape 4"/>
          <p:cNvSpPr/>
          <p:nvPr/>
        </p:nvSpPr>
        <p:spPr>
          <a:xfrm>
            <a:off x="457200" y="2057400"/>
            <a:ext cx="8229600" cy="731520"/>
          </a:xfrm>
          <a:prstGeom prst="roundRect">
            <a:avLst>
              <a:gd name="adj" fmla="val 10000"/>
            </a:avLst>
          </a:prstGeom>
          <a:solidFill>
            <a:srgbClr val="F2F5FB"/>
          </a:solidFill>
          <a:ln w="12700">
            <a:solidFill>
              <a:srgbClr val="DDE2EE"/>
            </a:solidFill>
            <a:prstDash val="solid"/>
          </a:ln>
        </p:spPr>
      </p:sp>
      <p:sp>
        <p:nvSpPr>
          <p:cNvPr id="8" name="Shape 5"/>
          <p:cNvSpPr/>
          <p:nvPr/>
        </p:nvSpPr>
        <p:spPr>
          <a:xfrm>
            <a:off x="457200" y="2148840"/>
            <a:ext cx="54864" cy="548640"/>
          </a:xfrm>
          <a:prstGeom prst="rect">
            <a:avLst/>
          </a:prstGeom>
          <a:solidFill>
            <a:srgbClr val="1FA67A"/>
          </a:solidFill>
          <a:ln w="12700">
            <a:solidFill>
              <a:srgbClr val="1FA67A"/>
            </a:solidFill>
            <a:prstDash val="solid"/>
          </a:ln>
        </p:spPr>
      </p:sp>
      <p:sp>
        <p:nvSpPr>
          <p:cNvPr id="9" name="Text 6"/>
          <p:cNvSpPr txBox="1"/>
          <p:nvPr/>
        </p:nvSpPr>
        <p:spPr>
          <a:xfrm>
            <a:off x="685800" y="205740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2.  B) TypeError</a:t>
            </a:r>
            <a:endParaRPr lang="en-US" sz="1500" dirty="0"/>
          </a:p>
          <a:p>
            <a:pPr indent="0" marL="0">
              <a:buNone/>
            </a:pPr>
            <a:r>
              <a:rPr lang="en-US" sz="1300" dirty="0">
                <a:solidFill>
                  <a:srgbClr val="3A4357"/>
                </a:solidFill>
              </a:rPr>
              <a:t>Tuples are immutable; items cannot be assigned.</a:t>
            </a:r>
            <a:endParaRPr lang="en-US" sz="1500" dirty="0"/>
          </a:p>
        </p:txBody>
      </p:sp>
      <p:sp>
        <p:nvSpPr>
          <p:cNvPr id="10" name="Shape 7"/>
          <p:cNvSpPr/>
          <p:nvPr/>
        </p:nvSpPr>
        <p:spPr>
          <a:xfrm>
            <a:off x="457200" y="2926080"/>
            <a:ext cx="8229600" cy="731520"/>
          </a:xfrm>
          <a:prstGeom prst="roundRect">
            <a:avLst>
              <a:gd name="adj" fmla="val 10000"/>
            </a:avLst>
          </a:prstGeom>
          <a:solidFill>
            <a:srgbClr val="F2F5FB"/>
          </a:solidFill>
          <a:ln w="12700">
            <a:solidFill>
              <a:srgbClr val="DDE2EE"/>
            </a:solidFill>
            <a:prstDash val="solid"/>
          </a:ln>
        </p:spPr>
      </p:sp>
      <p:sp>
        <p:nvSpPr>
          <p:cNvPr id="11" name="Shape 8"/>
          <p:cNvSpPr/>
          <p:nvPr/>
        </p:nvSpPr>
        <p:spPr>
          <a:xfrm>
            <a:off x="457200" y="3017520"/>
            <a:ext cx="54864" cy="548640"/>
          </a:xfrm>
          <a:prstGeom prst="rect">
            <a:avLst/>
          </a:prstGeom>
          <a:solidFill>
            <a:srgbClr val="1FA67A"/>
          </a:solidFill>
          <a:ln w="12700">
            <a:solidFill>
              <a:srgbClr val="1FA67A"/>
            </a:solidFill>
            <a:prstDash val="solid"/>
          </a:ln>
        </p:spPr>
      </p:sp>
      <p:sp>
        <p:nvSpPr>
          <p:cNvPr id="12" name="Text 9"/>
          <p:cNvSpPr txBox="1"/>
          <p:nvPr/>
        </p:nvSpPr>
        <p:spPr>
          <a:xfrm>
            <a:off x="685800" y="292608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3.  B) 5</a:t>
            </a:r>
            <a:endParaRPr lang="en-US" sz="1500" dirty="0"/>
          </a:p>
          <a:p>
            <a:pPr indent="0" marL="0">
              <a:buNone/>
            </a:pPr>
            <a:r>
              <a:rPr lang="en-US" sz="1300" dirty="0">
                <a:solidFill>
                  <a:srgbClr val="3A4357"/>
                </a:solidFill>
              </a:rPr>
              <a:t>Unpacking assigns 3 to x and 5 to y.</a:t>
            </a:r>
            <a:endParaRPr lang="en-US" sz="1500" dirty="0"/>
          </a:p>
        </p:txBody>
      </p:sp>
      <p:sp>
        <p:nvSpPr>
          <p:cNvPr id="13" name="Shape 10"/>
          <p:cNvSpPr/>
          <p:nvPr/>
        </p:nvSpPr>
        <p:spPr>
          <a:xfrm>
            <a:off x="457200" y="3794760"/>
            <a:ext cx="8229600" cy="731520"/>
          </a:xfrm>
          <a:prstGeom prst="roundRect">
            <a:avLst>
              <a:gd name="adj" fmla="val 10000"/>
            </a:avLst>
          </a:prstGeom>
          <a:solidFill>
            <a:srgbClr val="F2F5FB"/>
          </a:solidFill>
          <a:ln w="12700">
            <a:solidFill>
              <a:srgbClr val="DDE2EE"/>
            </a:solidFill>
            <a:prstDash val="solid"/>
          </a:ln>
        </p:spPr>
      </p:sp>
      <p:sp>
        <p:nvSpPr>
          <p:cNvPr id="14" name="Shape 11"/>
          <p:cNvSpPr/>
          <p:nvPr/>
        </p:nvSpPr>
        <p:spPr>
          <a:xfrm>
            <a:off x="457200" y="3886200"/>
            <a:ext cx="54864" cy="548640"/>
          </a:xfrm>
          <a:prstGeom prst="rect">
            <a:avLst/>
          </a:prstGeom>
          <a:solidFill>
            <a:srgbClr val="1FA67A"/>
          </a:solidFill>
          <a:ln w="12700">
            <a:solidFill>
              <a:srgbClr val="1FA67A"/>
            </a:solidFill>
            <a:prstDash val="solid"/>
          </a:ln>
        </p:spPr>
      </p:sp>
      <p:sp>
        <p:nvSpPr>
          <p:cNvPr id="15" name="Text 12"/>
          <p:cNvSpPr txBox="1"/>
          <p:nvPr/>
        </p:nvSpPr>
        <p:spPr>
          <a:xfrm>
            <a:off x="685800" y="3794760"/>
            <a:ext cx="7863840" cy="731520"/>
          </a:xfrm>
          <a:prstGeom prst="rect">
            <a:avLst/>
          </a:prstGeom>
          <a:noFill/>
          <a:ln/>
        </p:spPr>
        <p:txBody>
          <a:bodyPr wrap="square" lIns="0" tIns="0" rIns="0" bIns="0" rtlCol="0" anchor="ctr"/>
          <a:lstStyle/>
          <a:p>
            <a:pPr indent="0" marL="0">
              <a:buNone/>
            </a:pPr>
            <a:r>
              <a:rPr lang="en-US" sz="1500" b="1" dirty="0">
                <a:solidFill>
                  <a:srgbClr val="0F1729"/>
                </a:solidFill>
              </a:rPr>
              <a:t>4.  B) x, y = y, x</a:t>
            </a:r>
            <a:endParaRPr lang="en-US" sz="1500" dirty="0"/>
          </a:p>
          <a:p>
            <a:pPr indent="0" marL="0">
              <a:buNone/>
            </a:pPr>
            <a:r>
              <a:rPr lang="en-US" sz="1300" dirty="0">
                <a:solidFill>
                  <a:srgbClr val="3A4357"/>
                </a:solidFill>
              </a:rPr>
              <a:t>Tuple unpacking swaps the values in one line.</a:t>
            </a:r>
            <a:endParaRPr lang="en-US" sz="15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lstStyle/>
          <a:p>
            <a:pPr algn="l" indent="0" marL="0">
              <a:buNone/>
            </a:pPr>
            <a:r>
              <a:rPr lang="en-US" sz="3000" b="1" dirty="0">
                <a:solidFill>
                  <a:srgbClr val="0F1729"/>
                </a:solidFill>
              </a:rPr>
              <a:t>Recap and next steps</a:t>
            </a:r>
            <a:endParaRPr lang="en-US" sz="3000" dirty="0"/>
          </a:p>
        </p:txBody>
      </p:sp>
      <p:sp>
        <p:nvSpPr>
          <p:cNvPr id="4" name="Shape 1"/>
          <p:cNvSpPr/>
          <p:nvPr/>
        </p:nvSpPr>
        <p:spPr>
          <a:xfrm>
            <a:off x="457200" y="1188720"/>
            <a:ext cx="3931920" cy="1005840"/>
          </a:xfrm>
          <a:prstGeom prst="roundRect">
            <a:avLst>
              <a:gd name="adj" fmla="val 7273"/>
            </a:avLst>
          </a:prstGeom>
          <a:solidFill>
            <a:srgbClr val="F2F5FB"/>
          </a:solidFill>
          <a:ln w="12700">
            <a:solidFill>
              <a:srgbClr val="DDE2EE"/>
            </a:solidFill>
            <a:prstDash val="solid"/>
          </a:ln>
        </p:spPr>
      </p:sp>
      <p:sp>
        <p:nvSpPr>
          <p:cNvPr id="5" name="Shape 2"/>
          <p:cNvSpPr/>
          <p:nvPr/>
        </p:nvSpPr>
        <p:spPr>
          <a:xfrm>
            <a:off x="457200" y="1280160"/>
            <a:ext cx="54864" cy="822960"/>
          </a:xfrm>
          <a:prstGeom prst="rect">
            <a:avLst/>
          </a:prstGeom>
          <a:solidFill>
            <a:srgbClr val="D64550"/>
          </a:solidFill>
          <a:ln w="12700">
            <a:solidFill>
              <a:srgbClr val="D64550"/>
            </a:solidFill>
            <a:prstDash val="solid"/>
          </a:ln>
        </p:spPr>
      </p:sp>
      <p:sp>
        <p:nvSpPr>
          <p:cNvPr id="6" name="Text 3"/>
          <p:cNvSpPr txBox="1"/>
          <p:nvPr/>
        </p:nvSpPr>
        <p:spPr>
          <a:xfrm>
            <a:off x="685800" y="1188720"/>
            <a:ext cx="3566160" cy="1005840"/>
          </a:xfrm>
          <a:prstGeom prst="rect">
            <a:avLst/>
          </a:prstGeom>
          <a:noFill/>
          <a:ln/>
        </p:spPr>
        <p:txBody>
          <a:bodyPr wrap="square" lIns="0" tIns="0" rIns="0" bIns="0" rtlCol="0" anchor="ctr"/>
          <a:lstStyle/>
          <a:p>
            <a:pPr indent="0" marL="0">
              <a:buNone/>
            </a:pPr>
            <a:r>
              <a:rPr lang="en-US" sz="1500" b="1" dirty="0">
                <a:solidFill>
                  <a:srgbClr val="0F1729"/>
                </a:solidFill>
              </a:rPr>
              <a:t>Immutable</a:t>
            </a:r>
            <a:endParaRPr lang="en-US" sz="1500" dirty="0"/>
          </a:p>
          <a:p>
            <a:pPr indent="0" marL="0">
              <a:buNone/>
            </a:pPr>
            <a:r>
              <a:rPr lang="en-US" sz="1300" dirty="0">
                <a:solidFill>
                  <a:srgbClr val="3A4357"/>
                </a:solidFill>
              </a:rPr>
              <a:t>Tuples cannot be changed after creation.</a:t>
            </a:r>
            <a:endParaRPr lang="en-US" sz="1500" dirty="0"/>
          </a:p>
        </p:txBody>
      </p:sp>
      <p:sp>
        <p:nvSpPr>
          <p:cNvPr id="7" name="Shape 4"/>
          <p:cNvSpPr/>
          <p:nvPr/>
        </p:nvSpPr>
        <p:spPr>
          <a:xfrm>
            <a:off x="4754880" y="1188720"/>
            <a:ext cx="3931920" cy="1005840"/>
          </a:xfrm>
          <a:prstGeom prst="roundRect">
            <a:avLst>
              <a:gd name="adj" fmla="val 7273"/>
            </a:avLst>
          </a:prstGeom>
          <a:solidFill>
            <a:srgbClr val="F2F5FB"/>
          </a:solidFill>
          <a:ln w="12700">
            <a:solidFill>
              <a:srgbClr val="DDE2EE"/>
            </a:solidFill>
            <a:prstDash val="solid"/>
          </a:ln>
        </p:spPr>
      </p:sp>
      <p:sp>
        <p:nvSpPr>
          <p:cNvPr id="8" name="Shape 5"/>
          <p:cNvSpPr/>
          <p:nvPr/>
        </p:nvSpPr>
        <p:spPr>
          <a:xfrm>
            <a:off x="4754880" y="1280160"/>
            <a:ext cx="54864" cy="822960"/>
          </a:xfrm>
          <a:prstGeom prst="rect">
            <a:avLst/>
          </a:prstGeom>
          <a:solidFill>
            <a:srgbClr val="2F6FED"/>
          </a:solidFill>
          <a:ln w="12700">
            <a:solidFill>
              <a:srgbClr val="2F6FED"/>
            </a:solidFill>
            <a:prstDash val="solid"/>
          </a:ln>
        </p:spPr>
      </p:sp>
      <p:sp>
        <p:nvSpPr>
          <p:cNvPr id="9" name="Text 6"/>
          <p:cNvSpPr txBox="1"/>
          <p:nvPr/>
        </p:nvSpPr>
        <p:spPr>
          <a:xfrm>
            <a:off x="4983480" y="1188720"/>
            <a:ext cx="3566160" cy="1005840"/>
          </a:xfrm>
          <a:prstGeom prst="rect">
            <a:avLst/>
          </a:prstGeom>
          <a:noFill/>
          <a:ln/>
        </p:spPr>
        <p:txBody>
          <a:bodyPr wrap="square" lIns="0" tIns="0" rIns="0" bIns="0" rtlCol="0" anchor="ctr"/>
          <a:lstStyle/>
          <a:p>
            <a:pPr indent="0" marL="0">
              <a:buNone/>
            </a:pPr>
            <a:r>
              <a:rPr lang="en-US" sz="1500" b="1" dirty="0">
                <a:solidFill>
                  <a:srgbClr val="0F1729"/>
                </a:solidFill>
              </a:rPr>
              <a:t>Creating</a:t>
            </a:r>
            <a:endParaRPr lang="en-US" sz="1500" dirty="0"/>
          </a:p>
          <a:p>
            <a:pPr indent="0" marL="0">
              <a:buNone/>
            </a:pPr>
            <a:r>
              <a:rPr lang="en-US" sz="1300" dirty="0">
                <a:solidFill>
                  <a:srgbClr val="3A4357"/>
                </a:solidFill>
              </a:rPr>
              <a:t>Parentheses; single item needs a comma.</a:t>
            </a:r>
            <a:endParaRPr lang="en-US" sz="1500" dirty="0"/>
          </a:p>
        </p:txBody>
      </p:sp>
      <p:sp>
        <p:nvSpPr>
          <p:cNvPr id="10" name="Shape 7"/>
          <p:cNvSpPr/>
          <p:nvPr/>
        </p:nvSpPr>
        <p:spPr>
          <a:xfrm>
            <a:off x="457200" y="2377440"/>
            <a:ext cx="3931920" cy="1005840"/>
          </a:xfrm>
          <a:prstGeom prst="roundRect">
            <a:avLst>
              <a:gd name="adj" fmla="val 7273"/>
            </a:avLst>
          </a:prstGeom>
          <a:solidFill>
            <a:srgbClr val="F2F5FB"/>
          </a:solidFill>
          <a:ln w="12700">
            <a:solidFill>
              <a:srgbClr val="DDE2EE"/>
            </a:solidFill>
            <a:prstDash val="solid"/>
          </a:ln>
        </p:spPr>
      </p:sp>
      <p:sp>
        <p:nvSpPr>
          <p:cNvPr id="11" name="Shape 8"/>
          <p:cNvSpPr/>
          <p:nvPr/>
        </p:nvSpPr>
        <p:spPr>
          <a:xfrm>
            <a:off x="457200" y="2468880"/>
            <a:ext cx="54864" cy="822960"/>
          </a:xfrm>
          <a:prstGeom prst="rect">
            <a:avLst/>
          </a:prstGeom>
          <a:solidFill>
            <a:srgbClr val="1FA67A"/>
          </a:solidFill>
          <a:ln w="12700">
            <a:solidFill>
              <a:srgbClr val="1FA67A"/>
            </a:solidFill>
            <a:prstDash val="solid"/>
          </a:ln>
        </p:spPr>
      </p:sp>
      <p:sp>
        <p:nvSpPr>
          <p:cNvPr id="12" name="Text 9"/>
          <p:cNvSpPr txBox="1"/>
          <p:nvPr/>
        </p:nvSpPr>
        <p:spPr>
          <a:xfrm>
            <a:off x="685800" y="2377440"/>
            <a:ext cx="3566160" cy="1005840"/>
          </a:xfrm>
          <a:prstGeom prst="rect">
            <a:avLst/>
          </a:prstGeom>
          <a:noFill/>
          <a:ln/>
        </p:spPr>
        <p:txBody>
          <a:bodyPr wrap="square" lIns="0" tIns="0" rIns="0" bIns="0" rtlCol="0" anchor="ctr"/>
          <a:lstStyle/>
          <a:p>
            <a:pPr indent="0" marL="0">
              <a:buNone/>
            </a:pPr>
            <a:r>
              <a:rPr lang="en-US" sz="1500" b="1" dirty="0">
                <a:solidFill>
                  <a:srgbClr val="0F1729"/>
                </a:solidFill>
              </a:rPr>
              <a:t>Unpacking</a:t>
            </a:r>
            <a:endParaRPr lang="en-US" sz="1500" dirty="0"/>
          </a:p>
          <a:p>
            <a:pPr indent="0" marL="0">
              <a:buNone/>
            </a:pPr>
            <a:r>
              <a:rPr lang="en-US" sz="1300" dirty="0">
                <a:solidFill>
                  <a:srgbClr val="3A4357"/>
                </a:solidFill>
              </a:rPr>
              <a:t>x, y = point, and swap with x, y = y, x.</a:t>
            </a:r>
            <a:endParaRPr lang="en-US" sz="1500" dirty="0"/>
          </a:p>
        </p:txBody>
      </p:sp>
      <p:sp>
        <p:nvSpPr>
          <p:cNvPr id="13" name="Shape 10"/>
          <p:cNvSpPr/>
          <p:nvPr/>
        </p:nvSpPr>
        <p:spPr>
          <a:xfrm>
            <a:off x="4754880" y="2377440"/>
            <a:ext cx="3931920" cy="1005840"/>
          </a:xfrm>
          <a:prstGeom prst="roundRect">
            <a:avLst>
              <a:gd name="adj" fmla="val 7273"/>
            </a:avLst>
          </a:prstGeom>
          <a:solidFill>
            <a:srgbClr val="F2F5FB"/>
          </a:solidFill>
          <a:ln w="12700">
            <a:solidFill>
              <a:srgbClr val="DDE2EE"/>
            </a:solidFill>
            <a:prstDash val="solid"/>
          </a:ln>
        </p:spPr>
      </p:sp>
      <p:sp>
        <p:nvSpPr>
          <p:cNvPr id="14" name="Shape 11"/>
          <p:cNvSpPr/>
          <p:nvPr/>
        </p:nvSpPr>
        <p:spPr>
          <a:xfrm>
            <a:off x="4754880" y="2468880"/>
            <a:ext cx="54864" cy="822960"/>
          </a:xfrm>
          <a:prstGeom prst="rect">
            <a:avLst/>
          </a:prstGeom>
          <a:solidFill>
            <a:srgbClr val="F5A623"/>
          </a:solidFill>
          <a:ln w="12700">
            <a:solidFill>
              <a:srgbClr val="F5A623"/>
            </a:solidFill>
            <a:prstDash val="solid"/>
          </a:ln>
        </p:spPr>
      </p:sp>
      <p:sp>
        <p:nvSpPr>
          <p:cNvPr id="15" name="Text 12"/>
          <p:cNvSpPr txBox="1"/>
          <p:nvPr/>
        </p:nvSpPr>
        <p:spPr>
          <a:xfrm>
            <a:off x="4983480" y="2377440"/>
            <a:ext cx="3566160" cy="1005840"/>
          </a:xfrm>
          <a:prstGeom prst="rect">
            <a:avLst/>
          </a:prstGeom>
          <a:noFill/>
          <a:ln/>
        </p:spPr>
        <p:txBody>
          <a:bodyPr wrap="square" lIns="0" tIns="0" rIns="0" bIns="0" rtlCol="0" anchor="ctr"/>
          <a:lstStyle/>
          <a:p>
            <a:pPr indent="0" marL="0">
              <a:buNone/>
            </a:pPr>
            <a:r>
              <a:rPr lang="en-US" sz="1500" b="1" dirty="0">
                <a:solidFill>
                  <a:srgbClr val="0F1729"/>
                </a:solidFill>
              </a:rPr>
              <a:t>To change one</a:t>
            </a:r>
            <a:endParaRPr lang="en-US" sz="1500" dirty="0"/>
          </a:p>
          <a:p>
            <a:pPr indent="0" marL="0">
              <a:buNone/>
            </a:pPr>
            <a:r>
              <a:rPr lang="en-US" sz="1300" dirty="0">
                <a:solidFill>
                  <a:srgbClr val="3A4357"/>
                </a:solidFill>
              </a:rPr>
              <a:t>Build a new tuple, or go through a list.</a:t>
            </a:r>
            <a:endParaRPr lang="en-US" sz="1500" dirty="0"/>
          </a:p>
        </p:txBody>
      </p:sp>
      <p:sp>
        <p:nvSpPr>
          <p:cNvPr id="16" name="Text 13"/>
          <p:cNvSpPr txBox="1"/>
          <p:nvPr/>
        </p:nvSpPr>
        <p:spPr>
          <a:xfrm>
            <a:off x="457200" y="3657600"/>
            <a:ext cx="8229600" cy="457200"/>
          </a:xfrm>
          <a:prstGeom prst="rect">
            <a:avLst/>
          </a:prstGeom>
          <a:noFill/>
          <a:ln/>
        </p:spPr>
        <p:txBody>
          <a:bodyPr wrap="square" lIns="0" tIns="0" rIns="0" bIns="0" rtlCol="0" anchor="ctr"/>
          <a:lstStyle/>
          <a:p>
            <a:pPr indent="0" marL="0">
              <a:buNone/>
            </a:pPr>
            <a:r>
              <a:rPr lang="en-US" sz="1600" b="1" dirty="0">
                <a:solidFill>
                  <a:srgbClr val="2F6FED"/>
                </a:solidFill>
              </a:rPr>
              <a:t>Next: Sets, collections of unique items.</a:t>
            </a:r>
            <a:endParaRPr lang="en-US" sz="16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yLearn">
  <a:themeElements>
    <a:clrScheme name="PyLearn">
      <a:dk1>
        <a:srgbClr val="1B1F2A"/>
      </a:dk1>
      <a:lt1>
        <a:srgbClr val="FFFFFF"/>
      </a:lt1>
      <a:dk2>
        <a:srgbClr val="0F1729"/>
      </a:dk2>
      <a:lt2>
        <a:srgbClr val="F2F5FB"/>
      </a:lt2>
      <a:accent1>
        <a:srgbClr val="2F6FED"/>
      </a:accent1>
      <a:accent2>
        <a:srgbClr val="F5A623"/>
      </a:accent2>
      <a:accent3>
        <a:srgbClr val="1FA67A"/>
      </a:accent3>
      <a:accent4>
        <a:srgbClr val="D64550"/>
      </a:accent4>
      <a:accent5>
        <a:srgbClr val="7A5AF8"/>
      </a:accent5>
      <a:accent6>
        <a:srgbClr val="5B6475"/>
      </a:accent6>
      <a:hlink>
        <a:srgbClr val="2F6FED"/>
      </a:hlink>
      <a:folHlink>
        <a:srgbClr val="7A5AF8"/>
      </a:folHlink>
    </a:clrScheme>
    <a:fontScheme name="PyLear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2026-10-15T04:46:14Z</dcterms:created>
  <dcterms:modified xsi:type="dcterms:W3CDTF">2026-10-15T04:46:14Z</dcterms:modified>
</cp:coreProperties>
</file>