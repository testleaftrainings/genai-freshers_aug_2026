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02908E96-AAF2-4C39-8C84-3DBE22F4713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2669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has three parts, following the Functions section of python.datalumina.com: defining functions, parameters, and return values. Plan roughly 60 to 75 minutes including the activity. Opening question: if you had to print the same greeting in ten places in a program, would you copy and paste it ten times? What could go wrong?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parts. Part 1 builds the vocabulary: </a:t>
            </a:r>
            <a:r>
              <a:rPr lang="en-US" dirty="0" err="1"/>
              <a:t>def</a:t>
            </a:r>
            <a:r>
              <a:rPr lang="en-US" dirty="0"/>
              <a:t>, calling, scope. Part 2 makes functions flexible with parameters. Part 3 makes them useful by returning results. Practice boxes on code slides are for the class to try; answers are in these notes. Finish with the team activity and a short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a named block of code that performs a specific task. You define it once and call it whenever you need that task done. Point out the two separate steps: the definition runs nothing by itself, the call is what executes the body. Trace the example: Hello, world! then Welcome to Python! Practice answer: </a:t>
            </a:r>
            <a:r>
              <a:rPr lang="en-US" dirty="0" err="1"/>
              <a:t>def</a:t>
            </a:r>
            <a:r>
              <a:rPr lang="en-US" dirty="0"/>
              <a:t> say_hi(): followed by two indented print("Hi!") lines, then say_hi() on its own unindented 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function has four key parts: the </a:t>
            </a:r>
            <a:r>
              <a:rPr lang="en-US" dirty="0" err="1"/>
              <a:t>def</a:t>
            </a:r>
            <a:r>
              <a:rPr lang="en-US" dirty="0"/>
              <a:t> keyword, a name followed by parentheses, a colon, and an indented body. For naming: lowercase letters, words separated by underscores, and be descriptive about what the function does. In the bad examples, func1 says nothing about its job and Calculate breaks the lowercase convention. Practice answer: send_email and validate_password are good: lowercase, underscores, descriptive. calcTotal is not lowercase with underscores and func2 does not describe what it does.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a function, call it by name with parentheses. The tip from the source: write once, use many times. Three calls of a two-line function print six lines. Functions can also contain any Python code, such as the if and else in check_weather. Ask learners what check_weather prints and why. Practice answer: 6 lines. Set temperature to a value above 30, for example temperature = 35.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where a variable can be used. A local variable is created inside a function and only exists there; printing price outside the function gives a NameError. A global variable is created outside functions and can be read anywhere, including inside functions. When a local and a global variable share a name, the local one shadows the global one inside the function. Practice answer: price is a local variable. It only exists while the function runs and is not defined outside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a global variable inside a function you must declare it with the global keyword. The source warns to avoid global when possible because it makes code harder to understand and debug. The better pattern is to pass values in as parameters and return the result, as in add_amounts. Walk through the second example: total is updated by assigning the returned value. Practice answer: 3. Each call adds 1 to the global counter.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frequent errors. First, forgetting the parentheses when calling: writing greet does not run the function. Second, forgetting the colon after the </a:t>
            </a:r>
            <a:r>
              <a:rPr lang="en-US" dirty="0" err="1"/>
              <a:t>def</a:t>
            </a:r>
            <a:r>
              <a:rPr lang="en-US" dirty="0"/>
              <a:t> line. Third, bad indentation: the function body must be indented. Ask learners to spot each error before revealing the fix. Practice answer: Add the colon after the parentheses and indent the print line: </a:t>
            </a:r>
            <a:r>
              <a:rPr lang="en-US" dirty="0" err="1"/>
              <a:t>def</a:t>
            </a:r>
            <a:r>
              <a:rPr lang="en-US" dirty="0"/>
              <a:t> greet(): then four spaces before print("Hello").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let you pass data into a function, so it works with different inputs instead of hardcoded values. greet_alice only works for Alice; greet(name) works for anyone. You define the parameter in the parentheses and supply the value when you call. Practice answer: </a:t>
            </a:r>
            <a:r>
              <a:rPr lang="en-US" dirty="0" err="1"/>
              <a:t>def</a:t>
            </a:r>
            <a:r>
              <a:rPr lang="en-US" dirty="0"/>
              <a:t> greet(name): print(f"Hello, {name}!") then greet("Sam") prints Hello, Sam!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parameters with commas. When you call the function, the arguments are matched by position, so order matters. The note from the source: the values you pass are arguments and the variables in the definition are parameters, though many people use the terms interchangeably. Check the example: 100 + 8 - 10 gives 98, which prints as 98.0 because the tax is a float. Practice answer: Total: $200.0. The tax is 20.0, so 200 + 20.0 - 20 = 200.0.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parameter a default value to make it optional. If the caller omits it, the default is used; if the caller supplies a value, it overrides the default. The tip from the source: put parameters with defaults at the end, because required parameters must come first. Practice answer: Hi, Meena!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call a function using the parameter names. With keyword arguments, the order does not matter, and the code is clearer to read. Positional arguments depend on order. Show how the two keyword calls give the same kind of result even though the arguments are in a different order. Practice answer: create_profile(city="NYC", name="Alice", age=25) gives the same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mistakes. One: the wrong number of arguments, too few or too many, raises a TypeError. Two: never use a list or other mutable object as a default value. The same list is shared between calls, so changes persist. Use None and create a new list inside the function. Practice answer: The age argument is missing. A function needs one argument for every required parameter.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our functions printed output. Often you want a function to calculate something and give you the result to use elsewhere. A function that only prints displays the value but you cannot use it. A function that returns hands the value back so you can store it. Ask: which of these can you add 2 to? Practice answer: It raises a TypeError. add_print returns None, so you cannot add 2 to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values can be used in many ways: stored in a variable, used in an expressions, passed to another function, or used in a condition. Also, the note from the source: when Python reaches a return statement it exits the function immediately, so any code after return does not run. Practice answer: 16, since 10 + 6.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can return several values at once. They come back as a tuple. You can unpack them into separate variables, or keep the whole tuple. This links to the tuples lesson: unpacking assigns each item to its own variable. Practice answer: (1, 9), a tuple holding the minimum and the maximum.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difference is crucial. A function that only prints returns None, so storing its result gives you None. A function that returns a string gives you something you can use, for example call .upper() on it. Any function without an explicit return statement returns None. The tip from the source: use return when you need the result elsewhere, and print when you just want to display information. Practice answer: None. A function without a return statement returns None.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mistakes. Forgetting to return, so the function calculates but gives back None. Code after return, which is unreachable and never runs. And printing instead of returning: with multiply that only prints, result is None, so result + 10 fails. In each case the fix is to return the value, and put return last. Practice answer: multiply returns None, so None + 10 raises a TypeError. Change print(a * b) to return a * 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classroom activity, not from the source page. Put learners in teams of two or three for about 15 minutes. Each team writes the three functions, tests them with the sample calls, and shares one result with the class. Expected results: rectangle_area(10, 12) gives 120, greet("Sam") prints Hello, Sam!, and get_min_max([5, 2, 8, 1, 9]) gives (1, 9). Early finishers: add a keyword-argument call, and write a function that returns True if a number is even. Debrief: which function used return, and which used print, and why?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two minutes, then show the answers. Q1 tests </a:t>
            </a:r>
            <a:r>
              <a:rPr lang="en-US" dirty="0" err="1"/>
              <a:t>def</a:t>
            </a:r>
            <a:r>
              <a:rPr lang="en-US" dirty="0"/>
              <a:t>, Q2 scope, Q3 default values, Q4 functions without return.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a:t>
            </a:r>
            <a:r>
              <a:rPr lang="en-US" dirty="0" err="1"/>
              <a:t>def</a:t>
            </a:r>
            <a:r>
              <a:rPr lang="en-US" dirty="0"/>
              <a:t> creates a function. Q2: B, local variables only exist inside the function; using them outside gives a NameError. Q3: A, the default greeting is used when the caller omits it. Q4: B, functions without return give back None.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parts. The source page ends by pointing to the next topic, external tools: libraries and APIs. Invite questions and collect any muddy points.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F6FED"/>
          </a:solidFill>
          <a:ln/>
        </p:spPr>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000" b="1" dirty="0">
                <a:solidFill>
                  <a:srgbClr val="0F1729"/>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1463040"/>
          </a:xfrm>
          <a:prstGeom prst="rect">
            <a:avLst/>
          </a:prstGeom>
          <a:solidFill>
            <a:srgbClr val="2F6FED"/>
          </a:solidFill>
          <a:ln w="12700">
            <a:solidFill>
              <a:srgbClr val="2F6FED"/>
            </a:solidFill>
            <a:prstDash val="solid"/>
          </a:ln>
        </p:spPr>
      </p:sp>
      <p:sp>
        <p:nvSpPr>
          <p:cNvPr id="3" name="Text 1"/>
          <p:cNvSpPr txBox="1"/>
          <p:nvPr/>
        </p:nvSpPr>
        <p:spPr>
          <a:xfrm>
            <a:off x="822960" y="1280160"/>
            <a:ext cx="7772400" cy="914400"/>
          </a:xfrm>
          <a:prstGeom prst="rect">
            <a:avLst/>
          </a:prstGeom>
          <a:noFill/>
          <a:ln/>
        </p:spPr>
        <p:txBody>
          <a:bodyPr wrap="square" lIns="0" tIns="0" rIns="0" bIns="0" rtlCol="0" anchor="ctr"/>
          <a:lstStyle/>
          <a:p>
            <a:pPr marL="0" indent="0">
              <a:buNone/>
            </a:pPr>
            <a:r>
              <a:rPr lang="en-US" sz="4600" b="1" dirty="0">
                <a:solidFill>
                  <a:srgbClr val="FFFFFF"/>
                </a:solidFill>
              </a:rPr>
              <a:t>Python Functions</a:t>
            </a:r>
            <a:endParaRPr lang="en-US" sz="4600" dirty="0"/>
          </a:p>
        </p:txBody>
      </p:sp>
      <p:sp>
        <p:nvSpPr>
          <p:cNvPr id="4" name="Text 2"/>
          <p:cNvSpPr txBox="1"/>
          <p:nvPr/>
        </p:nvSpPr>
        <p:spPr>
          <a:xfrm>
            <a:off x="822960" y="2194560"/>
            <a:ext cx="7772400" cy="731520"/>
          </a:xfrm>
          <a:prstGeom prst="rect">
            <a:avLst/>
          </a:prstGeom>
          <a:noFill/>
          <a:ln/>
        </p:spPr>
        <p:txBody>
          <a:bodyPr wrap="square" lIns="0" tIns="0" rIns="0" bIns="0" rtlCol="0" anchor="ctr"/>
          <a:lstStyle/>
          <a:p>
            <a:pPr marL="0" indent="0">
              <a:buNone/>
            </a:pPr>
            <a:r>
              <a:rPr lang="en-US" sz="2000" dirty="0">
                <a:solidFill>
                  <a:srgbClr val="B8C4DC"/>
                </a:solidFill>
              </a:rPr>
              <a:t>Defining functions, parameters and return values</a:t>
            </a:r>
            <a:endParaRPr lang="en-US" sz="2000" dirty="0"/>
          </a:p>
        </p:txBody>
      </p:sp>
      <p:sp>
        <p:nvSpPr>
          <p:cNvPr id="5" name="Text 3"/>
          <p:cNvSpPr txBox="1"/>
          <p:nvPr/>
        </p:nvSpPr>
        <p:spPr>
          <a:xfrm>
            <a:off x="822960" y="4206240"/>
            <a:ext cx="7315200" cy="365760"/>
          </a:xfrm>
          <a:prstGeom prst="rect">
            <a:avLst/>
          </a:prstGeom>
          <a:noFill/>
          <a:ln/>
        </p:spPr>
        <p:txBody>
          <a:bodyPr wrap="square" lIns="0" tIns="0" rIns="0" bIns="0" rtlCol="0" anchor="ctr"/>
          <a:lstStyle/>
          <a:p>
            <a:pPr marL="0" indent="0">
              <a:buNone/>
            </a:pPr>
            <a:r>
              <a:rPr lang="en-US" sz="1300" dirty="0" smtClean="0">
                <a:solidFill>
                  <a:srgbClr val="7F8CA8"/>
                </a:solidFill>
              </a:rPr>
              <a:t>Beginner</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Plan for today</a:t>
            </a:r>
            <a:endParaRPr lang="en-US" sz="3000" dirty="0"/>
          </a:p>
        </p:txBody>
      </p:sp>
      <p:sp>
        <p:nvSpPr>
          <p:cNvPr id="4" name="Shape 1"/>
          <p:cNvSpPr/>
          <p:nvPr/>
        </p:nvSpPr>
        <p:spPr>
          <a:xfrm>
            <a:off x="457200" y="1188720"/>
            <a:ext cx="8229600" cy="777240"/>
          </a:xfrm>
          <a:prstGeom prst="roundRect">
            <a:avLst>
              <a:gd name="adj" fmla="val 9412"/>
            </a:avLst>
          </a:prstGeom>
          <a:solidFill>
            <a:srgbClr val="F2F5FB"/>
          </a:solidFill>
          <a:ln w="12700">
            <a:solidFill>
              <a:srgbClr val="DDE2EE"/>
            </a:solidFill>
            <a:prstDash val="solid"/>
          </a:ln>
        </p:spPr>
      </p:sp>
      <p:sp>
        <p:nvSpPr>
          <p:cNvPr id="5" name="Shape 2"/>
          <p:cNvSpPr/>
          <p:nvPr/>
        </p:nvSpPr>
        <p:spPr>
          <a:xfrm>
            <a:off x="457200" y="1280160"/>
            <a:ext cx="54864" cy="594360"/>
          </a:xfrm>
          <a:prstGeom prst="rect">
            <a:avLst/>
          </a:prstGeom>
          <a:solidFill>
            <a:srgbClr val="2F6FED"/>
          </a:solidFill>
          <a:ln w="12700">
            <a:solidFill>
              <a:srgbClr val="2F6FED"/>
            </a:solidFill>
            <a:prstDash val="solid"/>
          </a:ln>
        </p:spPr>
      </p:sp>
      <p:sp>
        <p:nvSpPr>
          <p:cNvPr id="6" name="Text 3"/>
          <p:cNvSpPr txBox="1"/>
          <p:nvPr/>
        </p:nvSpPr>
        <p:spPr>
          <a:xfrm>
            <a:off x="685800" y="11887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Part 1: Defining functions</a:t>
            </a:r>
            <a:endParaRPr lang="en-US" sz="1500" dirty="0"/>
          </a:p>
          <a:p>
            <a:pPr marL="0" indent="0">
              <a:buNone/>
            </a:pPr>
            <a:r>
              <a:rPr lang="en-US" sz="1300" dirty="0" err="1">
                <a:solidFill>
                  <a:srgbClr val="3A4357"/>
                </a:solidFill>
              </a:rPr>
              <a:t>def</a:t>
            </a:r>
            <a:r>
              <a:rPr lang="en-US" sz="1300" dirty="0">
                <a:solidFill>
                  <a:srgbClr val="3A4357"/>
                </a:solidFill>
              </a:rPr>
              <a:t>, naming, calling, local vs global scope.</a:t>
            </a:r>
            <a:endParaRPr lang="en-US" sz="1500" dirty="0"/>
          </a:p>
        </p:txBody>
      </p:sp>
      <p:sp>
        <p:nvSpPr>
          <p:cNvPr id="7" name="Shape 4"/>
          <p:cNvSpPr/>
          <p:nvPr/>
        </p:nvSpPr>
        <p:spPr>
          <a:xfrm>
            <a:off x="457200" y="2103120"/>
            <a:ext cx="8229600" cy="777240"/>
          </a:xfrm>
          <a:prstGeom prst="roundRect">
            <a:avLst>
              <a:gd name="adj" fmla="val 9412"/>
            </a:avLst>
          </a:prstGeom>
          <a:solidFill>
            <a:srgbClr val="F2F5FB"/>
          </a:solidFill>
          <a:ln w="12700">
            <a:solidFill>
              <a:srgbClr val="DDE2EE"/>
            </a:solidFill>
            <a:prstDash val="solid"/>
          </a:ln>
        </p:spPr>
      </p:sp>
      <p:sp>
        <p:nvSpPr>
          <p:cNvPr id="8" name="Shape 5"/>
          <p:cNvSpPr/>
          <p:nvPr/>
        </p:nvSpPr>
        <p:spPr>
          <a:xfrm>
            <a:off x="457200" y="2194560"/>
            <a:ext cx="54864" cy="594360"/>
          </a:xfrm>
          <a:prstGeom prst="rect">
            <a:avLst/>
          </a:prstGeom>
          <a:solidFill>
            <a:srgbClr val="1FA67A"/>
          </a:solidFill>
          <a:ln w="12700">
            <a:solidFill>
              <a:srgbClr val="1FA67A"/>
            </a:solidFill>
            <a:prstDash val="solid"/>
          </a:ln>
        </p:spPr>
      </p:sp>
      <p:sp>
        <p:nvSpPr>
          <p:cNvPr id="9" name="Text 6"/>
          <p:cNvSpPr txBox="1"/>
          <p:nvPr/>
        </p:nvSpPr>
        <p:spPr>
          <a:xfrm>
            <a:off x="685800" y="21031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Part 2: Parameters</a:t>
            </a:r>
            <a:endParaRPr lang="en-US" sz="1500" dirty="0"/>
          </a:p>
          <a:p>
            <a:pPr marL="0" indent="0">
              <a:buNone/>
            </a:pPr>
            <a:r>
              <a:rPr lang="en-US" sz="1300" dirty="0">
                <a:solidFill>
                  <a:srgbClr val="3A4357"/>
                </a:solidFill>
              </a:rPr>
              <a:t>Pass data in: multiple, default and keyword arguments.</a:t>
            </a:r>
            <a:endParaRPr lang="en-US" sz="1500" dirty="0"/>
          </a:p>
        </p:txBody>
      </p:sp>
      <p:sp>
        <p:nvSpPr>
          <p:cNvPr id="10" name="Shape 7"/>
          <p:cNvSpPr/>
          <p:nvPr/>
        </p:nvSpPr>
        <p:spPr>
          <a:xfrm>
            <a:off x="457200" y="3017520"/>
            <a:ext cx="8229600" cy="777240"/>
          </a:xfrm>
          <a:prstGeom prst="roundRect">
            <a:avLst>
              <a:gd name="adj" fmla="val 9412"/>
            </a:avLst>
          </a:prstGeom>
          <a:solidFill>
            <a:srgbClr val="F2F5FB"/>
          </a:solidFill>
          <a:ln w="12700">
            <a:solidFill>
              <a:srgbClr val="DDE2EE"/>
            </a:solidFill>
            <a:prstDash val="solid"/>
          </a:ln>
        </p:spPr>
      </p:sp>
      <p:sp>
        <p:nvSpPr>
          <p:cNvPr id="11" name="Shape 8"/>
          <p:cNvSpPr/>
          <p:nvPr/>
        </p:nvSpPr>
        <p:spPr>
          <a:xfrm>
            <a:off x="457200" y="3108960"/>
            <a:ext cx="54864" cy="594360"/>
          </a:xfrm>
          <a:prstGeom prst="rect">
            <a:avLst/>
          </a:prstGeom>
          <a:solidFill>
            <a:srgbClr val="F5A623"/>
          </a:solidFill>
          <a:ln w="12700">
            <a:solidFill>
              <a:srgbClr val="F5A623"/>
            </a:solidFill>
            <a:prstDash val="solid"/>
          </a:ln>
        </p:spPr>
      </p:sp>
      <p:sp>
        <p:nvSpPr>
          <p:cNvPr id="12" name="Text 9"/>
          <p:cNvSpPr txBox="1"/>
          <p:nvPr/>
        </p:nvSpPr>
        <p:spPr>
          <a:xfrm>
            <a:off x="685800" y="30175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Part 3: Return values</a:t>
            </a:r>
            <a:endParaRPr lang="en-US" sz="1500" dirty="0"/>
          </a:p>
          <a:p>
            <a:pPr marL="0" indent="0">
              <a:buNone/>
            </a:pPr>
            <a:r>
              <a:rPr lang="en-US" sz="1300" dirty="0">
                <a:solidFill>
                  <a:srgbClr val="3A4357"/>
                </a:solidFill>
              </a:rPr>
              <a:t>Get results back: return vs print, multiple values, None.</a:t>
            </a:r>
            <a:endParaRPr lang="en-US" sz="1500" dirty="0"/>
          </a:p>
        </p:txBody>
      </p:sp>
      <p:sp>
        <p:nvSpPr>
          <p:cNvPr id="13" name="Text 10"/>
          <p:cNvSpPr txBox="1"/>
          <p:nvPr/>
        </p:nvSpPr>
        <p:spPr>
          <a:xfrm>
            <a:off x="457200" y="397764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Then: team activity, quiz and recap.</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Your first function</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Write a function say_hi that prints "Hi!" twice. Then call it.</a:t>
            </a:r>
            <a:endParaRPr lang="en-US" dirty="0"/>
          </a:p>
        </p:txBody>
      </p:sp>
      <p:sp>
        <p:nvSpPr>
          <p:cNvPr id="6" name="Shape 3"/>
          <p:cNvSpPr/>
          <p:nvPr/>
        </p:nvSpPr>
        <p:spPr>
          <a:xfrm>
            <a:off x="457200" y="1188720"/>
            <a:ext cx="5120640" cy="2011680"/>
          </a:xfrm>
          <a:prstGeom prst="roundRect">
            <a:avLst>
              <a:gd name="adj" fmla="val 3636"/>
            </a:avLst>
          </a:prstGeom>
          <a:solidFill>
            <a:srgbClr val="0F1729"/>
          </a:solidFill>
          <a:ln w="12700">
            <a:solidFill>
              <a:srgbClr val="0F1729"/>
            </a:solidFill>
            <a:prstDash val="solid"/>
          </a:ln>
        </p:spPr>
      </p:sp>
      <p:sp>
        <p:nvSpPr>
          <p:cNvPr id="7" name="Text 4"/>
          <p:cNvSpPr txBox="1"/>
          <p:nvPr/>
        </p:nvSpPr>
        <p:spPr>
          <a:xfrm>
            <a:off x="594360" y="1188720"/>
            <a:ext cx="4846320" cy="201168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print("Hello, world!")</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print("Welcome to Python!")</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Call the function</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a:t>
            </a:r>
            <a:r>
              <a:rPr lang="en-US" sz="1300" dirty="0" smtClean="0">
                <a:solidFill>
                  <a:srgbClr val="E6EDF7"/>
                </a:solidFill>
                <a:latin typeface="Consolas" pitchFamily="34" charset="0"/>
                <a:ea typeface="Consolas" pitchFamily="34" charset="-122"/>
                <a:cs typeface="Consolas" pitchFamily="34" charset="-120"/>
              </a:rPr>
              <a:t>()</a:t>
            </a:r>
          </a:p>
          <a:p>
            <a:pPr marL="0" indent="0">
              <a:buNone/>
            </a:pPr>
            <a:r>
              <a:rPr lang="en-US" sz="1300" dirty="0" smtClean="0">
                <a:solidFill>
                  <a:srgbClr val="E6EDF7"/>
                </a:solidFill>
                <a:latin typeface="Consolas" pitchFamily="34" charset="0"/>
              </a:rPr>
              <a:t>greet()</a:t>
            </a:r>
            <a:endParaRPr lang="en-US" sz="1300" dirty="0"/>
          </a:p>
        </p:txBody>
      </p:sp>
      <p:sp>
        <p:nvSpPr>
          <p:cNvPr id="8" name="Shape 5"/>
          <p:cNvSpPr/>
          <p:nvPr/>
        </p:nvSpPr>
        <p:spPr>
          <a:xfrm>
            <a:off x="5852160" y="1188720"/>
            <a:ext cx="2834640" cy="914400"/>
          </a:xfrm>
          <a:prstGeom prst="roundRect">
            <a:avLst>
              <a:gd name="adj" fmla="val 8000"/>
            </a:avLst>
          </a:prstGeom>
          <a:solidFill>
            <a:srgbClr val="F2F5FB"/>
          </a:solidFill>
          <a:ln w="12700">
            <a:solidFill>
              <a:srgbClr val="DDE2EE"/>
            </a:solidFill>
            <a:prstDash val="solid"/>
          </a:ln>
        </p:spPr>
      </p:sp>
      <p:sp>
        <p:nvSpPr>
          <p:cNvPr id="9" name="Shape 6"/>
          <p:cNvSpPr/>
          <p:nvPr/>
        </p:nvSpPr>
        <p:spPr>
          <a:xfrm>
            <a:off x="5852160" y="1280160"/>
            <a:ext cx="54864" cy="731520"/>
          </a:xfrm>
          <a:prstGeom prst="rect">
            <a:avLst/>
          </a:prstGeom>
          <a:solidFill>
            <a:srgbClr val="2F6FED"/>
          </a:solidFill>
          <a:ln w="12700">
            <a:solidFill>
              <a:srgbClr val="2F6FED"/>
            </a:solidFill>
            <a:prstDash val="solid"/>
          </a:ln>
        </p:spPr>
      </p:sp>
      <p:sp>
        <p:nvSpPr>
          <p:cNvPr id="10" name="Text 7"/>
          <p:cNvSpPr txBox="1"/>
          <p:nvPr/>
        </p:nvSpPr>
        <p:spPr>
          <a:xfrm>
            <a:off x="6080760" y="1188720"/>
            <a:ext cx="2468880" cy="914400"/>
          </a:xfrm>
          <a:prstGeom prst="rect">
            <a:avLst/>
          </a:prstGeom>
          <a:noFill/>
          <a:ln/>
        </p:spPr>
        <p:txBody>
          <a:bodyPr wrap="square" lIns="0" tIns="0" rIns="0" bIns="0" rtlCol="0" anchor="ctr"/>
          <a:lstStyle/>
          <a:p>
            <a:pPr marL="0" indent="0">
              <a:buNone/>
            </a:pPr>
            <a:r>
              <a:rPr lang="en-US" sz="1500" b="1" dirty="0">
                <a:solidFill>
                  <a:srgbClr val="0F1729"/>
                </a:solidFill>
              </a:rPr>
              <a:t>Define once</a:t>
            </a:r>
            <a:endParaRPr lang="en-US" sz="1500" dirty="0"/>
          </a:p>
          <a:p>
            <a:pPr marL="0" indent="0">
              <a:buNone/>
            </a:pPr>
            <a:r>
              <a:rPr lang="en-US" sz="1300" dirty="0">
                <a:solidFill>
                  <a:srgbClr val="3A4357"/>
                </a:solidFill>
              </a:rPr>
              <a:t>A named block of code for one task.</a:t>
            </a:r>
            <a:endParaRPr lang="en-US" sz="1500" dirty="0"/>
          </a:p>
        </p:txBody>
      </p:sp>
      <p:sp>
        <p:nvSpPr>
          <p:cNvPr id="11" name="Shape 8"/>
          <p:cNvSpPr/>
          <p:nvPr/>
        </p:nvSpPr>
        <p:spPr>
          <a:xfrm>
            <a:off x="5852160" y="2240280"/>
            <a:ext cx="2834640" cy="914400"/>
          </a:xfrm>
          <a:prstGeom prst="roundRect">
            <a:avLst>
              <a:gd name="adj" fmla="val 8000"/>
            </a:avLst>
          </a:prstGeom>
          <a:solidFill>
            <a:srgbClr val="F2F5FB"/>
          </a:solidFill>
          <a:ln w="12700">
            <a:solidFill>
              <a:srgbClr val="DDE2EE"/>
            </a:solidFill>
            <a:prstDash val="solid"/>
          </a:ln>
        </p:spPr>
      </p:sp>
      <p:sp>
        <p:nvSpPr>
          <p:cNvPr id="12" name="Shape 9"/>
          <p:cNvSpPr/>
          <p:nvPr/>
        </p:nvSpPr>
        <p:spPr>
          <a:xfrm>
            <a:off x="5852160" y="2331720"/>
            <a:ext cx="54864" cy="731520"/>
          </a:xfrm>
          <a:prstGeom prst="rect">
            <a:avLst/>
          </a:prstGeom>
          <a:solidFill>
            <a:srgbClr val="1FA67A"/>
          </a:solidFill>
          <a:ln w="12700">
            <a:solidFill>
              <a:srgbClr val="1FA67A"/>
            </a:solidFill>
            <a:prstDash val="solid"/>
          </a:ln>
        </p:spPr>
      </p:sp>
      <p:sp>
        <p:nvSpPr>
          <p:cNvPr id="13" name="Text 10"/>
          <p:cNvSpPr txBox="1"/>
          <p:nvPr/>
        </p:nvSpPr>
        <p:spPr>
          <a:xfrm>
            <a:off x="6080760" y="2240280"/>
            <a:ext cx="2468880" cy="914400"/>
          </a:xfrm>
          <a:prstGeom prst="rect">
            <a:avLst/>
          </a:prstGeom>
          <a:noFill/>
          <a:ln/>
        </p:spPr>
        <p:txBody>
          <a:bodyPr wrap="square" lIns="0" tIns="0" rIns="0" bIns="0" rtlCol="0" anchor="ctr"/>
          <a:lstStyle/>
          <a:p>
            <a:pPr marL="0" indent="0">
              <a:buNone/>
            </a:pPr>
            <a:r>
              <a:rPr lang="en-US" sz="1500" b="1" dirty="0">
                <a:solidFill>
                  <a:srgbClr val="0F1729"/>
                </a:solidFill>
              </a:rPr>
              <a:t>Call many times</a:t>
            </a:r>
            <a:endParaRPr lang="en-US" sz="1500" dirty="0"/>
          </a:p>
          <a:p>
            <a:pPr marL="0" indent="0">
              <a:buNone/>
            </a:pPr>
            <a:r>
              <a:rPr lang="en-US" sz="1300" dirty="0">
                <a:solidFill>
                  <a:srgbClr val="3A4357"/>
                </a:solidFill>
              </a:rPr>
              <a:t>Use the name and parentheses.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Function syntax and naming</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600" b="1" dirty="0">
                <a:solidFill>
                  <a:srgbClr val="B26B00"/>
                </a:solidFill>
              </a:rPr>
              <a:t>Practice: </a:t>
            </a:r>
            <a:r>
              <a:rPr lang="en-US" sz="1600" dirty="0">
                <a:solidFill>
                  <a:srgbClr val="1B1F2A"/>
                </a:solidFill>
              </a:rPr>
              <a:t>Which names are good: calcTotal, send_email, func2, validate_password? Why?</a:t>
            </a:r>
            <a:endParaRPr lang="en-US" sz="1600" dirty="0"/>
          </a:p>
        </p:txBody>
      </p:sp>
      <p:sp>
        <p:nvSpPr>
          <p:cNvPr id="6" name="Shape 3"/>
          <p:cNvSpPr/>
          <p:nvPr/>
        </p:nvSpPr>
        <p:spPr>
          <a:xfrm>
            <a:off x="457200" y="1097280"/>
            <a:ext cx="4023360" cy="1371600"/>
          </a:xfrm>
          <a:prstGeom prst="roundRect">
            <a:avLst>
              <a:gd name="adj" fmla="val 5333"/>
            </a:avLst>
          </a:prstGeom>
          <a:solidFill>
            <a:srgbClr val="0F1729"/>
          </a:solidFill>
          <a:ln w="12700">
            <a:solidFill>
              <a:srgbClr val="0F1729"/>
            </a:solidFill>
            <a:prstDash val="solid"/>
          </a:ln>
        </p:spPr>
      </p:sp>
      <p:sp>
        <p:nvSpPr>
          <p:cNvPr id="7" name="Text 4"/>
          <p:cNvSpPr txBox="1"/>
          <p:nvPr/>
        </p:nvSpPr>
        <p:spPr>
          <a:xfrm>
            <a:off x="594360" y="1097280"/>
            <a:ext cx="3749040" cy="137160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function_name():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 Code goes here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 Must be indented</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pass</a:t>
            </a:r>
            <a:endParaRPr lang="en-US" sz="1300" dirty="0"/>
          </a:p>
        </p:txBody>
      </p:sp>
      <p:sp>
        <p:nvSpPr>
          <p:cNvPr id="8" name="Shape 5"/>
          <p:cNvSpPr/>
          <p:nvPr/>
        </p:nvSpPr>
        <p:spPr>
          <a:xfrm>
            <a:off x="457200" y="2606040"/>
            <a:ext cx="4023360" cy="1188720"/>
          </a:xfrm>
          <a:prstGeom prst="roundRect">
            <a:avLst>
              <a:gd name="adj" fmla="val 6154"/>
            </a:avLst>
          </a:prstGeom>
          <a:solidFill>
            <a:srgbClr val="F2F5FB"/>
          </a:solidFill>
          <a:ln w="12700">
            <a:solidFill>
              <a:srgbClr val="DDE2EE"/>
            </a:solidFill>
            <a:prstDash val="solid"/>
          </a:ln>
        </p:spPr>
      </p:sp>
      <p:sp>
        <p:nvSpPr>
          <p:cNvPr id="9" name="Shape 6"/>
          <p:cNvSpPr/>
          <p:nvPr/>
        </p:nvSpPr>
        <p:spPr>
          <a:xfrm>
            <a:off x="457200" y="2697480"/>
            <a:ext cx="54864" cy="1005840"/>
          </a:xfrm>
          <a:prstGeom prst="rect">
            <a:avLst/>
          </a:prstGeom>
          <a:solidFill>
            <a:srgbClr val="2F6FED"/>
          </a:solidFill>
          <a:ln w="12700">
            <a:solidFill>
              <a:srgbClr val="2F6FED"/>
            </a:solidFill>
            <a:prstDash val="solid"/>
          </a:ln>
        </p:spPr>
      </p:sp>
      <p:sp>
        <p:nvSpPr>
          <p:cNvPr id="10" name="Text 7"/>
          <p:cNvSpPr txBox="1"/>
          <p:nvPr/>
        </p:nvSpPr>
        <p:spPr>
          <a:xfrm>
            <a:off x="685800" y="2606040"/>
            <a:ext cx="3657600" cy="1188720"/>
          </a:xfrm>
          <a:prstGeom prst="rect">
            <a:avLst/>
          </a:prstGeom>
          <a:noFill/>
          <a:ln/>
        </p:spPr>
        <p:txBody>
          <a:bodyPr wrap="square" lIns="0" tIns="0" rIns="0" bIns="0" rtlCol="0" anchor="ctr"/>
          <a:lstStyle/>
          <a:p>
            <a:pPr marL="0" indent="0">
              <a:buNone/>
            </a:pPr>
            <a:r>
              <a:rPr lang="en-US" sz="1500" b="1" dirty="0">
                <a:solidFill>
                  <a:srgbClr val="0F1729"/>
                </a:solidFill>
              </a:rPr>
              <a:t>Key parts</a:t>
            </a:r>
            <a:endParaRPr lang="en-US" sz="1500" dirty="0"/>
          </a:p>
          <a:p>
            <a:pPr marL="0" indent="0">
              <a:buNone/>
            </a:pPr>
            <a:r>
              <a:rPr lang="en-US" sz="1300" dirty="0" err="1">
                <a:solidFill>
                  <a:srgbClr val="3A4357"/>
                </a:solidFill>
              </a:rPr>
              <a:t>def</a:t>
            </a:r>
            <a:r>
              <a:rPr lang="en-US" sz="1300" dirty="0">
                <a:solidFill>
                  <a:srgbClr val="3A4357"/>
                </a:solidFill>
              </a:rPr>
              <a:t> keyword</a:t>
            </a:r>
            <a:endParaRPr lang="en-US" sz="1500" dirty="0"/>
          </a:p>
          <a:p>
            <a:pPr marL="0" indent="0">
              <a:buNone/>
            </a:pPr>
            <a:r>
              <a:rPr lang="en-US" sz="1300" dirty="0">
                <a:solidFill>
                  <a:srgbClr val="3A4357"/>
                </a:solidFill>
              </a:rPr>
              <a:t>Name followed by ()</a:t>
            </a:r>
            <a:endParaRPr lang="en-US" sz="1500" dirty="0"/>
          </a:p>
          <a:p>
            <a:pPr marL="0" indent="0">
              <a:buNone/>
            </a:pPr>
            <a:r>
              <a:rPr lang="en-US" sz="1300" dirty="0">
                <a:solidFill>
                  <a:srgbClr val="3A4357"/>
                </a:solidFill>
              </a:rPr>
              <a:t>Colon to start the body</a:t>
            </a:r>
            <a:endParaRPr lang="en-US" sz="1500" dirty="0"/>
          </a:p>
          <a:p>
            <a:pPr marL="0" indent="0">
              <a:buNone/>
            </a:pPr>
            <a:r>
              <a:rPr lang="en-US" sz="1300" dirty="0">
                <a:solidFill>
                  <a:srgbClr val="3A4357"/>
                </a:solidFill>
              </a:rPr>
              <a:t>Indented code block</a:t>
            </a:r>
            <a:endParaRPr lang="en-US" sz="1500" dirty="0"/>
          </a:p>
        </p:txBody>
      </p:sp>
      <p:sp>
        <p:nvSpPr>
          <p:cNvPr id="11" name="Shape 8"/>
          <p:cNvSpPr/>
          <p:nvPr/>
        </p:nvSpPr>
        <p:spPr>
          <a:xfrm>
            <a:off x="4663440" y="1097280"/>
            <a:ext cx="4023360" cy="2697480"/>
          </a:xfrm>
          <a:prstGeom prst="roundRect">
            <a:avLst>
              <a:gd name="adj" fmla="val 2712"/>
            </a:avLst>
          </a:prstGeom>
          <a:solidFill>
            <a:srgbClr val="0F1729"/>
          </a:solidFill>
          <a:ln w="12700">
            <a:solidFill>
              <a:srgbClr val="0F1729"/>
            </a:solidFill>
            <a:prstDash val="solid"/>
          </a:ln>
        </p:spPr>
      </p:sp>
      <p:sp>
        <p:nvSpPr>
          <p:cNvPr id="12" name="Text 9"/>
          <p:cNvSpPr txBox="1"/>
          <p:nvPr/>
        </p:nvSpPr>
        <p:spPr>
          <a:xfrm>
            <a:off x="4800600" y="1097280"/>
            <a:ext cx="3749040" cy="2697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Good names</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calculate_total(): ...</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send_email(): ...</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Bad names</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func1():     # not descriptive</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Calculate(): # not lowercase</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Calling functions and adding logic</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A function prints 2 lines. How many lines appear after 3 calls? In check_weather, what would you change to print "It is hot!"?</a:t>
            </a:r>
            <a:endParaRPr lang="en-US" dirty="0"/>
          </a:p>
        </p:txBody>
      </p:sp>
      <p:sp>
        <p:nvSpPr>
          <p:cNvPr id="6" name="Shape 3"/>
          <p:cNvSpPr/>
          <p:nvPr/>
        </p:nvSpPr>
        <p:spPr>
          <a:xfrm>
            <a:off x="457200" y="1097280"/>
            <a:ext cx="4023360" cy="2103120"/>
          </a:xfrm>
          <a:prstGeom prst="roundRect">
            <a:avLst>
              <a:gd name="adj" fmla="val 3478"/>
            </a:avLst>
          </a:prstGeom>
          <a:solidFill>
            <a:srgbClr val="0F1729"/>
          </a:solidFill>
          <a:ln w="12700">
            <a:solidFill>
              <a:srgbClr val="0F1729"/>
            </a:solidFill>
            <a:prstDash val="solid"/>
          </a:ln>
        </p:spPr>
      </p:sp>
      <p:sp>
        <p:nvSpPr>
          <p:cNvPr id="7" name="Text 4"/>
          <p:cNvSpPr txBox="1"/>
          <p:nvPr/>
        </p:nvSpPr>
        <p:spPr>
          <a:xfrm>
            <a:off x="594360" y="1097280"/>
            <a:ext cx="3749040" cy="210312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say_goodbye():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print("Goodbye!")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print("See you later!")</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say_goodbye()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say_goodbye()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say_goodbye()</a:t>
            </a:r>
            <a:endParaRPr lang="en-US" sz="1300" dirty="0"/>
          </a:p>
        </p:txBody>
      </p:sp>
      <p:sp>
        <p:nvSpPr>
          <p:cNvPr id="8" name="Shape 5"/>
          <p:cNvSpPr/>
          <p:nvPr/>
        </p:nvSpPr>
        <p:spPr>
          <a:xfrm>
            <a:off x="4663440" y="1097280"/>
            <a:ext cx="4023360" cy="2651760"/>
          </a:xfrm>
          <a:prstGeom prst="roundRect">
            <a:avLst>
              <a:gd name="adj" fmla="val 2759"/>
            </a:avLst>
          </a:prstGeom>
          <a:solidFill>
            <a:srgbClr val="0F1729"/>
          </a:solidFill>
          <a:ln w="12700">
            <a:solidFill>
              <a:srgbClr val="0F1729"/>
            </a:solidFill>
            <a:prstDash val="solid"/>
          </a:ln>
        </p:spPr>
      </p:sp>
      <p:sp>
        <p:nvSpPr>
          <p:cNvPr id="9" name="Text 6"/>
          <p:cNvSpPr txBox="1"/>
          <p:nvPr/>
        </p:nvSpPr>
        <p:spPr>
          <a:xfrm>
            <a:off x="4800600" y="1097280"/>
            <a:ext cx="3749040" cy="265176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check_weather():</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temperature = 25</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if temperature &gt; 30: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print("It is hot!")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else: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print("Nice weather!")</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check_weather()</a:t>
            </a:r>
            <a:endParaRPr lang="en-US" sz="1300" dirty="0"/>
          </a:p>
        </p:txBody>
      </p:sp>
      <p:sp>
        <p:nvSpPr>
          <p:cNvPr id="10" name="Shape 7"/>
          <p:cNvSpPr/>
          <p:nvPr/>
        </p:nvSpPr>
        <p:spPr>
          <a:xfrm>
            <a:off x="457200" y="3337560"/>
            <a:ext cx="4023360" cy="502920"/>
          </a:xfrm>
          <a:prstGeom prst="roundRect">
            <a:avLst>
              <a:gd name="adj" fmla="val 14545"/>
            </a:avLst>
          </a:prstGeom>
          <a:solidFill>
            <a:srgbClr val="F2F5FB"/>
          </a:solidFill>
          <a:ln w="12700">
            <a:solidFill>
              <a:srgbClr val="DDE2EE"/>
            </a:solidFill>
            <a:prstDash val="solid"/>
          </a:ln>
        </p:spPr>
      </p:sp>
      <p:sp>
        <p:nvSpPr>
          <p:cNvPr id="11" name="Shape 8"/>
          <p:cNvSpPr/>
          <p:nvPr/>
        </p:nvSpPr>
        <p:spPr>
          <a:xfrm>
            <a:off x="457200" y="3429000"/>
            <a:ext cx="54864" cy="320040"/>
          </a:xfrm>
          <a:prstGeom prst="rect">
            <a:avLst/>
          </a:prstGeom>
          <a:solidFill>
            <a:srgbClr val="1FA67A"/>
          </a:solidFill>
          <a:ln w="12700">
            <a:solidFill>
              <a:srgbClr val="1FA67A"/>
            </a:solidFill>
            <a:prstDash val="solid"/>
          </a:ln>
        </p:spPr>
      </p:sp>
      <p:sp>
        <p:nvSpPr>
          <p:cNvPr id="12" name="Text 9"/>
          <p:cNvSpPr txBox="1"/>
          <p:nvPr/>
        </p:nvSpPr>
        <p:spPr>
          <a:xfrm>
            <a:off x="685800" y="3337560"/>
            <a:ext cx="3657600" cy="502920"/>
          </a:xfrm>
          <a:prstGeom prst="rect">
            <a:avLst/>
          </a:prstGeom>
          <a:noFill/>
          <a:ln/>
        </p:spPr>
        <p:txBody>
          <a:bodyPr wrap="square" lIns="0" tIns="0" rIns="0" bIns="0" rtlCol="0" anchor="ctr"/>
          <a:lstStyle/>
          <a:p>
            <a:pPr marL="0" indent="0">
              <a:buNone/>
            </a:pPr>
            <a:r>
              <a:rPr lang="en-US" sz="1500" b="1" dirty="0">
                <a:solidFill>
                  <a:srgbClr val="0F1729"/>
                </a:solidFill>
              </a:rPr>
              <a:t>Write once, use many times</a:t>
            </a:r>
            <a:endParaRPr lang="en-US" sz="1500" dirty="0"/>
          </a:p>
          <a:p>
            <a:pPr marL="0" indent="0">
              <a:buNone/>
            </a:pPr>
            <a:r>
              <a:rPr lang="en-US" sz="1300" dirty="0">
                <a:solidFill>
                  <a:srgbClr val="3A4357"/>
                </a:solidFill>
              </a:rPr>
              <a:t>3 calls, 6 lines printed.</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Variable scope: local and global</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Why does print(price) outside calculate_price </a:t>
            </a:r>
            <a:r>
              <a:rPr lang="en-US" sz="2000" dirty="0">
                <a:solidFill>
                  <a:srgbClr val="1B1F2A"/>
                </a:solidFill>
              </a:rPr>
              <a:t>raise</a:t>
            </a:r>
            <a:r>
              <a:rPr lang="en-US" dirty="0">
                <a:solidFill>
                  <a:srgbClr val="1B1F2A"/>
                </a:solidFill>
              </a:rPr>
              <a:t> a NameError?</a:t>
            </a:r>
            <a:endParaRPr lang="en-US" dirty="0"/>
          </a:p>
        </p:txBody>
      </p:sp>
      <p:sp>
        <p:nvSpPr>
          <p:cNvPr id="6" name="Text 3"/>
          <p:cNvSpPr txBox="1"/>
          <p:nvPr/>
        </p:nvSpPr>
        <p:spPr>
          <a:xfrm>
            <a:off x="457200" y="1051560"/>
            <a:ext cx="4023360" cy="320040"/>
          </a:xfrm>
          <a:prstGeom prst="rect">
            <a:avLst/>
          </a:prstGeom>
          <a:noFill/>
          <a:ln/>
        </p:spPr>
        <p:txBody>
          <a:bodyPr wrap="square" lIns="0" tIns="0" rIns="0" bIns="0" rtlCol="0" anchor="ctr"/>
          <a:lstStyle/>
          <a:p>
            <a:pPr marL="0" indent="0">
              <a:buNone/>
            </a:pPr>
            <a:r>
              <a:rPr lang="en-US" sz="1400" b="1" dirty="0">
                <a:solidFill>
                  <a:srgbClr val="0F1729"/>
                </a:solidFill>
              </a:rPr>
              <a:t>Local variables</a:t>
            </a:r>
            <a:endParaRPr lang="en-US" sz="1400" dirty="0"/>
          </a:p>
        </p:txBody>
      </p:sp>
      <p:sp>
        <p:nvSpPr>
          <p:cNvPr id="7" name="Shape 4"/>
          <p:cNvSpPr/>
          <p:nvPr/>
        </p:nvSpPr>
        <p:spPr>
          <a:xfrm>
            <a:off x="457200" y="1371600"/>
            <a:ext cx="4023360" cy="2377440"/>
          </a:xfrm>
          <a:prstGeom prst="roundRect">
            <a:avLst>
              <a:gd name="adj" fmla="val 3077"/>
            </a:avLst>
          </a:prstGeom>
          <a:solidFill>
            <a:srgbClr val="0F1729"/>
          </a:solidFill>
          <a:ln w="12700">
            <a:solidFill>
              <a:srgbClr val="0F1729"/>
            </a:solidFill>
            <a:prstDash val="solid"/>
          </a:ln>
        </p:spPr>
      </p:sp>
      <p:sp>
        <p:nvSpPr>
          <p:cNvPr id="8" name="Text 5"/>
          <p:cNvSpPr txBox="1"/>
          <p:nvPr/>
        </p:nvSpPr>
        <p:spPr>
          <a:xfrm>
            <a:off x="594360" y="1371600"/>
            <a:ext cx="3749040" cy="237744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calculate_price():</a:t>
            </a:r>
            <a:endParaRPr lang="en-US" sz="1300" dirty="0"/>
          </a:p>
          <a:p>
            <a:pPr marL="0" indent="0">
              <a:buNone/>
            </a:pPr>
            <a:r>
              <a:rPr lang="en-US" sz="1300" dirty="0" smtClean="0">
                <a:solidFill>
                  <a:srgbClr val="E6EDF7"/>
                </a:solidFill>
                <a:latin typeface="Consolas" pitchFamily="34" charset="0"/>
                <a:ea typeface="Consolas" pitchFamily="34" charset="-122"/>
                <a:cs typeface="Consolas" pitchFamily="34" charset="-120"/>
              </a:rPr>
              <a:t>    price = 100</a:t>
            </a:r>
            <a:endParaRPr lang="en-US" sz="1300" dirty="0" smtClean="0"/>
          </a:p>
          <a:p>
            <a:pPr marL="0" indent="0">
              <a:buNone/>
            </a:pPr>
            <a:r>
              <a:rPr lang="en-US" sz="1300" dirty="0" smtClean="0">
                <a:solidFill>
                  <a:srgbClr val="E6EDF7"/>
                </a:solidFill>
                <a:latin typeface="Consolas" pitchFamily="34" charset="0"/>
                <a:ea typeface="Consolas" pitchFamily="34" charset="-122"/>
                <a:cs typeface="Consolas" pitchFamily="34" charset="-120"/>
              </a:rPr>
              <a:t>    tax = price * 0.1</a:t>
            </a:r>
            <a:endParaRPr lang="en-US" sz="1300" dirty="0" smtClean="0"/>
          </a:p>
          <a:p>
            <a:pPr marL="0" indent="0">
              <a:buNone/>
            </a:pPr>
            <a:r>
              <a:rPr lang="en-US" sz="1300" dirty="0" smtClean="0">
                <a:solidFill>
                  <a:srgbClr val="E6EDF7"/>
                </a:solidFill>
                <a:latin typeface="Consolas" pitchFamily="34" charset="0"/>
                <a:ea typeface="Consolas" pitchFamily="34" charset="-122"/>
                <a:cs typeface="Consolas" pitchFamily="34" charset="-120"/>
              </a:rPr>
              <a:t>    </a:t>
            </a:r>
            <a:r>
              <a:rPr lang="en-US" sz="1300" dirty="0">
                <a:solidFill>
                  <a:srgbClr val="E6EDF7"/>
                </a:solidFill>
                <a:latin typeface="Consolas" pitchFamily="34" charset="0"/>
                <a:ea typeface="Consolas" pitchFamily="34" charset="-122"/>
                <a:cs typeface="Consolas" pitchFamily="34" charset="-120"/>
              </a:rPr>
              <a:t>print(f"Total: {price + tax</a:t>
            </a:r>
            <a:r>
              <a:rPr lang="en-US" sz="1300" dirty="0" smtClean="0">
                <a:solidFill>
                  <a:srgbClr val="E6EDF7"/>
                </a:solidFill>
                <a:latin typeface="Consolas" pitchFamily="34" charset="0"/>
                <a:ea typeface="Consolas" pitchFamily="34" charset="-122"/>
                <a:cs typeface="Consolas" pitchFamily="34" charset="-120"/>
              </a:rPr>
              <a:t>}")</a:t>
            </a:r>
            <a:endParaRPr lang="en-US" sz="1300" dirty="0" smtClean="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calculate_price()  # Total: 110.0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print(price)       # NameError</a:t>
            </a:r>
            <a:endParaRPr lang="en-US" sz="1300" dirty="0"/>
          </a:p>
        </p:txBody>
      </p:sp>
      <p:sp>
        <p:nvSpPr>
          <p:cNvPr id="9" name="Text 6"/>
          <p:cNvSpPr txBox="1"/>
          <p:nvPr/>
        </p:nvSpPr>
        <p:spPr>
          <a:xfrm>
            <a:off x="4663440" y="1051560"/>
            <a:ext cx="4023360" cy="320040"/>
          </a:xfrm>
          <a:prstGeom prst="rect">
            <a:avLst/>
          </a:prstGeom>
          <a:noFill/>
          <a:ln/>
        </p:spPr>
        <p:txBody>
          <a:bodyPr wrap="square" lIns="0" tIns="0" rIns="0" bIns="0" rtlCol="0" anchor="ctr"/>
          <a:lstStyle/>
          <a:p>
            <a:pPr marL="0" indent="0">
              <a:buNone/>
            </a:pPr>
            <a:r>
              <a:rPr lang="en-US" sz="1400" b="1" dirty="0">
                <a:solidFill>
                  <a:srgbClr val="0F1729"/>
                </a:solidFill>
              </a:rPr>
              <a:t>Global variables</a:t>
            </a:r>
            <a:endParaRPr lang="en-US" sz="1400" dirty="0"/>
          </a:p>
        </p:txBody>
      </p:sp>
      <p:sp>
        <p:nvSpPr>
          <p:cNvPr id="10" name="Shape 7"/>
          <p:cNvSpPr/>
          <p:nvPr/>
        </p:nvSpPr>
        <p:spPr>
          <a:xfrm>
            <a:off x="4663440" y="1371600"/>
            <a:ext cx="4023360" cy="2377440"/>
          </a:xfrm>
          <a:prstGeom prst="roundRect">
            <a:avLst>
              <a:gd name="adj" fmla="val 3077"/>
            </a:avLst>
          </a:prstGeom>
          <a:solidFill>
            <a:srgbClr val="0F1729"/>
          </a:solidFill>
          <a:ln w="12700">
            <a:solidFill>
              <a:srgbClr val="0F1729"/>
            </a:solidFill>
            <a:prstDash val="solid"/>
          </a:ln>
        </p:spPr>
      </p:sp>
      <p:sp>
        <p:nvSpPr>
          <p:cNvPr id="11" name="Text 8"/>
          <p:cNvSpPr txBox="1"/>
          <p:nvPr/>
        </p:nvSpPr>
        <p:spPr>
          <a:xfrm>
            <a:off x="4800600" y="1371600"/>
            <a:ext cx="3749040" cy="23774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discount_rate = 0.15  # global</a:t>
            </a:r>
            <a:endParaRPr lang="en-US" sz="1300" dirty="0"/>
          </a:p>
          <a:p>
            <a:pPr marL="0" indent="0">
              <a:buNone/>
            </a:pP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apply_discount(price):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discount = price * discount_rate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price - discount</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result = apply_discount(100)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print(result)  # 85.0</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Changing globals, and a better way</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After calling increment() three times, what does counter hold?</a:t>
            </a:r>
            <a:endParaRPr lang="en-US" sz="1300" dirty="0"/>
          </a:p>
        </p:txBody>
      </p:sp>
      <p:sp>
        <p:nvSpPr>
          <p:cNvPr id="6" name="Shape 3"/>
          <p:cNvSpPr/>
          <p:nvPr/>
        </p:nvSpPr>
        <p:spPr>
          <a:xfrm>
            <a:off x="457200" y="1097280"/>
            <a:ext cx="3566160" cy="1920240"/>
          </a:xfrm>
          <a:prstGeom prst="roundRect">
            <a:avLst>
              <a:gd name="adj" fmla="val 3810"/>
            </a:avLst>
          </a:prstGeom>
          <a:solidFill>
            <a:srgbClr val="0F1729"/>
          </a:solidFill>
          <a:ln w="12700">
            <a:solidFill>
              <a:srgbClr val="0F1729"/>
            </a:solidFill>
            <a:prstDash val="solid"/>
          </a:ln>
        </p:spPr>
      </p:sp>
      <p:sp>
        <p:nvSpPr>
          <p:cNvPr id="7" name="Text 4"/>
          <p:cNvSpPr txBox="1"/>
          <p:nvPr/>
        </p:nvSpPr>
        <p:spPr>
          <a:xfrm>
            <a:off x="594360" y="1097280"/>
            <a:ext cx="3291840" cy="19202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counter = 0  # global</a:t>
            </a:r>
            <a:endParaRPr lang="en-US" sz="1300" dirty="0"/>
          </a:p>
          <a:p>
            <a:pPr marL="0" indent="0">
              <a:buNone/>
            </a:pP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increment():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global counter</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counter += 1</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increment()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increment()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print(counter)  # 2</a:t>
            </a:r>
            <a:endParaRPr lang="en-US" sz="1300" dirty="0"/>
          </a:p>
        </p:txBody>
      </p:sp>
      <p:sp>
        <p:nvSpPr>
          <p:cNvPr id="8" name="Shape 5"/>
          <p:cNvSpPr/>
          <p:nvPr/>
        </p:nvSpPr>
        <p:spPr>
          <a:xfrm>
            <a:off x="4206240" y="1097280"/>
            <a:ext cx="4480560" cy="1920240"/>
          </a:xfrm>
          <a:prstGeom prst="roundRect">
            <a:avLst>
              <a:gd name="adj" fmla="val 3810"/>
            </a:avLst>
          </a:prstGeom>
          <a:solidFill>
            <a:srgbClr val="0F1729"/>
          </a:solidFill>
          <a:ln w="12700">
            <a:solidFill>
              <a:srgbClr val="0F1729"/>
            </a:solidFill>
            <a:prstDash val="solid"/>
          </a:ln>
        </p:spPr>
      </p:sp>
      <p:sp>
        <p:nvSpPr>
          <p:cNvPr id="9" name="Text 6"/>
          <p:cNvSpPr txBox="1"/>
          <p:nvPr/>
        </p:nvSpPr>
        <p:spPr>
          <a:xfrm>
            <a:off x="4343400" y="1097280"/>
            <a:ext cx="4206240" cy="1920240"/>
          </a:xfrm>
          <a:prstGeom prst="rect">
            <a:avLst/>
          </a:prstGeom>
          <a:noFill/>
          <a:ln/>
        </p:spPr>
        <p:txBody>
          <a:bodyPr wrap="square" lIns="0" tIns="0" rIns="0" bIns="0" rtlCol="0" anchor="ctr"/>
          <a:lstStyle/>
          <a:p>
            <a:pPr marL="0" indent="0">
              <a:buNone/>
            </a:pPr>
            <a:r>
              <a:rPr lang="en-US" sz="1200" dirty="0" err="1">
                <a:solidFill>
                  <a:srgbClr val="E6EDF7"/>
                </a:solidFill>
                <a:latin typeface="Consolas" pitchFamily="34" charset="0"/>
                <a:ea typeface="Consolas" pitchFamily="34" charset="-122"/>
                <a:cs typeface="Consolas" pitchFamily="34" charset="-120"/>
              </a:rPr>
              <a:t>def</a:t>
            </a:r>
            <a:r>
              <a:rPr lang="en-US" sz="1200" dirty="0">
                <a:solidFill>
                  <a:srgbClr val="E6EDF7"/>
                </a:solidFill>
                <a:latin typeface="Consolas" pitchFamily="34" charset="0"/>
                <a:ea typeface="Consolas" pitchFamily="34" charset="-122"/>
                <a:cs typeface="Consolas" pitchFamily="34" charset="-120"/>
              </a:rPr>
              <a:t> add_amounts(current_total, amount):</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    return current_total + amount</a:t>
            </a:r>
            <a:endParaRPr lang="en-US" sz="1200" dirty="0"/>
          </a:p>
          <a:p>
            <a:pPr marL="0" indent="0">
              <a:buNone/>
            </a:pP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total = 0</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total = add_amounts(total, 10)</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total = add_amounts(total, 20)</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print(total)  # 30</a:t>
            </a:r>
            <a:endParaRPr lang="en-US" sz="1200" dirty="0"/>
          </a:p>
        </p:txBody>
      </p:sp>
      <p:sp>
        <p:nvSpPr>
          <p:cNvPr id="10" name="Shape 7"/>
          <p:cNvSpPr/>
          <p:nvPr/>
        </p:nvSpPr>
        <p:spPr>
          <a:xfrm>
            <a:off x="457200" y="3108960"/>
            <a:ext cx="8229600" cy="685800"/>
          </a:xfrm>
          <a:prstGeom prst="roundRect">
            <a:avLst>
              <a:gd name="adj" fmla="val 10667"/>
            </a:avLst>
          </a:prstGeom>
          <a:solidFill>
            <a:srgbClr val="F2F5FB"/>
          </a:solidFill>
          <a:ln w="12700">
            <a:solidFill>
              <a:srgbClr val="DDE2EE"/>
            </a:solidFill>
            <a:prstDash val="solid"/>
          </a:ln>
        </p:spPr>
      </p:sp>
      <p:sp>
        <p:nvSpPr>
          <p:cNvPr id="11" name="Shape 8"/>
          <p:cNvSpPr/>
          <p:nvPr/>
        </p:nvSpPr>
        <p:spPr>
          <a:xfrm>
            <a:off x="457200" y="3200400"/>
            <a:ext cx="54864" cy="502920"/>
          </a:xfrm>
          <a:prstGeom prst="rect">
            <a:avLst/>
          </a:prstGeom>
          <a:solidFill>
            <a:srgbClr val="D64550"/>
          </a:solidFill>
          <a:ln w="12700">
            <a:solidFill>
              <a:srgbClr val="D64550"/>
            </a:solidFill>
            <a:prstDash val="solid"/>
          </a:ln>
        </p:spPr>
      </p:sp>
      <p:sp>
        <p:nvSpPr>
          <p:cNvPr id="12" name="Text 9"/>
          <p:cNvSpPr txBox="1"/>
          <p:nvPr/>
        </p:nvSpPr>
        <p:spPr>
          <a:xfrm>
            <a:off x="685800" y="3108960"/>
            <a:ext cx="7863840" cy="685800"/>
          </a:xfrm>
          <a:prstGeom prst="rect">
            <a:avLst/>
          </a:prstGeom>
          <a:noFill/>
          <a:ln/>
        </p:spPr>
        <p:txBody>
          <a:bodyPr wrap="square" lIns="0" tIns="0" rIns="0" bIns="0" rtlCol="0" anchor="ctr"/>
          <a:lstStyle/>
          <a:p>
            <a:pPr marL="0" indent="0">
              <a:buNone/>
            </a:pPr>
            <a:r>
              <a:rPr lang="en-US" sz="1500" b="1" dirty="0">
                <a:solidFill>
                  <a:srgbClr val="0F1729"/>
                </a:solidFill>
              </a:rPr>
              <a:t>Avoid global when possible</a:t>
            </a:r>
            <a:endParaRPr lang="en-US" sz="1500" dirty="0"/>
          </a:p>
          <a:p>
            <a:pPr marL="0" indent="0">
              <a:buNone/>
            </a:pPr>
            <a:r>
              <a:rPr lang="en-US" sz="1300" dirty="0">
                <a:solidFill>
                  <a:srgbClr val="3A4357"/>
                </a:solidFill>
              </a:rPr>
              <a:t>Pass values as parameters and return results instead.</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mistakes when defining</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Fix this code:  </a:t>
            </a:r>
            <a:r>
              <a:rPr lang="en-US" dirty="0" err="1">
                <a:solidFill>
                  <a:srgbClr val="1B1F2A"/>
                </a:solidFill>
              </a:rPr>
              <a:t>def</a:t>
            </a:r>
            <a:r>
              <a:rPr lang="en-US" dirty="0">
                <a:solidFill>
                  <a:srgbClr val="1B1F2A"/>
                </a:solidFill>
              </a:rPr>
              <a:t> greet()  then a non-indented print("Hello") line.</a:t>
            </a:r>
            <a:endParaRPr lang="en-US" dirty="0"/>
          </a:p>
        </p:txBody>
      </p:sp>
      <p:sp>
        <p:nvSpPr>
          <p:cNvPr id="6" name="Text 3"/>
          <p:cNvSpPr txBox="1"/>
          <p:nvPr/>
        </p:nvSpPr>
        <p:spPr>
          <a:xfrm>
            <a:off x="457200" y="1051560"/>
            <a:ext cx="2651760" cy="320040"/>
          </a:xfrm>
          <a:prstGeom prst="rect">
            <a:avLst/>
          </a:prstGeom>
          <a:noFill/>
          <a:ln/>
        </p:spPr>
        <p:txBody>
          <a:bodyPr wrap="square" lIns="0" tIns="0" rIns="0" bIns="0" rtlCol="0" anchor="ctr"/>
          <a:lstStyle/>
          <a:p>
            <a:pPr marL="0" indent="0">
              <a:buNone/>
            </a:pPr>
            <a:r>
              <a:rPr lang="en-US" sz="1400" b="1" dirty="0">
                <a:solidFill>
                  <a:srgbClr val="0F1729"/>
                </a:solidFill>
              </a:rPr>
              <a:t>Missing ( ) on a call</a:t>
            </a:r>
            <a:endParaRPr lang="en-US" sz="1400" dirty="0"/>
          </a:p>
        </p:txBody>
      </p:sp>
      <p:sp>
        <p:nvSpPr>
          <p:cNvPr id="7" name="Text 4"/>
          <p:cNvSpPr txBox="1"/>
          <p:nvPr/>
        </p:nvSpPr>
        <p:spPr>
          <a:xfrm>
            <a:off x="3246120" y="1051560"/>
            <a:ext cx="2651760" cy="320040"/>
          </a:xfrm>
          <a:prstGeom prst="rect">
            <a:avLst/>
          </a:prstGeom>
          <a:noFill/>
          <a:ln/>
        </p:spPr>
        <p:txBody>
          <a:bodyPr wrap="square" lIns="0" tIns="0" rIns="0" bIns="0" rtlCol="0" anchor="ctr"/>
          <a:lstStyle/>
          <a:p>
            <a:pPr marL="0" indent="0">
              <a:buNone/>
            </a:pPr>
            <a:r>
              <a:rPr lang="en-US" sz="1400" b="1" dirty="0">
                <a:solidFill>
                  <a:srgbClr val="0F1729"/>
                </a:solidFill>
              </a:rPr>
              <a:t>Missing colon</a:t>
            </a:r>
            <a:endParaRPr lang="en-US" sz="1400" dirty="0"/>
          </a:p>
        </p:txBody>
      </p:sp>
      <p:sp>
        <p:nvSpPr>
          <p:cNvPr id="8" name="Text 5"/>
          <p:cNvSpPr txBox="1"/>
          <p:nvPr/>
        </p:nvSpPr>
        <p:spPr>
          <a:xfrm>
            <a:off x="6035040" y="1051560"/>
            <a:ext cx="2651760" cy="320040"/>
          </a:xfrm>
          <a:prstGeom prst="rect">
            <a:avLst/>
          </a:prstGeom>
          <a:noFill/>
          <a:ln/>
        </p:spPr>
        <p:txBody>
          <a:bodyPr wrap="square" lIns="0" tIns="0" rIns="0" bIns="0" rtlCol="0" anchor="ctr"/>
          <a:lstStyle/>
          <a:p>
            <a:pPr marL="0" indent="0">
              <a:buNone/>
            </a:pPr>
            <a:r>
              <a:rPr lang="en-US" sz="1400" b="1" dirty="0">
                <a:solidFill>
                  <a:srgbClr val="0F1729"/>
                </a:solidFill>
              </a:rPr>
              <a:t>Bad indentation</a:t>
            </a:r>
            <a:endParaRPr lang="en-US" sz="1400" dirty="0"/>
          </a:p>
        </p:txBody>
      </p:sp>
      <p:sp>
        <p:nvSpPr>
          <p:cNvPr id="9" name="Shape 6"/>
          <p:cNvSpPr/>
          <p:nvPr/>
        </p:nvSpPr>
        <p:spPr>
          <a:xfrm>
            <a:off x="457200" y="1371600"/>
            <a:ext cx="2651760" cy="2377440"/>
          </a:xfrm>
          <a:prstGeom prst="roundRect">
            <a:avLst>
              <a:gd name="adj" fmla="val 3077"/>
            </a:avLst>
          </a:prstGeom>
          <a:solidFill>
            <a:srgbClr val="0F1729"/>
          </a:solidFill>
          <a:ln w="12700">
            <a:solidFill>
              <a:srgbClr val="0F1729"/>
            </a:solidFill>
            <a:prstDash val="solid"/>
          </a:ln>
        </p:spPr>
      </p:sp>
      <p:sp>
        <p:nvSpPr>
          <p:cNvPr id="10" name="Text 7"/>
          <p:cNvSpPr txBox="1"/>
          <p:nvPr/>
        </p:nvSpPr>
        <p:spPr>
          <a:xfrm>
            <a:off x="594360" y="1371600"/>
            <a:ext cx="2377440" cy="23774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a:t>
            </a:r>
            <a:endParaRPr lang="en-US" sz="1300" dirty="0"/>
          </a:p>
        </p:txBody>
      </p:sp>
      <p:sp>
        <p:nvSpPr>
          <p:cNvPr id="11" name="Shape 8"/>
          <p:cNvSpPr/>
          <p:nvPr/>
        </p:nvSpPr>
        <p:spPr>
          <a:xfrm>
            <a:off x="3246120" y="1371600"/>
            <a:ext cx="2651760" cy="2377440"/>
          </a:xfrm>
          <a:prstGeom prst="roundRect">
            <a:avLst>
              <a:gd name="adj" fmla="val 3077"/>
            </a:avLst>
          </a:prstGeom>
          <a:solidFill>
            <a:srgbClr val="0F1729"/>
          </a:solidFill>
          <a:ln w="12700">
            <a:solidFill>
              <a:srgbClr val="0F1729"/>
            </a:solidFill>
            <a:prstDash val="solid"/>
          </a:ln>
        </p:spPr>
      </p:sp>
      <p:sp>
        <p:nvSpPr>
          <p:cNvPr id="12" name="Text 9"/>
          <p:cNvSpPr txBox="1"/>
          <p:nvPr/>
        </p:nvSpPr>
        <p:spPr>
          <a:xfrm>
            <a:off x="3383280" y="1371600"/>
            <a:ext cx="2377440" cy="23774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print("Hi")</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print("Hi")</a:t>
            </a:r>
            <a:endParaRPr lang="en-US" sz="1300" dirty="0"/>
          </a:p>
        </p:txBody>
      </p:sp>
      <p:sp>
        <p:nvSpPr>
          <p:cNvPr id="13" name="Shape 10"/>
          <p:cNvSpPr/>
          <p:nvPr/>
        </p:nvSpPr>
        <p:spPr>
          <a:xfrm>
            <a:off x="6035040" y="1371600"/>
            <a:ext cx="2651760" cy="2377440"/>
          </a:xfrm>
          <a:prstGeom prst="roundRect">
            <a:avLst>
              <a:gd name="adj" fmla="val 3077"/>
            </a:avLst>
          </a:prstGeom>
          <a:solidFill>
            <a:srgbClr val="0F1729"/>
          </a:solidFill>
          <a:ln w="12700">
            <a:solidFill>
              <a:srgbClr val="0F1729"/>
            </a:solidFill>
            <a:prstDash val="solid"/>
          </a:ln>
        </p:spPr>
      </p:sp>
      <p:sp>
        <p:nvSpPr>
          <p:cNvPr id="14" name="Text 11"/>
          <p:cNvSpPr txBox="1"/>
          <p:nvPr/>
        </p:nvSpPr>
        <p:spPr>
          <a:xfrm>
            <a:off x="6220645" y="1417320"/>
            <a:ext cx="2377440" cy="23774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print("Hi")</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print("Hi")</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What are parameters?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b="1" dirty="0">
                <a:solidFill>
                  <a:srgbClr val="B26B00"/>
                </a:solidFill>
              </a:rPr>
              <a:t>Practice: </a:t>
            </a:r>
            <a:r>
              <a:rPr lang="en-US" dirty="0">
                <a:solidFill>
                  <a:srgbClr val="1B1F2A"/>
                </a:solidFill>
              </a:rPr>
              <a:t>Write greet(name) that prints "Hello, &lt;name&gt;!" and call it for "Sam".</a:t>
            </a:r>
            <a:endParaRPr lang="en-US" dirty="0"/>
          </a:p>
        </p:txBody>
      </p:sp>
      <p:sp>
        <p:nvSpPr>
          <p:cNvPr id="6" name="Shape 3"/>
          <p:cNvSpPr/>
          <p:nvPr/>
        </p:nvSpPr>
        <p:spPr>
          <a:xfrm>
            <a:off x="457200" y="1097280"/>
            <a:ext cx="5120640" cy="2697480"/>
          </a:xfrm>
          <a:prstGeom prst="roundRect">
            <a:avLst>
              <a:gd name="adj" fmla="val 2712"/>
            </a:avLst>
          </a:prstGeom>
          <a:solidFill>
            <a:srgbClr val="0F1729"/>
          </a:solidFill>
          <a:ln w="12700">
            <a:solidFill>
              <a:srgbClr val="0F1729"/>
            </a:solidFill>
            <a:prstDash val="solid"/>
          </a:ln>
        </p:spPr>
      </p:sp>
      <p:sp>
        <p:nvSpPr>
          <p:cNvPr id="7" name="Text 4"/>
          <p:cNvSpPr txBox="1"/>
          <p:nvPr/>
        </p:nvSpPr>
        <p:spPr>
          <a:xfrm>
            <a:off x="594360" y="1097280"/>
            <a:ext cx="4846320" cy="2697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Inflexible</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t>
            </a:r>
            <a:r>
              <a:rPr lang="en-US" sz="1300" dirty="0" err="1" smtClean="0">
                <a:solidFill>
                  <a:srgbClr val="E6EDF7"/>
                </a:solidFill>
                <a:latin typeface="Consolas" pitchFamily="34" charset="0"/>
                <a:ea typeface="Consolas" pitchFamily="34" charset="-122"/>
                <a:cs typeface="Consolas" pitchFamily="34" charset="-120"/>
              </a:rPr>
              <a:t>print_hello</a:t>
            </a:r>
            <a:r>
              <a:rPr lang="en-US" sz="1300" dirty="0" smtClean="0">
                <a:solidFill>
                  <a:srgbClr val="E6EDF7"/>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a:t>
            </a:r>
            <a:r>
              <a:rPr lang="en-US" sz="1300" dirty="0" smtClean="0">
                <a:solidFill>
                  <a:srgbClr val="E6EDF7"/>
                </a:solidFill>
                <a:latin typeface="Consolas" pitchFamily="34" charset="0"/>
                <a:ea typeface="Consolas" pitchFamily="34" charset="-122"/>
                <a:cs typeface="Consolas" pitchFamily="34" charset="-120"/>
              </a:rPr>
              <a:t>print("Hello, Alice!")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Flexible</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greet(name</a:t>
            </a:r>
            <a:r>
              <a:rPr lang="en-US" sz="1300" dirty="0" smtClean="0">
                <a:solidFill>
                  <a:srgbClr val="E6EDF7"/>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print(f"Hello, {name}!")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greet("Alice")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greet("Bob")</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greet("Charlie")</a:t>
            </a:r>
            <a:endParaRPr lang="en-US" sz="1300" dirty="0"/>
          </a:p>
        </p:txBody>
      </p:sp>
      <p:sp>
        <p:nvSpPr>
          <p:cNvPr id="8" name="Shape 5"/>
          <p:cNvSpPr/>
          <p:nvPr/>
        </p:nvSpPr>
        <p:spPr>
          <a:xfrm>
            <a:off x="5852160" y="1097280"/>
            <a:ext cx="2834640" cy="1005840"/>
          </a:xfrm>
          <a:prstGeom prst="roundRect">
            <a:avLst>
              <a:gd name="adj" fmla="val 7273"/>
            </a:avLst>
          </a:prstGeom>
          <a:solidFill>
            <a:srgbClr val="F2F5FB"/>
          </a:solidFill>
          <a:ln w="12700">
            <a:solidFill>
              <a:srgbClr val="DDE2EE"/>
            </a:solidFill>
            <a:prstDash val="solid"/>
          </a:ln>
        </p:spPr>
      </p:sp>
      <p:sp>
        <p:nvSpPr>
          <p:cNvPr id="9" name="Shape 6"/>
          <p:cNvSpPr/>
          <p:nvPr/>
        </p:nvSpPr>
        <p:spPr>
          <a:xfrm>
            <a:off x="5852160" y="1188720"/>
            <a:ext cx="54864" cy="822960"/>
          </a:xfrm>
          <a:prstGeom prst="rect">
            <a:avLst/>
          </a:prstGeom>
          <a:solidFill>
            <a:srgbClr val="D64550"/>
          </a:solidFill>
          <a:ln w="12700">
            <a:solidFill>
              <a:srgbClr val="D64550"/>
            </a:solidFill>
            <a:prstDash val="solid"/>
          </a:ln>
        </p:spPr>
      </p:sp>
      <p:sp>
        <p:nvSpPr>
          <p:cNvPr id="10" name="Text 7"/>
          <p:cNvSpPr txBox="1"/>
          <p:nvPr/>
        </p:nvSpPr>
        <p:spPr>
          <a:xfrm>
            <a:off x="6080760" y="1097280"/>
            <a:ext cx="2468880" cy="1005840"/>
          </a:xfrm>
          <a:prstGeom prst="rect">
            <a:avLst/>
          </a:prstGeom>
          <a:noFill/>
          <a:ln/>
        </p:spPr>
        <p:txBody>
          <a:bodyPr wrap="square" lIns="0" tIns="0" rIns="0" bIns="0" rtlCol="0" anchor="ctr"/>
          <a:lstStyle/>
          <a:p>
            <a:pPr marL="0" indent="0">
              <a:buNone/>
            </a:pPr>
            <a:r>
              <a:rPr lang="en-US" sz="1500" b="1" dirty="0">
                <a:solidFill>
                  <a:srgbClr val="0F1729"/>
                </a:solidFill>
              </a:rPr>
              <a:t>Inflexible</a:t>
            </a:r>
            <a:endParaRPr lang="en-US" sz="1500" dirty="0"/>
          </a:p>
          <a:p>
            <a:pPr marL="0" indent="0">
              <a:buNone/>
            </a:pPr>
            <a:r>
              <a:rPr lang="en-US" sz="1300" dirty="0">
                <a:solidFill>
                  <a:srgbClr val="3A4357"/>
                </a:solidFill>
              </a:rPr>
              <a:t>Values are hardcoded inside the function.</a:t>
            </a:r>
            <a:endParaRPr lang="en-US" sz="1500" dirty="0"/>
          </a:p>
        </p:txBody>
      </p:sp>
      <p:sp>
        <p:nvSpPr>
          <p:cNvPr id="11" name="Shape 8"/>
          <p:cNvSpPr/>
          <p:nvPr/>
        </p:nvSpPr>
        <p:spPr>
          <a:xfrm>
            <a:off x="5852160" y="2240280"/>
            <a:ext cx="2834640" cy="1005840"/>
          </a:xfrm>
          <a:prstGeom prst="roundRect">
            <a:avLst>
              <a:gd name="adj" fmla="val 7273"/>
            </a:avLst>
          </a:prstGeom>
          <a:solidFill>
            <a:srgbClr val="F2F5FB"/>
          </a:solidFill>
          <a:ln w="12700">
            <a:solidFill>
              <a:srgbClr val="DDE2EE"/>
            </a:solidFill>
            <a:prstDash val="solid"/>
          </a:ln>
        </p:spPr>
      </p:sp>
      <p:sp>
        <p:nvSpPr>
          <p:cNvPr id="12" name="Shape 9"/>
          <p:cNvSpPr/>
          <p:nvPr/>
        </p:nvSpPr>
        <p:spPr>
          <a:xfrm>
            <a:off x="5852160" y="2331720"/>
            <a:ext cx="54864" cy="822960"/>
          </a:xfrm>
          <a:prstGeom prst="rect">
            <a:avLst/>
          </a:prstGeom>
          <a:solidFill>
            <a:srgbClr val="1FA67A"/>
          </a:solidFill>
          <a:ln w="12700">
            <a:solidFill>
              <a:srgbClr val="1FA67A"/>
            </a:solidFill>
            <a:prstDash val="solid"/>
          </a:ln>
        </p:spPr>
      </p:sp>
      <p:sp>
        <p:nvSpPr>
          <p:cNvPr id="13" name="Text 10"/>
          <p:cNvSpPr txBox="1"/>
          <p:nvPr/>
        </p:nvSpPr>
        <p:spPr>
          <a:xfrm>
            <a:off x="6080760" y="2240280"/>
            <a:ext cx="2468880" cy="1005840"/>
          </a:xfrm>
          <a:prstGeom prst="rect">
            <a:avLst/>
          </a:prstGeom>
          <a:noFill/>
          <a:ln/>
        </p:spPr>
        <p:txBody>
          <a:bodyPr wrap="square" lIns="0" tIns="0" rIns="0" bIns="0" rtlCol="0" anchor="ctr"/>
          <a:lstStyle/>
          <a:p>
            <a:pPr marL="0" indent="0">
              <a:buNone/>
            </a:pPr>
            <a:r>
              <a:rPr lang="en-US" sz="1500" b="1" dirty="0">
                <a:solidFill>
                  <a:srgbClr val="0F1729"/>
                </a:solidFill>
              </a:rPr>
              <a:t>Flexible</a:t>
            </a:r>
            <a:endParaRPr lang="en-US" sz="1500" dirty="0"/>
          </a:p>
          <a:p>
            <a:pPr marL="0" indent="0">
              <a:buNone/>
            </a:pPr>
            <a:r>
              <a:rPr lang="en-US" sz="1300" dirty="0">
                <a:solidFill>
                  <a:srgbClr val="3A4357"/>
                </a:solidFill>
              </a:rPr>
              <a:t>Now it works for anyone.</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Multiple parameters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What does calculate_total(200, 0.1, 20) print?</a:t>
            </a:r>
            <a:endParaRPr lang="en-US" sz="1300" dirty="0"/>
          </a:p>
        </p:txBody>
      </p:sp>
      <p:sp>
        <p:nvSpPr>
          <p:cNvPr id="6" name="Shape 3"/>
          <p:cNvSpPr/>
          <p:nvPr/>
        </p:nvSpPr>
        <p:spPr>
          <a:xfrm>
            <a:off x="457200" y="1097280"/>
            <a:ext cx="3383280" cy="2011680"/>
          </a:xfrm>
          <a:prstGeom prst="roundRect">
            <a:avLst>
              <a:gd name="adj" fmla="val 3636"/>
            </a:avLst>
          </a:prstGeom>
          <a:solidFill>
            <a:srgbClr val="0F1729"/>
          </a:solidFill>
          <a:ln w="12700">
            <a:solidFill>
              <a:srgbClr val="0F1729"/>
            </a:solidFill>
            <a:prstDash val="solid"/>
          </a:ln>
        </p:spPr>
      </p:sp>
      <p:sp>
        <p:nvSpPr>
          <p:cNvPr id="7" name="Text 4"/>
          <p:cNvSpPr txBox="1"/>
          <p:nvPr/>
        </p:nvSpPr>
        <p:spPr>
          <a:xfrm>
            <a:off x="594360" y="1097280"/>
            <a:ext cx="3108960" cy="2011680"/>
          </a:xfrm>
          <a:prstGeom prst="rect">
            <a:avLst/>
          </a:prstGeom>
          <a:noFill/>
          <a:ln/>
        </p:spPr>
        <p:txBody>
          <a:bodyPr wrap="square" lIns="0" tIns="0" rIns="0" bIns="0" rtlCol="0" anchor="ctr"/>
          <a:lstStyle/>
          <a:p>
            <a:pPr marL="0" indent="0">
              <a:buNone/>
            </a:pPr>
            <a:r>
              <a:rPr lang="en-US" sz="1100" dirty="0" err="1">
                <a:solidFill>
                  <a:srgbClr val="E6EDF7"/>
                </a:solidFill>
                <a:latin typeface="Consolas" pitchFamily="34" charset="0"/>
                <a:ea typeface="Consolas" pitchFamily="34" charset="-122"/>
                <a:cs typeface="Consolas" pitchFamily="34" charset="-120"/>
              </a:rPr>
              <a:t>def</a:t>
            </a:r>
            <a:r>
              <a:rPr lang="en-US" sz="1100" dirty="0">
                <a:solidFill>
                  <a:srgbClr val="E6EDF7"/>
                </a:solidFill>
                <a:latin typeface="Consolas" pitchFamily="34" charset="0"/>
                <a:ea typeface="Consolas" pitchFamily="34" charset="-122"/>
                <a:cs typeface="Consolas" pitchFamily="34" charset="-120"/>
              </a:rPr>
              <a:t> introduce(name, age):</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    print(f"My name is {name}")</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    print(f"I am {age} years old")</a:t>
            </a:r>
            <a:endParaRPr lang="en-US" sz="1100" dirty="0"/>
          </a:p>
          <a:p>
            <a:pPr marL="0" indent="0">
              <a:buNone/>
            </a:pP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introduce("Alice", 25)</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introduce("Bob", 30)</a:t>
            </a:r>
            <a:endParaRPr lang="en-US" sz="1100" dirty="0"/>
          </a:p>
        </p:txBody>
      </p:sp>
      <p:sp>
        <p:nvSpPr>
          <p:cNvPr id="8" name="Shape 5"/>
          <p:cNvSpPr/>
          <p:nvPr/>
        </p:nvSpPr>
        <p:spPr>
          <a:xfrm>
            <a:off x="4023360" y="1097280"/>
            <a:ext cx="4663440" cy="2011680"/>
          </a:xfrm>
          <a:prstGeom prst="roundRect">
            <a:avLst>
              <a:gd name="adj" fmla="val 3636"/>
            </a:avLst>
          </a:prstGeom>
          <a:solidFill>
            <a:srgbClr val="0F1729"/>
          </a:solidFill>
          <a:ln w="12700">
            <a:solidFill>
              <a:srgbClr val="0F1729"/>
            </a:solidFill>
            <a:prstDash val="solid"/>
          </a:ln>
        </p:spPr>
      </p:sp>
      <p:sp>
        <p:nvSpPr>
          <p:cNvPr id="9" name="Text 6"/>
          <p:cNvSpPr txBox="1"/>
          <p:nvPr/>
        </p:nvSpPr>
        <p:spPr>
          <a:xfrm>
            <a:off x="4160520" y="1097280"/>
            <a:ext cx="4389120" cy="2011680"/>
          </a:xfrm>
          <a:prstGeom prst="rect">
            <a:avLst/>
          </a:prstGeom>
          <a:noFill/>
          <a:ln/>
        </p:spPr>
        <p:txBody>
          <a:bodyPr wrap="square" lIns="0" tIns="0" rIns="0" bIns="0" rtlCol="0" anchor="ctr"/>
          <a:lstStyle/>
          <a:p>
            <a:pPr marL="0" indent="0">
              <a:buNone/>
            </a:pPr>
            <a:r>
              <a:rPr lang="en-US" sz="1100" dirty="0" err="1">
                <a:solidFill>
                  <a:srgbClr val="E6EDF7"/>
                </a:solidFill>
                <a:latin typeface="Consolas" pitchFamily="34" charset="0"/>
                <a:ea typeface="Consolas" pitchFamily="34" charset="-122"/>
                <a:cs typeface="Consolas" pitchFamily="34" charset="-120"/>
              </a:rPr>
              <a:t>def</a:t>
            </a:r>
            <a:r>
              <a:rPr lang="en-US" sz="1100" dirty="0">
                <a:solidFill>
                  <a:srgbClr val="E6EDF7"/>
                </a:solidFill>
                <a:latin typeface="Consolas" pitchFamily="34" charset="0"/>
                <a:ea typeface="Consolas" pitchFamily="34" charset="-122"/>
                <a:cs typeface="Consolas" pitchFamily="34" charset="-120"/>
              </a:rPr>
              <a:t> calculate_total(price, tax_rate, discount):</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    tax = price * tax_rate</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    final_price = price + tax - discount</a:t>
            </a: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    print(f"Total: ${final_price}")</a:t>
            </a:r>
            <a:endParaRPr lang="en-US" sz="1100" dirty="0"/>
          </a:p>
          <a:p>
            <a:pPr marL="0" indent="0">
              <a:buNone/>
            </a:pPr>
            <a:endParaRPr lang="en-US" sz="1100" dirty="0"/>
          </a:p>
          <a:p>
            <a:pPr marL="0" indent="0">
              <a:buNone/>
            </a:pPr>
            <a:r>
              <a:rPr lang="en-US" sz="1100" dirty="0">
                <a:solidFill>
                  <a:srgbClr val="E6EDF7"/>
                </a:solidFill>
                <a:latin typeface="Consolas" pitchFamily="34" charset="0"/>
                <a:ea typeface="Consolas" pitchFamily="34" charset="-122"/>
                <a:cs typeface="Consolas" pitchFamily="34" charset="-120"/>
              </a:rPr>
              <a:t>calculate_total(100, 0.08, 10)</a:t>
            </a:r>
            <a:endParaRPr lang="en-US" sz="1100" dirty="0"/>
          </a:p>
        </p:txBody>
      </p:sp>
      <p:sp>
        <p:nvSpPr>
          <p:cNvPr id="10" name="Shape 7"/>
          <p:cNvSpPr/>
          <p:nvPr/>
        </p:nvSpPr>
        <p:spPr>
          <a:xfrm>
            <a:off x="457200" y="3246120"/>
            <a:ext cx="8229600" cy="640080"/>
          </a:xfrm>
          <a:prstGeom prst="roundRect">
            <a:avLst>
              <a:gd name="adj" fmla="val 11429"/>
            </a:avLst>
          </a:prstGeom>
          <a:solidFill>
            <a:srgbClr val="F2F5FB"/>
          </a:solidFill>
          <a:ln w="12700">
            <a:solidFill>
              <a:srgbClr val="DDE2EE"/>
            </a:solidFill>
            <a:prstDash val="solid"/>
          </a:ln>
        </p:spPr>
      </p:sp>
      <p:sp>
        <p:nvSpPr>
          <p:cNvPr id="11" name="Shape 8"/>
          <p:cNvSpPr/>
          <p:nvPr/>
        </p:nvSpPr>
        <p:spPr>
          <a:xfrm>
            <a:off x="457200" y="3337560"/>
            <a:ext cx="54864" cy="457200"/>
          </a:xfrm>
          <a:prstGeom prst="rect">
            <a:avLst/>
          </a:prstGeom>
          <a:solidFill>
            <a:srgbClr val="F5A623"/>
          </a:solidFill>
          <a:ln w="12700">
            <a:solidFill>
              <a:srgbClr val="F5A623"/>
            </a:solidFill>
            <a:prstDash val="solid"/>
          </a:ln>
        </p:spPr>
      </p:sp>
      <p:sp>
        <p:nvSpPr>
          <p:cNvPr id="12" name="Text 9"/>
          <p:cNvSpPr txBox="1"/>
          <p:nvPr/>
        </p:nvSpPr>
        <p:spPr>
          <a:xfrm>
            <a:off x="685800" y="3246120"/>
            <a:ext cx="7863840" cy="640080"/>
          </a:xfrm>
          <a:prstGeom prst="rect">
            <a:avLst/>
          </a:prstGeom>
          <a:noFill/>
          <a:ln/>
        </p:spPr>
        <p:txBody>
          <a:bodyPr wrap="square" lIns="0" tIns="0" rIns="0" bIns="0" rtlCol="0" anchor="ctr"/>
          <a:lstStyle/>
          <a:p>
            <a:pPr marL="0" indent="0">
              <a:buNone/>
            </a:pPr>
            <a:r>
              <a:rPr lang="en-US" sz="1500" b="1" dirty="0">
                <a:solidFill>
                  <a:srgbClr val="0F1729"/>
                </a:solidFill>
              </a:rPr>
              <a:t>Parameters vs arguments</a:t>
            </a:r>
            <a:endParaRPr lang="en-US" sz="1500" dirty="0"/>
          </a:p>
          <a:p>
            <a:pPr marL="0" indent="0">
              <a:buNone/>
            </a:pPr>
            <a:r>
              <a:rPr lang="en-US" sz="1300" dirty="0">
                <a:solidFill>
                  <a:srgbClr val="3A4357"/>
                </a:solidFill>
              </a:rPr>
              <a:t>Parameters are the variables in the definition. Arguments are the values you pass. Order matters!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Default values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600" b="1" dirty="0">
                <a:solidFill>
                  <a:srgbClr val="B26B00"/>
                </a:solidFill>
              </a:rPr>
              <a:t>Practice: </a:t>
            </a:r>
            <a:r>
              <a:rPr lang="en-US" sz="1600" dirty="0">
                <a:solidFill>
                  <a:srgbClr val="1B1F2A"/>
                </a:solidFill>
              </a:rPr>
              <a:t>With greet(name, greeting="Hello"), what does greet("Meena", "Hi") print?</a:t>
            </a:r>
            <a:endParaRPr lang="en-US" sz="1600" dirty="0"/>
          </a:p>
        </p:txBody>
      </p:sp>
      <p:sp>
        <p:nvSpPr>
          <p:cNvPr id="6" name="Shape 3"/>
          <p:cNvSpPr/>
          <p:nvPr/>
        </p:nvSpPr>
        <p:spPr>
          <a:xfrm>
            <a:off x="457200" y="1097280"/>
            <a:ext cx="5303520" cy="2103120"/>
          </a:xfrm>
          <a:prstGeom prst="roundRect">
            <a:avLst>
              <a:gd name="adj" fmla="val 3478"/>
            </a:avLst>
          </a:prstGeom>
          <a:solidFill>
            <a:srgbClr val="0F1729"/>
          </a:solidFill>
          <a:ln w="12700">
            <a:solidFill>
              <a:srgbClr val="0F1729"/>
            </a:solidFill>
            <a:prstDash val="solid"/>
          </a:ln>
        </p:spPr>
      </p:sp>
      <p:sp>
        <p:nvSpPr>
          <p:cNvPr id="7" name="Text 4"/>
          <p:cNvSpPr txBox="1"/>
          <p:nvPr/>
        </p:nvSpPr>
        <p:spPr>
          <a:xfrm>
            <a:off x="600416" y="1097280"/>
            <a:ext cx="5029200" cy="210312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greet(name, greeting="Hello"):</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print(f"{greeting}, {name}!")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greet("Alice")           # Hello, Alice!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greet("Bob", "Hi")       # Hi, Bob!</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greet("Charlie", "Hey")  # Hey, Charlie!</a:t>
            </a:r>
            <a:endParaRPr lang="en-US" sz="1300" dirty="0"/>
          </a:p>
        </p:txBody>
      </p:sp>
      <p:sp>
        <p:nvSpPr>
          <p:cNvPr id="8" name="Shape 5"/>
          <p:cNvSpPr/>
          <p:nvPr/>
        </p:nvSpPr>
        <p:spPr>
          <a:xfrm>
            <a:off x="6035040" y="1097280"/>
            <a:ext cx="2651760" cy="914400"/>
          </a:xfrm>
          <a:prstGeom prst="roundRect">
            <a:avLst>
              <a:gd name="adj" fmla="val 8000"/>
            </a:avLst>
          </a:prstGeom>
          <a:solidFill>
            <a:srgbClr val="F2F5FB"/>
          </a:solidFill>
          <a:ln w="12700">
            <a:solidFill>
              <a:srgbClr val="DDE2EE"/>
            </a:solidFill>
            <a:prstDash val="solid"/>
          </a:ln>
        </p:spPr>
      </p:sp>
      <p:sp>
        <p:nvSpPr>
          <p:cNvPr id="9" name="Shape 6"/>
          <p:cNvSpPr/>
          <p:nvPr/>
        </p:nvSpPr>
        <p:spPr>
          <a:xfrm>
            <a:off x="6035040" y="1188720"/>
            <a:ext cx="54864" cy="731520"/>
          </a:xfrm>
          <a:prstGeom prst="rect">
            <a:avLst/>
          </a:prstGeom>
          <a:solidFill>
            <a:srgbClr val="1FA67A"/>
          </a:solidFill>
          <a:ln w="12700">
            <a:solidFill>
              <a:srgbClr val="1FA67A"/>
            </a:solidFill>
            <a:prstDash val="solid"/>
          </a:ln>
        </p:spPr>
      </p:sp>
      <p:sp>
        <p:nvSpPr>
          <p:cNvPr id="10" name="Text 7"/>
          <p:cNvSpPr txBox="1"/>
          <p:nvPr/>
        </p:nvSpPr>
        <p:spPr>
          <a:xfrm>
            <a:off x="6263640" y="1097280"/>
            <a:ext cx="2286000" cy="914400"/>
          </a:xfrm>
          <a:prstGeom prst="rect">
            <a:avLst/>
          </a:prstGeom>
          <a:noFill/>
          <a:ln/>
        </p:spPr>
        <p:txBody>
          <a:bodyPr wrap="square" lIns="0" tIns="0" rIns="0" bIns="0" rtlCol="0" anchor="ctr"/>
          <a:lstStyle/>
          <a:p>
            <a:pPr marL="0" indent="0">
              <a:buNone/>
            </a:pPr>
            <a:r>
              <a:rPr lang="en-US" sz="1500" b="1" dirty="0">
                <a:solidFill>
                  <a:srgbClr val="0F1729"/>
                </a:solidFill>
              </a:rPr>
              <a:t>Optional arguments</a:t>
            </a:r>
            <a:endParaRPr lang="en-US" sz="1500" dirty="0"/>
          </a:p>
          <a:p>
            <a:pPr marL="0" indent="0">
              <a:buNone/>
            </a:pPr>
            <a:r>
              <a:rPr lang="en-US" sz="1300" dirty="0">
                <a:solidFill>
                  <a:srgbClr val="3A4357"/>
                </a:solidFill>
              </a:rPr>
              <a:t>If omitted, the default is used.</a:t>
            </a:r>
            <a:endParaRPr lang="en-US" sz="1500" dirty="0"/>
          </a:p>
        </p:txBody>
      </p:sp>
      <p:sp>
        <p:nvSpPr>
          <p:cNvPr id="11" name="Shape 8"/>
          <p:cNvSpPr/>
          <p:nvPr/>
        </p:nvSpPr>
        <p:spPr>
          <a:xfrm>
            <a:off x="6035040" y="2148840"/>
            <a:ext cx="2651760" cy="1188720"/>
          </a:xfrm>
          <a:prstGeom prst="roundRect">
            <a:avLst>
              <a:gd name="adj" fmla="val 6154"/>
            </a:avLst>
          </a:prstGeom>
          <a:solidFill>
            <a:srgbClr val="F2F5FB"/>
          </a:solidFill>
          <a:ln w="12700">
            <a:solidFill>
              <a:srgbClr val="DDE2EE"/>
            </a:solidFill>
            <a:prstDash val="solid"/>
          </a:ln>
        </p:spPr>
      </p:sp>
      <p:sp>
        <p:nvSpPr>
          <p:cNvPr id="12" name="Shape 9"/>
          <p:cNvSpPr/>
          <p:nvPr/>
        </p:nvSpPr>
        <p:spPr>
          <a:xfrm>
            <a:off x="6035040" y="2240280"/>
            <a:ext cx="54864" cy="1005840"/>
          </a:xfrm>
          <a:prstGeom prst="rect">
            <a:avLst/>
          </a:prstGeom>
          <a:solidFill>
            <a:srgbClr val="F5A623"/>
          </a:solidFill>
          <a:ln w="12700">
            <a:solidFill>
              <a:srgbClr val="F5A623"/>
            </a:solidFill>
            <a:prstDash val="solid"/>
          </a:ln>
        </p:spPr>
      </p:sp>
      <p:sp>
        <p:nvSpPr>
          <p:cNvPr id="13" name="Text 10"/>
          <p:cNvSpPr txBox="1"/>
          <p:nvPr/>
        </p:nvSpPr>
        <p:spPr>
          <a:xfrm>
            <a:off x="6263640" y="2148840"/>
            <a:ext cx="2286000" cy="1188720"/>
          </a:xfrm>
          <a:prstGeom prst="rect">
            <a:avLst/>
          </a:prstGeom>
          <a:noFill/>
          <a:ln/>
        </p:spPr>
        <p:txBody>
          <a:bodyPr wrap="square" lIns="0" tIns="0" rIns="0" bIns="0" rtlCol="0" anchor="ctr"/>
          <a:lstStyle/>
          <a:p>
            <a:pPr marL="0" indent="0">
              <a:buNone/>
            </a:pPr>
            <a:r>
              <a:rPr lang="en-US" sz="1500" b="1" dirty="0">
                <a:solidFill>
                  <a:srgbClr val="0F1729"/>
                </a:solidFill>
              </a:rPr>
              <a:t>Tip</a:t>
            </a:r>
            <a:endParaRPr lang="en-US" sz="1500" dirty="0"/>
          </a:p>
          <a:p>
            <a:pPr marL="0" indent="0">
              <a:buNone/>
            </a:pPr>
            <a:r>
              <a:rPr lang="en-US" sz="1300" dirty="0">
                <a:solidFill>
                  <a:srgbClr val="3A4357"/>
                </a:solidFill>
              </a:rPr>
              <a:t>Put defaults at the end. Required parameters come first.</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Keyword arguments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400" b="1" dirty="0">
                <a:solidFill>
                  <a:srgbClr val="B26B00"/>
                </a:solidFill>
              </a:rPr>
              <a:t>Practice: </a:t>
            </a:r>
            <a:r>
              <a:rPr lang="en-US" sz="1400" dirty="0">
                <a:solidFill>
                  <a:srgbClr val="1B1F2A"/>
                </a:solidFill>
              </a:rPr>
              <a:t>Rewrite create_profile("Alice", 25, "NYC") using keyword arguments in a different order.</a:t>
            </a:r>
            <a:endParaRPr lang="en-US" sz="1400" dirty="0"/>
          </a:p>
        </p:txBody>
      </p:sp>
      <p:sp>
        <p:nvSpPr>
          <p:cNvPr id="6" name="Shape 3"/>
          <p:cNvSpPr/>
          <p:nvPr/>
        </p:nvSpPr>
        <p:spPr>
          <a:xfrm>
            <a:off x="457200" y="1097280"/>
            <a:ext cx="5852160" cy="2697480"/>
          </a:xfrm>
          <a:prstGeom prst="roundRect">
            <a:avLst>
              <a:gd name="adj" fmla="val 2712"/>
            </a:avLst>
          </a:prstGeom>
          <a:solidFill>
            <a:srgbClr val="0F1729"/>
          </a:solidFill>
          <a:ln w="12700">
            <a:solidFill>
              <a:srgbClr val="0F1729"/>
            </a:solidFill>
            <a:prstDash val="solid"/>
          </a:ln>
        </p:spPr>
      </p:sp>
      <p:sp>
        <p:nvSpPr>
          <p:cNvPr id="7" name="Text 4"/>
          <p:cNvSpPr txBox="1"/>
          <p:nvPr/>
        </p:nvSpPr>
        <p:spPr>
          <a:xfrm>
            <a:off x="594360" y="1097280"/>
            <a:ext cx="5577840" cy="269748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create_profile(name, age, city):</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print(f</a:t>
            </a:r>
            <a:r>
              <a:rPr lang="en-US" sz="1300" dirty="0" smtClean="0">
                <a:solidFill>
                  <a:srgbClr val="E6EDF7"/>
                </a:solidFill>
                <a:latin typeface="Consolas" pitchFamily="34" charset="0"/>
                <a:ea typeface="Consolas" pitchFamily="34" charset="-122"/>
                <a:cs typeface="Consolas" pitchFamily="34" charset="-120"/>
              </a:rPr>
              <a:t>"{name}, </a:t>
            </a:r>
            <a:r>
              <a:rPr lang="en-US" sz="1300" dirty="0">
                <a:solidFill>
                  <a:srgbClr val="E6EDF7"/>
                </a:solidFill>
                <a:latin typeface="Consolas" pitchFamily="34" charset="0"/>
                <a:ea typeface="Consolas" pitchFamily="34" charset="-122"/>
                <a:cs typeface="Consolas" pitchFamily="34" charset="-120"/>
              </a:rPr>
              <a:t>{age}, from {city}")</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Positional (order matters)</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create_profile</a:t>
            </a:r>
            <a:r>
              <a:rPr lang="en-US" sz="1300" dirty="0" smtClean="0">
                <a:solidFill>
                  <a:srgbClr val="E6EDF7"/>
                </a:solidFill>
                <a:latin typeface="Consolas" pitchFamily="34" charset="0"/>
                <a:ea typeface="Consolas" pitchFamily="34" charset="-122"/>
                <a:cs typeface="Consolas" pitchFamily="34" charset="-120"/>
              </a:rPr>
              <a:t>("Alice", 25, </a:t>
            </a:r>
            <a:r>
              <a:rPr lang="en-US" sz="1300" dirty="0">
                <a:solidFill>
                  <a:srgbClr val="E6EDF7"/>
                </a:solidFill>
                <a:latin typeface="Consolas" pitchFamily="34" charset="0"/>
                <a:ea typeface="Consolas" pitchFamily="34" charset="-122"/>
                <a:cs typeface="Consolas" pitchFamily="34" charset="-120"/>
              </a:rPr>
              <a:t>"NYC")</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Keyword (order does not matter)</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create_profile(city="NYC", age=25, name="Alice")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create_profile(name="Bob", city="LA", age=30)</a:t>
            </a:r>
            <a:endParaRPr lang="en-US" sz="1300" dirty="0"/>
          </a:p>
        </p:txBody>
      </p:sp>
      <p:sp>
        <p:nvSpPr>
          <p:cNvPr id="8" name="Shape 5"/>
          <p:cNvSpPr/>
          <p:nvPr/>
        </p:nvSpPr>
        <p:spPr>
          <a:xfrm>
            <a:off x="6492240" y="1097280"/>
            <a:ext cx="2194560" cy="1371600"/>
          </a:xfrm>
          <a:prstGeom prst="roundRect">
            <a:avLst>
              <a:gd name="adj" fmla="val 5333"/>
            </a:avLst>
          </a:prstGeom>
          <a:solidFill>
            <a:srgbClr val="F2F5FB"/>
          </a:solidFill>
          <a:ln w="12700">
            <a:solidFill>
              <a:srgbClr val="DDE2EE"/>
            </a:solidFill>
            <a:prstDash val="solid"/>
          </a:ln>
        </p:spPr>
      </p:sp>
      <p:sp>
        <p:nvSpPr>
          <p:cNvPr id="9" name="Shape 6"/>
          <p:cNvSpPr/>
          <p:nvPr/>
        </p:nvSpPr>
        <p:spPr>
          <a:xfrm>
            <a:off x="6492240" y="1188720"/>
            <a:ext cx="54864" cy="1188720"/>
          </a:xfrm>
          <a:prstGeom prst="rect">
            <a:avLst/>
          </a:prstGeom>
          <a:solidFill>
            <a:srgbClr val="2F6FED"/>
          </a:solidFill>
          <a:ln w="12700">
            <a:solidFill>
              <a:srgbClr val="2F6FED"/>
            </a:solidFill>
            <a:prstDash val="solid"/>
          </a:ln>
        </p:spPr>
      </p:sp>
      <p:sp>
        <p:nvSpPr>
          <p:cNvPr id="10" name="Text 7"/>
          <p:cNvSpPr txBox="1"/>
          <p:nvPr/>
        </p:nvSpPr>
        <p:spPr>
          <a:xfrm>
            <a:off x="6720840" y="1097280"/>
            <a:ext cx="1828800" cy="1371600"/>
          </a:xfrm>
          <a:prstGeom prst="rect">
            <a:avLst/>
          </a:prstGeom>
          <a:noFill/>
          <a:ln/>
        </p:spPr>
        <p:txBody>
          <a:bodyPr wrap="square" lIns="0" tIns="0" rIns="0" bIns="0" rtlCol="0" anchor="ctr"/>
          <a:lstStyle/>
          <a:p>
            <a:pPr marL="0" indent="0">
              <a:buNone/>
            </a:pPr>
            <a:r>
              <a:rPr lang="en-US" sz="1500" b="1" dirty="0">
                <a:solidFill>
                  <a:srgbClr val="0F1729"/>
                </a:solidFill>
              </a:rPr>
              <a:t>Clarity</a:t>
            </a:r>
            <a:endParaRPr lang="en-US" sz="1500" dirty="0"/>
          </a:p>
          <a:p>
            <a:pPr marL="0" indent="0">
              <a:buNone/>
            </a:pPr>
            <a:r>
              <a:rPr lang="en-US" sz="1300" dirty="0">
                <a:solidFill>
                  <a:srgbClr val="3A4357"/>
                </a:solidFill>
              </a:rPr>
              <a:t>Parameter names make calls easier to read.</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mistakes with parameters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Why does greet("Alice") raise a TypeError when greet(name, age) needs two arguments?</a:t>
            </a:r>
            <a:endParaRPr lang="en-US" sz="1300" dirty="0"/>
          </a:p>
        </p:txBody>
      </p:sp>
      <p:sp>
        <p:nvSpPr>
          <p:cNvPr id="6" name="Shape 3"/>
          <p:cNvSpPr/>
          <p:nvPr/>
        </p:nvSpPr>
        <p:spPr>
          <a:xfrm>
            <a:off x="457200" y="1097280"/>
            <a:ext cx="4114800" cy="2651760"/>
          </a:xfrm>
          <a:prstGeom prst="roundRect">
            <a:avLst>
              <a:gd name="adj" fmla="val 2759"/>
            </a:avLst>
          </a:prstGeom>
          <a:solidFill>
            <a:srgbClr val="0F1729"/>
          </a:solidFill>
          <a:ln w="12700">
            <a:solidFill>
              <a:srgbClr val="0F1729"/>
            </a:solidFill>
            <a:prstDash val="solid"/>
          </a:ln>
        </p:spPr>
      </p:sp>
      <p:sp>
        <p:nvSpPr>
          <p:cNvPr id="7" name="Text 4"/>
          <p:cNvSpPr txBox="1"/>
          <p:nvPr/>
        </p:nvSpPr>
        <p:spPr>
          <a:xfrm>
            <a:off x="594360" y="1097280"/>
            <a:ext cx="3840480" cy="2651760"/>
          </a:xfrm>
          <a:prstGeom prst="rect">
            <a:avLst/>
          </a:prstGeom>
          <a:noFill/>
          <a:ln/>
        </p:spPr>
        <p:txBody>
          <a:bodyPr wrap="square" lIns="0" tIns="0" rIns="0" bIns="0" rtlCol="0" anchor="ctr"/>
          <a:lstStyle/>
          <a:p>
            <a:pPr marL="0" indent="0">
              <a:buNone/>
            </a:pPr>
            <a:r>
              <a:rPr lang="en-US" sz="1200" dirty="0" err="1">
                <a:solidFill>
                  <a:srgbClr val="E6EDF7"/>
                </a:solidFill>
                <a:latin typeface="Consolas" pitchFamily="34" charset="0"/>
                <a:ea typeface="Consolas" pitchFamily="34" charset="-122"/>
                <a:cs typeface="Consolas" pitchFamily="34" charset="-120"/>
              </a:rPr>
              <a:t>def</a:t>
            </a:r>
            <a:r>
              <a:rPr lang="en-US" sz="1200" dirty="0">
                <a:solidFill>
                  <a:srgbClr val="E6EDF7"/>
                </a:solidFill>
                <a:latin typeface="Consolas" pitchFamily="34" charset="0"/>
                <a:ea typeface="Consolas" pitchFamily="34" charset="-122"/>
                <a:cs typeface="Consolas" pitchFamily="34" charset="-120"/>
              </a:rPr>
              <a:t> greet(name, age):</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    print(f"Hi {name}, you're {age}")</a:t>
            </a:r>
            <a:endParaRPr lang="en-US" sz="1200" dirty="0"/>
          </a:p>
          <a:p>
            <a:pPr marL="0" indent="0">
              <a:buNone/>
            </a:pP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greet("Alice")            # Error</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greet("Alice", 25, "NYC") # Error</a:t>
            </a:r>
            <a:endParaRPr lang="en-US" sz="1200" dirty="0"/>
          </a:p>
          <a:p>
            <a:pPr marL="0" indent="0">
              <a:buNone/>
            </a:pPr>
            <a:r>
              <a:rPr lang="en-US" sz="1200" dirty="0">
                <a:solidFill>
                  <a:srgbClr val="E6EDF7"/>
                </a:solidFill>
                <a:latin typeface="Consolas" pitchFamily="34" charset="0"/>
                <a:ea typeface="Consolas" pitchFamily="34" charset="-122"/>
                <a:cs typeface="Consolas" pitchFamily="34" charset="-120"/>
              </a:rPr>
              <a:t>greet("Alice", 25)        # Right</a:t>
            </a:r>
            <a:endParaRPr lang="en-US" sz="1200" dirty="0"/>
          </a:p>
        </p:txBody>
      </p:sp>
      <p:sp>
        <p:nvSpPr>
          <p:cNvPr id="8" name="Shape 5"/>
          <p:cNvSpPr/>
          <p:nvPr/>
        </p:nvSpPr>
        <p:spPr>
          <a:xfrm>
            <a:off x="4754880" y="1097280"/>
            <a:ext cx="3931920" cy="2651760"/>
          </a:xfrm>
          <a:prstGeom prst="roundRect">
            <a:avLst>
              <a:gd name="adj" fmla="val 2759"/>
            </a:avLst>
          </a:prstGeom>
          <a:solidFill>
            <a:srgbClr val="0F1729"/>
          </a:solidFill>
          <a:ln w="12700">
            <a:solidFill>
              <a:srgbClr val="0F1729"/>
            </a:solidFill>
            <a:prstDash val="solid"/>
          </a:ln>
        </p:spPr>
      </p:sp>
      <p:sp>
        <p:nvSpPr>
          <p:cNvPr id="9" name="Text 6"/>
          <p:cNvSpPr txBox="1"/>
          <p:nvPr/>
        </p:nvSpPr>
        <p:spPr>
          <a:xfrm>
            <a:off x="4892040" y="1097280"/>
            <a:ext cx="3657600" cy="26517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 list as default</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add_item(item, list=[]):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list.append(item)</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list</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 use None</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add_item(item, list=None):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if list is None: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list = []</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list.append(item)</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list</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return sends a value back</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2000" b="1" dirty="0">
                <a:solidFill>
                  <a:srgbClr val="B26B00"/>
                </a:solidFill>
              </a:rPr>
              <a:t>Practice: </a:t>
            </a:r>
            <a:r>
              <a:rPr lang="en-US" sz="2000" dirty="0">
                <a:solidFill>
                  <a:srgbClr val="1B1F2A"/>
                </a:solidFill>
              </a:rPr>
              <a:t>What happens if you try add_print(5, 3) + 2?</a:t>
            </a:r>
            <a:endParaRPr lang="en-US" sz="2000" dirty="0"/>
          </a:p>
        </p:txBody>
      </p:sp>
      <p:sp>
        <p:nvSpPr>
          <p:cNvPr id="6" name="Shape 3"/>
          <p:cNvSpPr/>
          <p:nvPr/>
        </p:nvSpPr>
        <p:spPr>
          <a:xfrm>
            <a:off x="457200" y="1097280"/>
            <a:ext cx="5303520" cy="2697480"/>
          </a:xfrm>
          <a:prstGeom prst="roundRect">
            <a:avLst>
              <a:gd name="adj" fmla="val 2712"/>
            </a:avLst>
          </a:prstGeom>
          <a:solidFill>
            <a:srgbClr val="0F1729"/>
          </a:solidFill>
          <a:ln w="12700">
            <a:solidFill>
              <a:srgbClr val="0F1729"/>
            </a:solidFill>
            <a:prstDash val="solid"/>
          </a:ln>
        </p:spPr>
      </p:sp>
      <p:sp>
        <p:nvSpPr>
          <p:cNvPr id="7" name="Text 4"/>
          <p:cNvSpPr txBox="1"/>
          <p:nvPr/>
        </p:nvSpPr>
        <p:spPr>
          <a:xfrm>
            <a:off x="594360" y="1097280"/>
            <a:ext cx="5029200" cy="2697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Only prints</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add_print(a, b):</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print(a + b)</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Returns a value</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add_return(a, b):</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a + b</a:t>
            </a:r>
            <a:endParaRPr lang="en-US" sz="1300" dirty="0"/>
          </a:p>
          <a:p>
            <a:pPr marL="0" indent="0">
              <a:buNone/>
            </a:pPr>
            <a:endParaRPr lang="en-US" sz="1300" dirty="0" smtClean="0">
              <a:solidFill>
                <a:srgbClr val="E6EDF7"/>
              </a:solidFill>
              <a:latin typeface="Consolas" pitchFamily="34" charset="0"/>
              <a:ea typeface="Consolas" pitchFamily="34" charset="-122"/>
              <a:cs typeface="Consolas" pitchFamily="34" charset="-120"/>
            </a:endParaRPr>
          </a:p>
          <a:p>
            <a:pPr marL="0" indent="0">
              <a:buNone/>
            </a:pPr>
            <a:r>
              <a:rPr lang="en-US" sz="1300" dirty="0" smtClean="0">
                <a:solidFill>
                  <a:srgbClr val="E6EDF7"/>
                </a:solidFill>
                <a:latin typeface="Consolas" pitchFamily="34" charset="0"/>
                <a:ea typeface="Consolas" pitchFamily="34" charset="-122"/>
                <a:cs typeface="Consolas" pitchFamily="34" charset="-120"/>
              </a:rPr>
              <a:t>result </a:t>
            </a:r>
            <a:r>
              <a:rPr lang="en-US" sz="1300" dirty="0">
                <a:solidFill>
                  <a:srgbClr val="E6EDF7"/>
                </a:solidFill>
                <a:latin typeface="Consolas" pitchFamily="34" charset="0"/>
                <a:ea typeface="Consolas" pitchFamily="34" charset="-122"/>
                <a:cs typeface="Consolas" pitchFamily="34" charset="-120"/>
              </a:rPr>
              <a:t>= </a:t>
            </a:r>
            <a:r>
              <a:rPr lang="en-US" sz="1300" dirty="0" err="1" smtClean="0">
                <a:solidFill>
                  <a:srgbClr val="E6EDF7"/>
                </a:solidFill>
                <a:latin typeface="Consolas" pitchFamily="34" charset="0"/>
                <a:ea typeface="Consolas" pitchFamily="34" charset="-122"/>
                <a:cs typeface="Consolas" pitchFamily="34" charset="-120"/>
              </a:rPr>
              <a:t>add_print</a:t>
            </a:r>
            <a:r>
              <a:rPr lang="en-US" sz="1300" dirty="0" smtClean="0">
                <a:solidFill>
                  <a:srgbClr val="E6EDF7"/>
                </a:solidFill>
                <a:latin typeface="Consolas" pitchFamily="34" charset="0"/>
                <a:ea typeface="Consolas" pitchFamily="34" charset="-122"/>
                <a:cs typeface="Consolas" pitchFamily="34" charset="-120"/>
              </a:rPr>
              <a:t>(5</a:t>
            </a:r>
            <a:r>
              <a:rPr lang="en-US" sz="1300" dirty="0">
                <a:solidFill>
                  <a:srgbClr val="E6EDF7"/>
                </a:solidFill>
                <a:latin typeface="Consolas" pitchFamily="34" charset="0"/>
                <a:ea typeface="Consolas" pitchFamily="34" charset="-122"/>
                <a:cs typeface="Consolas" pitchFamily="34" charset="-120"/>
              </a:rPr>
              <a:t>, 3</a:t>
            </a:r>
            <a:r>
              <a:rPr lang="en-US" sz="1300" dirty="0" smtClean="0">
                <a:solidFill>
                  <a:srgbClr val="E6EDF7"/>
                </a:solidFill>
                <a:latin typeface="Consolas" pitchFamily="34" charset="0"/>
                <a:ea typeface="Consolas" pitchFamily="34" charset="-122"/>
                <a:cs typeface="Consolas" pitchFamily="34" charset="-120"/>
              </a:rPr>
              <a:t>) + 2 </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print(f"The result is {result}")</a:t>
            </a:r>
            <a:endParaRPr lang="en-US" sz="1300" dirty="0"/>
          </a:p>
        </p:txBody>
      </p:sp>
      <p:sp>
        <p:nvSpPr>
          <p:cNvPr id="8" name="Shape 5"/>
          <p:cNvSpPr/>
          <p:nvPr/>
        </p:nvSpPr>
        <p:spPr>
          <a:xfrm>
            <a:off x="6035040" y="1097280"/>
            <a:ext cx="2651760" cy="914400"/>
          </a:xfrm>
          <a:prstGeom prst="roundRect">
            <a:avLst>
              <a:gd name="adj" fmla="val 8000"/>
            </a:avLst>
          </a:prstGeom>
          <a:solidFill>
            <a:srgbClr val="F2F5FB"/>
          </a:solidFill>
          <a:ln w="12700">
            <a:solidFill>
              <a:srgbClr val="DDE2EE"/>
            </a:solidFill>
            <a:prstDash val="solid"/>
          </a:ln>
        </p:spPr>
      </p:sp>
      <p:sp>
        <p:nvSpPr>
          <p:cNvPr id="9" name="Shape 6"/>
          <p:cNvSpPr/>
          <p:nvPr/>
        </p:nvSpPr>
        <p:spPr>
          <a:xfrm>
            <a:off x="6035040" y="1188720"/>
            <a:ext cx="54864" cy="731520"/>
          </a:xfrm>
          <a:prstGeom prst="rect">
            <a:avLst/>
          </a:prstGeom>
          <a:solidFill>
            <a:srgbClr val="1FA67A"/>
          </a:solidFill>
          <a:ln w="12700">
            <a:solidFill>
              <a:srgbClr val="1FA67A"/>
            </a:solidFill>
            <a:prstDash val="solid"/>
          </a:ln>
        </p:spPr>
      </p:sp>
      <p:sp>
        <p:nvSpPr>
          <p:cNvPr id="10" name="Text 7"/>
          <p:cNvSpPr txBox="1"/>
          <p:nvPr/>
        </p:nvSpPr>
        <p:spPr>
          <a:xfrm>
            <a:off x="6263640" y="1097280"/>
            <a:ext cx="2286000" cy="914400"/>
          </a:xfrm>
          <a:prstGeom prst="rect">
            <a:avLst/>
          </a:prstGeom>
          <a:noFill/>
          <a:ln/>
        </p:spPr>
        <p:txBody>
          <a:bodyPr wrap="square" lIns="0" tIns="0" rIns="0" bIns="0" rtlCol="0" anchor="ctr"/>
          <a:lstStyle/>
          <a:p>
            <a:pPr marL="0" indent="0">
              <a:buNone/>
            </a:pPr>
            <a:r>
              <a:rPr lang="en-US" sz="1500" b="1" dirty="0">
                <a:solidFill>
                  <a:srgbClr val="0F1729"/>
                </a:solidFill>
              </a:rPr>
              <a:t>return</a:t>
            </a:r>
            <a:endParaRPr lang="en-US" sz="1500" dirty="0"/>
          </a:p>
          <a:p>
            <a:pPr marL="0" indent="0">
              <a:buNone/>
            </a:pPr>
            <a:r>
              <a:rPr lang="en-US" sz="1300" dirty="0">
                <a:solidFill>
                  <a:srgbClr val="3A4357"/>
                </a:solidFill>
              </a:rPr>
              <a:t>Sends a value back to the caller.</a:t>
            </a:r>
            <a:endParaRPr lang="en-US" sz="1500" dirty="0"/>
          </a:p>
        </p:txBody>
      </p:sp>
      <p:sp>
        <p:nvSpPr>
          <p:cNvPr id="11" name="Shape 8"/>
          <p:cNvSpPr/>
          <p:nvPr/>
        </p:nvSpPr>
        <p:spPr>
          <a:xfrm>
            <a:off x="6035040" y="2148840"/>
            <a:ext cx="2651760" cy="914400"/>
          </a:xfrm>
          <a:prstGeom prst="roundRect">
            <a:avLst>
              <a:gd name="adj" fmla="val 8000"/>
            </a:avLst>
          </a:prstGeom>
          <a:solidFill>
            <a:srgbClr val="F2F5FB"/>
          </a:solidFill>
          <a:ln w="12700">
            <a:solidFill>
              <a:srgbClr val="DDE2EE"/>
            </a:solidFill>
            <a:prstDash val="solid"/>
          </a:ln>
        </p:spPr>
      </p:sp>
      <p:sp>
        <p:nvSpPr>
          <p:cNvPr id="12" name="Shape 9"/>
          <p:cNvSpPr/>
          <p:nvPr/>
        </p:nvSpPr>
        <p:spPr>
          <a:xfrm>
            <a:off x="6035040" y="2240280"/>
            <a:ext cx="54864" cy="731520"/>
          </a:xfrm>
          <a:prstGeom prst="rect">
            <a:avLst/>
          </a:prstGeom>
          <a:solidFill>
            <a:srgbClr val="F5A623"/>
          </a:solidFill>
          <a:ln w="12700">
            <a:solidFill>
              <a:srgbClr val="F5A623"/>
            </a:solidFill>
            <a:prstDash val="solid"/>
          </a:ln>
        </p:spPr>
      </p:sp>
      <p:sp>
        <p:nvSpPr>
          <p:cNvPr id="13" name="Text 10"/>
          <p:cNvSpPr txBox="1"/>
          <p:nvPr/>
        </p:nvSpPr>
        <p:spPr>
          <a:xfrm>
            <a:off x="6263640" y="2148840"/>
            <a:ext cx="2286000" cy="914400"/>
          </a:xfrm>
          <a:prstGeom prst="rect">
            <a:avLst/>
          </a:prstGeom>
          <a:noFill/>
          <a:ln/>
        </p:spPr>
        <p:txBody>
          <a:bodyPr wrap="square" lIns="0" tIns="0" rIns="0" bIns="0" rtlCol="0" anchor="ctr"/>
          <a:lstStyle/>
          <a:p>
            <a:pPr marL="0" indent="0">
              <a:buNone/>
            </a:pPr>
            <a:r>
              <a:rPr lang="en-US" sz="1500" b="1" dirty="0">
                <a:solidFill>
                  <a:srgbClr val="0F1729"/>
                </a:solidFill>
              </a:rPr>
              <a:t>print</a:t>
            </a:r>
            <a:endParaRPr lang="en-US" sz="1500" dirty="0"/>
          </a:p>
          <a:p>
            <a:pPr marL="0" indent="0">
              <a:buNone/>
            </a:pPr>
            <a:r>
              <a:rPr lang="en-US" sz="1300" dirty="0">
                <a:solidFill>
                  <a:srgbClr val="3A4357"/>
                </a:solidFill>
              </a:rPr>
              <a:t>Only displays it on screen.</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68265"/>
            <a:ext cx="8229600" cy="731520"/>
          </a:xfrm>
          <a:prstGeom prst="rect">
            <a:avLst/>
          </a:prstGeom>
          <a:noFill/>
          <a:ln/>
        </p:spPr>
        <p:txBody>
          <a:bodyPr wrap="square" lIns="0" tIns="0" rIns="0" bIns="0" rtlCol="0"/>
          <a:lstStyle/>
          <a:p>
            <a:pPr marL="0" indent="0" algn="l">
              <a:buNone/>
            </a:pPr>
            <a:r>
              <a:rPr lang="en-US" sz="3000" b="1" dirty="0">
                <a:solidFill>
                  <a:srgbClr val="0F1729"/>
                </a:solidFill>
              </a:rPr>
              <a:t>Using returned values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2400" b="1" dirty="0">
                <a:solidFill>
                  <a:srgbClr val="B26B00"/>
                </a:solidFill>
              </a:rPr>
              <a:t>Practice: </a:t>
            </a:r>
            <a:r>
              <a:rPr lang="en-US" sz="2400" dirty="0">
                <a:solidFill>
                  <a:srgbClr val="1B1F2A"/>
                </a:solidFill>
              </a:rPr>
              <a:t>What does double(5) + double(3) evaluate to?</a:t>
            </a:r>
            <a:endParaRPr lang="en-US" sz="2400" dirty="0"/>
          </a:p>
        </p:txBody>
      </p:sp>
      <p:sp>
        <p:nvSpPr>
          <p:cNvPr id="6" name="Shape 3"/>
          <p:cNvSpPr/>
          <p:nvPr/>
        </p:nvSpPr>
        <p:spPr>
          <a:xfrm>
            <a:off x="457200" y="1097280"/>
            <a:ext cx="5486400" cy="2697480"/>
          </a:xfrm>
          <a:prstGeom prst="roundRect">
            <a:avLst>
              <a:gd name="adj" fmla="val 2712"/>
            </a:avLst>
          </a:prstGeom>
          <a:solidFill>
            <a:srgbClr val="0F1729"/>
          </a:solidFill>
          <a:ln w="12700">
            <a:solidFill>
              <a:srgbClr val="0F1729"/>
            </a:solidFill>
            <a:prstDash val="solid"/>
          </a:ln>
        </p:spPr>
      </p:sp>
      <p:sp>
        <p:nvSpPr>
          <p:cNvPr id="7" name="Text 4"/>
          <p:cNvSpPr txBox="1"/>
          <p:nvPr/>
        </p:nvSpPr>
        <p:spPr>
          <a:xfrm>
            <a:off x="594360" y="1097280"/>
            <a:ext cx="5212080" cy="269748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double(number):</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number * 2</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result = double(5)                # store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total = double(5) + double(3)     # 10 + 6 = 16</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print(double(10))                 # 20</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if </a:t>
            </a:r>
            <a:r>
              <a:rPr lang="en-US" sz="1300" dirty="0" smtClean="0">
                <a:solidFill>
                  <a:srgbClr val="E6EDF7"/>
                </a:solidFill>
                <a:latin typeface="Consolas" pitchFamily="34" charset="0"/>
                <a:ea typeface="Consolas" pitchFamily="34" charset="-122"/>
                <a:cs typeface="Consolas" pitchFamily="34" charset="-120"/>
              </a:rPr>
              <a:t>double(7) </a:t>
            </a:r>
            <a:r>
              <a:rPr lang="en-US" sz="1300" dirty="0">
                <a:solidFill>
                  <a:srgbClr val="E6EDF7"/>
                </a:solidFill>
                <a:latin typeface="Consolas" pitchFamily="34" charset="0"/>
                <a:ea typeface="Consolas" pitchFamily="34" charset="-122"/>
                <a:cs typeface="Consolas" pitchFamily="34" charset="-120"/>
              </a:rPr>
              <a:t>&gt; 10: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print("Big number!")</a:t>
            </a:r>
            <a:endParaRPr lang="en-US" sz="1300" dirty="0"/>
          </a:p>
        </p:txBody>
      </p:sp>
      <p:sp>
        <p:nvSpPr>
          <p:cNvPr id="8" name="Shape 5"/>
          <p:cNvSpPr/>
          <p:nvPr/>
        </p:nvSpPr>
        <p:spPr>
          <a:xfrm>
            <a:off x="6217920" y="1097280"/>
            <a:ext cx="2468880" cy="1645920"/>
          </a:xfrm>
          <a:prstGeom prst="roundRect">
            <a:avLst>
              <a:gd name="adj" fmla="val 4444"/>
            </a:avLst>
          </a:prstGeom>
          <a:solidFill>
            <a:srgbClr val="F2F5FB"/>
          </a:solidFill>
          <a:ln w="12700">
            <a:solidFill>
              <a:srgbClr val="DDE2EE"/>
            </a:solidFill>
            <a:prstDash val="solid"/>
          </a:ln>
        </p:spPr>
      </p:sp>
      <p:sp>
        <p:nvSpPr>
          <p:cNvPr id="9" name="Shape 6"/>
          <p:cNvSpPr/>
          <p:nvPr/>
        </p:nvSpPr>
        <p:spPr>
          <a:xfrm>
            <a:off x="6217920" y="1188720"/>
            <a:ext cx="54864" cy="1463040"/>
          </a:xfrm>
          <a:prstGeom prst="rect">
            <a:avLst/>
          </a:prstGeom>
          <a:solidFill>
            <a:srgbClr val="2F6FED"/>
          </a:solidFill>
          <a:ln w="12700">
            <a:solidFill>
              <a:srgbClr val="2F6FED"/>
            </a:solidFill>
            <a:prstDash val="solid"/>
          </a:ln>
        </p:spPr>
      </p:sp>
      <p:sp>
        <p:nvSpPr>
          <p:cNvPr id="10" name="Text 7"/>
          <p:cNvSpPr txBox="1"/>
          <p:nvPr/>
        </p:nvSpPr>
        <p:spPr>
          <a:xfrm>
            <a:off x="6446520" y="1097280"/>
            <a:ext cx="2103120" cy="1645920"/>
          </a:xfrm>
          <a:prstGeom prst="rect">
            <a:avLst/>
          </a:prstGeom>
          <a:noFill/>
          <a:ln/>
        </p:spPr>
        <p:txBody>
          <a:bodyPr wrap="square" lIns="0" tIns="0" rIns="0" bIns="0" rtlCol="0" anchor="ctr"/>
          <a:lstStyle/>
          <a:p>
            <a:pPr marL="0" indent="0">
              <a:buNone/>
            </a:pPr>
            <a:r>
              <a:rPr lang="en-US" sz="1500" b="1" dirty="0">
                <a:solidFill>
                  <a:srgbClr val="0F1729"/>
                </a:solidFill>
              </a:rPr>
              <a:t>Four ways to use it</a:t>
            </a:r>
            <a:endParaRPr lang="en-US" sz="1500" dirty="0"/>
          </a:p>
          <a:p>
            <a:pPr marL="0" indent="0">
              <a:buNone/>
            </a:pPr>
            <a:r>
              <a:rPr lang="en-US" sz="1300" dirty="0">
                <a:solidFill>
                  <a:srgbClr val="3A4357"/>
                </a:solidFill>
              </a:rPr>
              <a:t>Store it, use it in an expression, pass it on, or test it in a condition.</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Returning multiple values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2000" b="1" dirty="0">
                <a:solidFill>
                  <a:srgbClr val="B26B00"/>
                </a:solidFill>
              </a:rPr>
              <a:t>Practice: </a:t>
            </a:r>
            <a:r>
              <a:rPr lang="en-US" sz="2000" dirty="0">
                <a:solidFill>
                  <a:srgbClr val="1B1F2A"/>
                </a:solidFill>
              </a:rPr>
              <a:t>What does get_min_max([4, 9, 1]) return?</a:t>
            </a:r>
            <a:endParaRPr lang="en-US" sz="2000" dirty="0"/>
          </a:p>
        </p:txBody>
      </p:sp>
      <p:sp>
        <p:nvSpPr>
          <p:cNvPr id="6" name="Shape 3"/>
          <p:cNvSpPr/>
          <p:nvPr/>
        </p:nvSpPr>
        <p:spPr>
          <a:xfrm>
            <a:off x="457200" y="1097280"/>
            <a:ext cx="8229600" cy="2103120"/>
          </a:xfrm>
          <a:prstGeom prst="roundRect">
            <a:avLst>
              <a:gd name="adj" fmla="val 3478"/>
            </a:avLst>
          </a:prstGeom>
          <a:solidFill>
            <a:srgbClr val="0F1729"/>
          </a:solidFill>
          <a:ln w="12700">
            <a:solidFill>
              <a:srgbClr val="0F1729"/>
            </a:solidFill>
            <a:prstDash val="solid"/>
          </a:ln>
        </p:spPr>
      </p:sp>
      <p:sp>
        <p:nvSpPr>
          <p:cNvPr id="7" name="Text 4"/>
          <p:cNvSpPr txBox="1"/>
          <p:nvPr/>
        </p:nvSpPr>
        <p:spPr>
          <a:xfrm>
            <a:off x="594360" y="1097280"/>
            <a:ext cx="7955280" cy="210312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a:t>
            </a:r>
            <a:r>
              <a:rPr lang="en-US" sz="1300" dirty="0" err="1" smtClean="0">
                <a:solidFill>
                  <a:srgbClr val="E6EDF7"/>
                </a:solidFill>
                <a:latin typeface="Consolas" pitchFamily="34" charset="0"/>
                <a:ea typeface="Consolas" pitchFamily="34" charset="-122"/>
                <a:cs typeface="Consolas" pitchFamily="34" charset="-120"/>
              </a:rPr>
              <a:t>get_min_max</a:t>
            </a:r>
            <a:r>
              <a:rPr lang="en-US" sz="1300" dirty="0" smtClean="0">
                <a:solidFill>
                  <a:srgbClr val="E6EDF7"/>
                </a:solidFill>
                <a:latin typeface="Consolas" pitchFamily="34" charset="0"/>
                <a:ea typeface="Consolas" pitchFamily="34" charset="-122"/>
                <a:cs typeface="Consolas" pitchFamily="34" charset="-120"/>
              </a:rPr>
              <a:t>(numbers):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min(numbers), max(numbers</a:t>
            </a:r>
            <a:r>
              <a:rPr lang="en-US" sz="1300" dirty="0" smtClean="0">
                <a:solidFill>
                  <a:srgbClr val="E6EDF7"/>
                </a:solidFill>
                <a:latin typeface="Consolas" pitchFamily="34" charset="0"/>
                <a:ea typeface="Consolas" pitchFamily="34" charset="-122"/>
                <a:cs typeface="Consolas" pitchFamily="34" charset="-120"/>
              </a:rPr>
              <a:t>)    # 1,9</a:t>
            </a:r>
          </a:p>
          <a:p>
            <a:endParaRPr lang="en-US" sz="1300" dirty="0"/>
          </a:p>
          <a:p>
            <a:pPr marL="0" indent="0">
              <a:buNone/>
            </a:pPr>
            <a:endParaRPr lang="en-US" sz="1300" dirty="0"/>
          </a:p>
          <a:p>
            <a:pPr marL="0" indent="0">
              <a:buNone/>
            </a:pPr>
            <a:r>
              <a:rPr lang="en-US" sz="1300" dirty="0" smtClean="0">
                <a:solidFill>
                  <a:srgbClr val="E6EDF7"/>
                </a:solidFill>
                <a:latin typeface="Consolas" pitchFamily="34" charset="0"/>
                <a:ea typeface="Consolas" pitchFamily="34" charset="-122"/>
                <a:cs typeface="Consolas" pitchFamily="34" charset="-120"/>
              </a:rPr>
              <a:t>minimum</a:t>
            </a:r>
            <a:r>
              <a:rPr lang="en-US" sz="1300" dirty="0">
                <a:solidFill>
                  <a:srgbClr val="E6EDF7"/>
                </a:solidFill>
                <a:latin typeface="Consolas" pitchFamily="34" charset="0"/>
                <a:ea typeface="Consolas" pitchFamily="34" charset="-122"/>
                <a:cs typeface="Consolas" pitchFamily="34" charset="-120"/>
              </a:rPr>
              <a:t>, maximum = get_min_max([5, 2, 8, 1, 9</a:t>
            </a:r>
            <a:r>
              <a:rPr lang="en-US" sz="1300" dirty="0" smtClean="0">
                <a:solidFill>
                  <a:srgbClr val="E6EDF7"/>
                </a:solidFill>
                <a:latin typeface="Consolas" pitchFamily="34" charset="0"/>
                <a:ea typeface="Consolas" pitchFamily="34" charset="-122"/>
                <a:cs typeface="Consolas" pitchFamily="34" charset="-120"/>
              </a:rPr>
              <a:t>])  # minimum = 1, maximum=9</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print(f"Min: {minimum}, Max: {maximum}")  # Min: 1, Max: 9</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result = get_min_max([5, 2, 8, 1, 9])</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print(result)  # (1, 9)</a:t>
            </a:r>
            <a:endParaRPr lang="en-US" sz="1300" dirty="0"/>
          </a:p>
        </p:txBody>
      </p:sp>
      <p:sp>
        <p:nvSpPr>
          <p:cNvPr id="8" name="Shape 5"/>
          <p:cNvSpPr/>
          <p:nvPr/>
        </p:nvSpPr>
        <p:spPr>
          <a:xfrm>
            <a:off x="457200" y="3291840"/>
            <a:ext cx="8229600" cy="548640"/>
          </a:xfrm>
          <a:prstGeom prst="roundRect">
            <a:avLst>
              <a:gd name="adj" fmla="val 13333"/>
            </a:avLst>
          </a:prstGeom>
          <a:solidFill>
            <a:srgbClr val="F2F5FB"/>
          </a:solidFill>
          <a:ln w="12700">
            <a:solidFill>
              <a:srgbClr val="DDE2EE"/>
            </a:solidFill>
            <a:prstDash val="solid"/>
          </a:ln>
        </p:spPr>
      </p:sp>
      <p:sp>
        <p:nvSpPr>
          <p:cNvPr id="9" name="Shape 6"/>
          <p:cNvSpPr/>
          <p:nvPr/>
        </p:nvSpPr>
        <p:spPr>
          <a:xfrm>
            <a:off x="457200" y="3383280"/>
            <a:ext cx="54864" cy="365760"/>
          </a:xfrm>
          <a:prstGeom prst="rect">
            <a:avLst/>
          </a:prstGeom>
          <a:solidFill>
            <a:srgbClr val="1FA67A"/>
          </a:solidFill>
          <a:ln w="12700">
            <a:solidFill>
              <a:srgbClr val="1FA67A"/>
            </a:solidFill>
            <a:prstDash val="solid"/>
          </a:ln>
        </p:spPr>
      </p:sp>
      <p:sp>
        <p:nvSpPr>
          <p:cNvPr id="10" name="Text 7"/>
          <p:cNvSpPr txBox="1"/>
          <p:nvPr/>
        </p:nvSpPr>
        <p:spPr>
          <a:xfrm>
            <a:off x="685800" y="3291840"/>
            <a:ext cx="7863840" cy="548640"/>
          </a:xfrm>
          <a:prstGeom prst="rect">
            <a:avLst/>
          </a:prstGeom>
          <a:noFill/>
          <a:ln/>
        </p:spPr>
        <p:txBody>
          <a:bodyPr wrap="square" lIns="0" tIns="0" rIns="0" bIns="0" rtlCol="0" anchor="ctr"/>
          <a:lstStyle/>
          <a:p>
            <a:pPr marL="0" indent="0">
              <a:buNone/>
            </a:pPr>
            <a:r>
              <a:rPr lang="en-US" sz="1500" b="1" dirty="0">
                <a:solidFill>
                  <a:srgbClr val="0F1729"/>
                </a:solidFill>
              </a:rPr>
              <a:t>It is a tuple</a:t>
            </a:r>
            <a:endParaRPr lang="en-US" sz="1500" dirty="0"/>
          </a:p>
          <a:p>
            <a:pPr marL="0" indent="0">
              <a:buNone/>
            </a:pPr>
            <a:r>
              <a:rPr lang="en-US" sz="1300" dirty="0">
                <a:solidFill>
                  <a:srgbClr val="3A4357"/>
                </a:solidFill>
              </a:rPr>
              <a:t>Multiple returned values come back as a tuple. Unpack them or keep the tuple.</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Return vs print, and None</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If greet(name) only prints and has no return, what does result = greet("Alice") then print(result) show after the greeting?</a:t>
            </a:r>
            <a:endParaRPr lang="en-US" sz="1300" dirty="0"/>
          </a:p>
        </p:txBody>
      </p:sp>
      <p:sp>
        <p:nvSpPr>
          <p:cNvPr id="6" name="Shape 3"/>
          <p:cNvSpPr/>
          <p:nvPr/>
        </p:nvSpPr>
        <p:spPr>
          <a:xfrm>
            <a:off x="457200" y="1097280"/>
            <a:ext cx="8229600" cy="2697480"/>
          </a:xfrm>
          <a:prstGeom prst="roundRect">
            <a:avLst>
              <a:gd name="adj" fmla="val 2712"/>
            </a:avLst>
          </a:prstGeom>
          <a:solidFill>
            <a:srgbClr val="0F1729"/>
          </a:solidFill>
          <a:ln w="12700">
            <a:solidFill>
              <a:srgbClr val="0F1729"/>
            </a:solidFill>
            <a:prstDash val="solid"/>
          </a:ln>
        </p:spPr>
      </p:sp>
      <p:sp>
        <p:nvSpPr>
          <p:cNvPr id="7" name="Text 4"/>
          <p:cNvSpPr txBox="1"/>
          <p:nvPr/>
        </p:nvSpPr>
        <p:spPr>
          <a:xfrm>
            <a:off x="594360" y="1097280"/>
            <a:ext cx="7955280" cy="2697480"/>
          </a:xfrm>
          <a:prstGeom prst="rect">
            <a:avLst/>
          </a:prstGeom>
          <a:noFill/>
          <a:ln/>
        </p:spPr>
        <p:txBody>
          <a:bodyPr wrap="square" lIns="0" tIns="0" rIns="0" bIns="0" rtlCol="0" anchor="ctr"/>
          <a:lstStyle/>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get_greeting_print(name):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print(f"Hello, {name}!")   # just displays</a:t>
            </a:r>
            <a:endParaRPr lang="en-US" sz="1300" dirty="0"/>
          </a:p>
          <a:p>
            <a:pPr marL="0" indent="0">
              <a:buNone/>
            </a:pP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get_greeting_return(name):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f"Hello, {name}!"   # gives back a value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message = get_greeting_print("Alice")   # prints, returns None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print(message)                          # None</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message = get_greeting_return("Alice")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print(message.upper())                  # HELLO, ALICE!</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Common mistakes with return</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marL="0" indent="0">
              <a:buNone/>
            </a:pPr>
            <a:r>
              <a:rPr lang="en-US" sz="1300" b="1" dirty="0">
                <a:solidFill>
                  <a:srgbClr val="B26B00"/>
                </a:solidFill>
              </a:rPr>
              <a:t>Practice: </a:t>
            </a:r>
            <a:r>
              <a:rPr lang="en-US" sz="1300" dirty="0">
                <a:solidFill>
                  <a:srgbClr val="1B1F2A"/>
                </a:solidFill>
              </a:rPr>
              <a:t>multiply(a, b) only prints a * b. Why does result = multiply(3, 4) then total = result + 10 fail, and how do you fix it?</a:t>
            </a:r>
            <a:endParaRPr lang="en-US" sz="1300" dirty="0"/>
          </a:p>
        </p:txBody>
      </p:sp>
      <p:sp>
        <p:nvSpPr>
          <p:cNvPr id="6" name="Shape 3"/>
          <p:cNvSpPr/>
          <p:nvPr/>
        </p:nvSpPr>
        <p:spPr>
          <a:xfrm>
            <a:off x="457200" y="1097280"/>
            <a:ext cx="4114800" cy="2651760"/>
          </a:xfrm>
          <a:prstGeom prst="roundRect">
            <a:avLst>
              <a:gd name="adj" fmla="val 2759"/>
            </a:avLst>
          </a:prstGeom>
          <a:solidFill>
            <a:srgbClr val="0F1729"/>
          </a:solidFill>
          <a:ln w="12700">
            <a:solidFill>
              <a:srgbClr val="0F1729"/>
            </a:solidFill>
            <a:prstDash val="solid"/>
          </a:ln>
        </p:spPr>
      </p:sp>
      <p:sp>
        <p:nvSpPr>
          <p:cNvPr id="7" name="Text 4"/>
          <p:cNvSpPr txBox="1"/>
          <p:nvPr/>
        </p:nvSpPr>
        <p:spPr>
          <a:xfrm>
            <a:off x="594360" y="1097280"/>
            <a:ext cx="3840480" cy="26517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 forgot to return</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calculate_total(items):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total = sum(items</a:t>
            </a:r>
            <a:r>
              <a:rPr lang="en-US" sz="1300" dirty="0" smtClean="0">
                <a:solidFill>
                  <a:srgbClr val="E6EDF7"/>
                </a:solidFill>
                <a:latin typeface="Consolas" pitchFamily="34" charset="0"/>
                <a:ea typeface="Consolas" pitchFamily="34" charset="-122"/>
                <a:cs typeface="Consolas" pitchFamily="34" charset="-120"/>
              </a:rPr>
              <a:t>)</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calculate_total(items):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total = sum(items)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total</a:t>
            </a:r>
            <a:endParaRPr lang="en-US" sz="1300" dirty="0"/>
          </a:p>
        </p:txBody>
      </p:sp>
      <p:sp>
        <p:nvSpPr>
          <p:cNvPr id="8" name="Shape 5"/>
          <p:cNvSpPr/>
          <p:nvPr/>
        </p:nvSpPr>
        <p:spPr>
          <a:xfrm>
            <a:off x="4754880" y="1097280"/>
            <a:ext cx="3931920" cy="2651760"/>
          </a:xfrm>
          <a:prstGeom prst="roundRect">
            <a:avLst>
              <a:gd name="adj" fmla="val 2759"/>
            </a:avLst>
          </a:prstGeom>
          <a:solidFill>
            <a:srgbClr val="0F1729"/>
          </a:solidFill>
          <a:ln w="12700">
            <a:solidFill>
              <a:srgbClr val="0F1729"/>
            </a:solidFill>
            <a:prstDash val="solid"/>
          </a:ln>
        </p:spPr>
      </p:sp>
      <p:sp>
        <p:nvSpPr>
          <p:cNvPr id="9" name="Text 6"/>
          <p:cNvSpPr txBox="1"/>
          <p:nvPr/>
        </p:nvSpPr>
        <p:spPr>
          <a:xfrm>
            <a:off x="4892040" y="1097280"/>
            <a:ext cx="3657600" cy="26517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Wrong: code after return</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get_status():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"Done"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print("Never prints!")</a:t>
            </a:r>
            <a:endParaRPr lang="en-US" sz="1300" dirty="0"/>
          </a:p>
          <a:p>
            <a:pPr marL="0" indent="0">
              <a:buNone/>
            </a:pP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Right: return last</a:t>
            </a:r>
            <a:endParaRPr lang="en-US" sz="1300" dirty="0"/>
          </a:p>
          <a:p>
            <a:pPr marL="0" indent="0">
              <a:buNone/>
            </a:pPr>
            <a:r>
              <a:rPr lang="en-US" sz="1300" dirty="0" err="1">
                <a:solidFill>
                  <a:srgbClr val="E6EDF7"/>
                </a:solidFill>
                <a:latin typeface="Consolas" pitchFamily="34" charset="0"/>
                <a:ea typeface="Consolas" pitchFamily="34" charset="-122"/>
                <a:cs typeface="Consolas" pitchFamily="34" charset="-120"/>
              </a:rPr>
              <a:t>def</a:t>
            </a:r>
            <a:r>
              <a:rPr lang="en-US" sz="1300" dirty="0">
                <a:solidFill>
                  <a:srgbClr val="E6EDF7"/>
                </a:solidFill>
                <a:latin typeface="Consolas" pitchFamily="34" charset="0"/>
                <a:ea typeface="Consolas" pitchFamily="34" charset="-122"/>
                <a:cs typeface="Consolas" pitchFamily="34" charset="-120"/>
              </a:rPr>
              <a:t> get_status():</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print("Checking...")</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return "Done"</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Team activity: function toolkit</a:t>
            </a:r>
            <a:endParaRPr lang="en-US" sz="3000" dirty="0"/>
          </a:p>
        </p:txBody>
      </p:sp>
      <p:sp>
        <p:nvSpPr>
          <p:cNvPr id="4" name="Shape 1"/>
          <p:cNvSpPr/>
          <p:nvPr/>
        </p:nvSpPr>
        <p:spPr>
          <a:xfrm>
            <a:off x="457200" y="1188720"/>
            <a:ext cx="8229600" cy="777240"/>
          </a:xfrm>
          <a:prstGeom prst="roundRect">
            <a:avLst>
              <a:gd name="adj" fmla="val 9412"/>
            </a:avLst>
          </a:prstGeom>
          <a:solidFill>
            <a:srgbClr val="F2F5FB"/>
          </a:solidFill>
          <a:ln w="12700">
            <a:solidFill>
              <a:srgbClr val="DDE2EE"/>
            </a:solidFill>
            <a:prstDash val="solid"/>
          </a:ln>
        </p:spPr>
      </p:sp>
      <p:sp>
        <p:nvSpPr>
          <p:cNvPr id="5" name="Shape 2"/>
          <p:cNvSpPr/>
          <p:nvPr/>
        </p:nvSpPr>
        <p:spPr>
          <a:xfrm>
            <a:off x="457200" y="1280160"/>
            <a:ext cx="54864" cy="594360"/>
          </a:xfrm>
          <a:prstGeom prst="rect">
            <a:avLst/>
          </a:prstGeom>
          <a:solidFill>
            <a:srgbClr val="2F6FED"/>
          </a:solidFill>
          <a:ln w="12700">
            <a:solidFill>
              <a:srgbClr val="2F6FED"/>
            </a:solidFill>
            <a:prstDash val="solid"/>
          </a:ln>
        </p:spPr>
      </p:sp>
      <p:sp>
        <p:nvSpPr>
          <p:cNvPr id="6" name="Text 3"/>
          <p:cNvSpPr txBox="1"/>
          <p:nvPr/>
        </p:nvSpPr>
        <p:spPr>
          <a:xfrm>
            <a:off x="685800" y="11887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1. rectangle_area(width, height)</a:t>
            </a:r>
            <a:endParaRPr lang="en-US" sz="1500" dirty="0"/>
          </a:p>
          <a:p>
            <a:pPr marL="0" indent="0">
              <a:buNone/>
            </a:pPr>
            <a:r>
              <a:rPr lang="en-US" sz="1300" dirty="0">
                <a:solidFill>
                  <a:srgbClr val="3A4357"/>
                </a:solidFill>
              </a:rPr>
              <a:t>Return the area. rectangle_area(10, 12) gives 120.</a:t>
            </a:r>
            <a:endParaRPr lang="en-US" sz="1500" dirty="0"/>
          </a:p>
        </p:txBody>
      </p:sp>
      <p:sp>
        <p:nvSpPr>
          <p:cNvPr id="7" name="Shape 4"/>
          <p:cNvSpPr/>
          <p:nvPr/>
        </p:nvSpPr>
        <p:spPr>
          <a:xfrm>
            <a:off x="457200" y="2103120"/>
            <a:ext cx="8229600" cy="777240"/>
          </a:xfrm>
          <a:prstGeom prst="roundRect">
            <a:avLst>
              <a:gd name="adj" fmla="val 9412"/>
            </a:avLst>
          </a:prstGeom>
          <a:solidFill>
            <a:srgbClr val="F2F5FB"/>
          </a:solidFill>
          <a:ln w="12700">
            <a:solidFill>
              <a:srgbClr val="DDE2EE"/>
            </a:solidFill>
            <a:prstDash val="solid"/>
          </a:ln>
        </p:spPr>
      </p:sp>
      <p:sp>
        <p:nvSpPr>
          <p:cNvPr id="8" name="Shape 5"/>
          <p:cNvSpPr/>
          <p:nvPr/>
        </p:nvSpPr>
        <p:spPr>
          <a:xfrm>
            <a:off x="457200" y="2194560"/>
            <a:ext cx="54864" cy="594360"/>
          </a:xfrm>
          <a:prstGeom prst="rect">
            <a:avLst/>
          </a:prstGeom>
          <a:solidFill>
            <a:srgbClr val="1FA67A"/>
          </a:solidFill>
          <a:ln w="12700">
            <a:solidFill>
              <a:srgbClr val="1FA67A"/>
            </a:solidFill>
            <a:prstDash val="solid"/>
          </a:ln>
        </p:spPr>
      </p:sp>
      <p:sp>
        <p:nvSpPr>
          <p:cNvPr id="9" name="Text 6"/>
          <p:cNvSpPr txBox="1"/>
          <p:nvPr/>
        </p:nvSpPr>
        <p:spPr>
          <a:xfrm>
            <a:off x="685800" y="21031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2. greet(name, greeting="Hello")</a:t>
            </a:r>
            <a:endParaRPr lang="en-US" sz="1500" dirty="0"/>
          </a:p>
          <a:p>
            <a:pPr marL="0" indent="0">
              <a:buNone/>
            </a:pPr>
            <a:r>
              <a:rPr lang="en-US" sz="1300" dirty="0">
                <a:solidFill>
                  <a:srgbClr val="3A4357"/>
                </a:solidFill>
              </a:rPr>
              <a:t>Print the greeting. greet("Sam") prints Hello, Sam!</a:t>
            </a:r>
            <a:endParaRPr lang="en-US" sz="1500" dirty="0"/>
          </a:p>
        </p:txBody>
      </p:sp>
      <p:sp>
        <p:nvSpPr>
          <p:cNvPr id="10" name="Shape 7"/>
          <p:cNvSpPr/>
          <p:nvPr/>
        </p:nvSpPr>
        <p:spPr>
          <a:xfrm>
            <a:off x="457200" y="3017520"/>
            <a:ext cx="8229600" cy="777240"/>
          </a:xfrm>
          <a:prstGeom prst="roundRect">
            <a:avLst>
              <a:gd name="adj" fmla="val 9412"/>
            </a:avLst>
          </a:prstGeom>
          <a:solidFill>
            <a:srgbClr val="F2F5FB"/>
          </a:solidFill>
          <a:ln w="12700">
            <a:solidFill>
              <a:srgbClr val="DDE2EE"/>
            </a:solidFill>
            <a:prstDash val="solid"/>
          </a:ln>
        </p:spPr>
      </p:sp>
      <p:sp>
        <p:nvSpPr>
          <p:cNvPr id="11" name="Shape 8"/>
          <p:cNvSpPr/>
          <p:nvPr/>
        </p:nvSpPr>
        <p:spPr>
          <a:xfrm>
            <a:off x="457200" y="3108960"/>
            <a:ext cx="54864" cy="594360"/>
          </a:xfrm>
          <a:prstGeom prst="rect">
            <a:avLst/>
          </a:prstGeom>
          <a:solidFill>
            <a:srgbClr val="F5A623"/>
          </a:solidFill>
          <a:ln w="12700">
            <a:solidFill>
              <a:srgbClr val="F5A623"/>
            </a:solidFill>
            <a:prstDash val="solid"/>
          </a:ln>
        </p:spPr>
      </p:sp>
      <p:sp>
        <p:nvSpPr>
          <p:cNvPr id="12" name="Text 9"/>
          <p:cNvSpPr txBox="1"/>
          <p:nvPr/>
        </p:nvSpPr>
        <p:spPr>
          <a:xfrm>
            <a:off x="685800" y="3017520"/>
            <a:ext cx="7863840" cy="777240"/>
          </a:xfrm>
          <a:prstGeom prst="rect">
            <a:avLst/>
          </a:prstGeom>
          <a:noFill/>
          <a:ln/>
        </p:spPr>
        <p:txBody>
          <a:bodyPr wrap="square" lIns="0" tIns="0" rIns="0" bIns="0" rtlCol="0" anchor="ctr"/>
          <a:lstStyle/>
          <a:p>
            <a:pPr marL="0" indent="0">
              <a:buNone/>
            </a:pPr>
            <a:r>
              <a:rPr lang="en-US" sz="1500" b="1" dirty="0">
                <a:solidFill>
                  <a:srgbClr val="0F1729"/>
                </a:solidFill>
              </a:rPr>
              <a:t>3. get_min_max(numbers)</a:t>
            </a:r>
            <a:endParaRPr lang="en-US" sz="1500" dirty="0"/>
          </a:p>
          <a:p>
            <a:pPr marL="0" indent="0">
              <a:buNone/>
            </a:pPr>
            <a:r>
              <a:rPr lang="en-US" sz="1300" dirty="0">
                <a:solidFill>
                  <a:srgbClr val="3A4357"/>
                </a:solidFill>
              </a:rPr>
              <a:t>Return both values. get_min_max([5, 2, 8, 1, 9]) gives (1, 9).</a:t>
            </a:r>
            <a:endParaRPr lang="en-US" sz="1500" dirty="0"/>
          </a:p>
        </p:txBody>
      </p:sp>
      <p:sp>
        <p:nvSpPr>
          <p:cNvPr id="13" name="Text 10"/>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Teams of 2 to 3  |  15 minutes  |  Test every function with a call.</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Quick quiz</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Text 2"/>
          <p:cNvSpPr txBox="1"/>
          <p:nvPr/>
        </p:nvSpPr>
        <p:spPr>
          <a:xfrm>
            <a:off x="64008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Which keyword creates a function?</a:t>
            </a:r>
            <a:endParaRPr lang="en-US" sz="1500" dirty="0"/>
          </a:p>
          <a:p>
            <a:pPr marL="0" indent="0">
              <a:buNone/>
            </a:pPr>
            <a:r>
              <a:rPr lang="en-US" sz="1300" dirty="0">
                <a:solidFill>
                  <a:srgbClr val="3A4357"/>
                </a:solidFill>
              </a:rPr>
              <a:t>A) func    B) </a:t>
            </a:r>
            <a:r>
              <a:rPr lang="en-US" sz="1300" dirty="0" err="1">
                <a:solidFill>
                  <a:srgbClr val="3A4357"/>
                </a:solidFill>
              </a:rPr>
              <a:t>def</a:t>
            </a:r>
            <a:r>
              <a:rPr lang="en-US" sz="1300" dirty="0">
                <a:solidFill>
                  <a:srgbClr val="3A4357"/>
                </a:solidFill>
              </a:rPr>
              <a:t>    C) function</a:t>
            </a:r>
            <a:endParaRPr lang="en-US" sz="1500" dirty="0"/>
          </a:p>
        </p:txBody>
      </p:sp>
      <p:sp>
        <p:nvSpPr>
          <p:cNvPr id="6" name="Shape 3"/>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7" name="Text 4"/>
          <p:cNvSpPr txBox="1"/>
          <p:nvPr/>
        </p:nvSpPr>
        <p:spPr>
          <a:xfrm>
            <a:off x="64008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A variable created inside a function can be used...</a:t>
            </a:r>
            <a:endParaRPr lang="en-US" sz="1500" dirty="0"/>
          </a:p>
          <a:p>
            <a:pPr marL="0" indent="0">
              <a:buNone/>
            </a:pPr>
            <a:r>
              <a:rPr lang="en-US" sz="1300" dirty="0">
                <a:solidFill>
                  <a:srgbClr val="3A4357"/>
                </a:solidFill>
              </a:rPr>
              <a:t>A) anywhere    B) only inside that function    C) only if it is a number</a:t>
            </a:r>
            <a:endParaRPr lang="en-US" sz="1500" dirty="0"/>
          </a:p>
        </p:txBody>
      </p:sp>
      <p:sp>
        <p:nvSpPr>
          <p:cNvPr id="8" name="Shape 5"/>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9" name="Text 6"/>
          <p:cNvSpPr txBox="1"/>
          <p:nvPr/>
        </p:nvSpPr>
        <p:spPr>
          <a:xfrm>
            <a:off x="64008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a:t>
            </a:r>
            <a:r>
              <a:rPr lang="en-US" sz="1500" b="1" dirty="0" err="1">
                <a:solidFill>
                  <a:srgbClr val="0F1729"/>
                </a:solidFill>
              </a:rPr>
              <a:t>def</a:t>
            </a:r>
            <a:r>
              <a:rPr lang="en-US" sz="1500" b="1" dirty="0">
                <a:solidFill>
                  <a:srgbClr val="0F1729"/>
                </a:solidFill>
              </a:rPr>
              <a:t> greet(name, greeting="Hello"). What does greet("Bob") print?</a:t>
            </a:r>
            <a:endParaRPr lang="en-US" sz="1500" dirty="0"/>
          </a:p>
          <a:p>
            <a:pPr marL="0" indent="0">
              <a:buNone/>
            </a:pPr>
            <a:r>
              <a:rPr lang="en-US" sz="1300" dirty="0">
                <a:solidFill>
                  <a:srgbClr val="3A4357"/>
                </a:solidFill>
              </a:rPr>
              <a:t>A) Hello, Bob!    B) Bob, Hello!    C) TypeError</a:t>
            </a:r>
            <a:endParaRPr lang="en-US" sz="1500" dirty="0"/>
          </a:p>
        </p:txBody>
      </p:sp>
      <p:sp>
        <p:nvSpPr>
          <p:cNvPr id="10" name="Shape 7"/>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1" name="Text 8"/>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What does a function return if it has no return statement?</a:t>
            </a:r>
            <a:endParaRPr lang="en-US" sz="1500" dirty="0"/>
          </a:p>
          <a:p>
            <a:pPr marL="0" indent="0">
              <a:buNone/>
            </a:pPr>
            <a:r>
              <a:rPr lang="en-US" sz="1300" dirty="0">
                <a:solidFill>
                  <a:srgbClr val="3A4357"/>
                </a:solidFill>
              </a:rPr>
              <a:t>A) 0    B) None    C) an empty string</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Quiz answers</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Shape 2"/>
          <p:cNvSpPr/>
          <p:nvPr/>
        </p:nvSpPr>
        <p:spPr>
          <a:xfrm>
            <a:off x="457200" y="1280160"/>
            <a:ext cx="54864" cy="548640"/>
          </a:xfrm>
          <a:prstGeom prst="rect">
            <a:avLst/>
          </a:prstGeom>
          <a:solidFill>
            <a:srgbClr val="1FA67A"/>
          </a:solidFill>
          <a:ln w="12700">
            <a:solidFill>
              <a:srgbClr val="1FA67A"/>
            </a:solidFill>
            <a:prstDash val="solid"/>
          </a:ln>
        </p:spPr>
      </p:sp>
      <p:sp>
        <p:nvSpPr>
          <p:cNvPr id="6" name="Text 3"/>
          <p:cNvSpPr txBox="1"/>
          <p:nvPr/>
        </p:nvSpPr>
        <p:spPr>
          <a:xfrm>
            <a:off x="68580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B) </a:t>
            </a:r>
            <a:r>
              <a:rPr lang="en-US" sz="1500" b="1" dirty="0" err="1">
                <a:solidFill>
                  <a:srgbClr val="0F1729"/>
                </a:solidFill>
              </a:rPr>
              <a:t>def</a:t>
            </a:r>
            <a:endParaRPr lang="en-US" sz="1500" dirty="0"/>
          </a:p>
          <a:p>
            <a:pPr marL="0" indent="0">
              <a:buNone/>
            </a:pPr>
            <a:r>
              <a:rPr lang="en-US" sz="1300" dirty="0">
                <a:solidFill>
                  <a:srgbClr val="3A4357"/>
                </a:solidFill>
              </a:rPr>
              <a:t>The </a:t>
            </a:r>
            <a:r>
              <a:rPr lang="en-US" sz="1300" dirty="0" err="1">
                <a:solidFill>
                  <a:srgbClr val="3A4357"/>
                </a:solidFill>
              </a:rPr>
              <a:t>def</a:t>
            </a:r>
            <a:r>
              <a:rPr lang="en-US" sz="1300" dirty="0">
                <a:solidFill>
                  <a:srgbClr val="3A4357"/>
                </a:solidFill>
              </a:rPr>
              <a:t> keyword starts a function definition.</a:t>
            </a:r>
            <a:endParaRPr lang="en-US" sz="1500" dirty="0"/>
          </a:p>
        </p:txBody>
      </p:sp>
      <p:sp>
        <p:nvSpPr>
          <p:cNvPr id="7" name="Shape 4"/>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8" name="Shape 5"/>
          <p:cNvSpPr/>
          <p:nvPr/>
        </p:nvSpPr>
        <p:spPr>
          <a:xfrm>
            <a:off x="457200" y="2148840"/>
            <a:ext cx="54864" cy="548640"/>
          </a:xfrm>
          <a:prstGeom prst="rect">
            <a:avLst/>
          </a:prstGeom>
          <a:solidFill>
            <a:srgbClr val="1FA67A"/>
          </a:solidFill>
          <a:ln w="12700">
            <a:solidFill>
              <a:srgbClr val="1FA67A"/>
            </a:solidFill>
            <a:prstDash val="solid"/>
          </a:ln>
        </p:spPr>
      </p:sp>
      <p:sp>
        <p:nvSpPr>
          <p:cNvPr id="9" name="Text 6"/>
          <p:cNvSpPr txBox="1"/>
          <p:nvPr/>
        </p:nvSpPr>
        <p:spPr>
          <a:xfrm>
            <a:off x="68580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B) only inside that function</a:t>
            </a:r>
            <a:endParaRPr lang="en-US" sz="1500" dirty="0"/>
          </a:p>
          <a:p>
            <a:pPr marL="0" indent="0">
              <a:buNone/>
            </a:pPr>
            <a:r>
              <a:rPr lang="en-US" sz="1300" dirty="0">
                <a:solidFill>
                  <a:srgbClr val="3A4357"/>
                </a:solidFill>
              </a:rPr>
              <a:t>It is a local variable. Outside, you get a NameError.</a:t>
            </a:r>
            <a:endParaRPr lang="en-US" sz="1500" dirty="0"/>
          </a:p>
        </p:txBody>
      </p:sp>
      <p:sp>
        <p:nvSpPr>
          <p:cNvPr id="10" name="Shape 7"/>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11" name="Shape 8"/>
          <p:cNvSpPr/>
          <p:nvPr/>
        </p:nvSpPr>
        <p:spPr>
          <a:xfrm>
            <a:off x="457200" y="3017520"/>
            <a:ext cx="54864" cy="548640"/>
          </a:xfrm>
          <a:prstGeom prst="rect">
            <a:avLst/>
          </a:prstGeom>
          <a:solidFill>
            <a:srgbClr val="1FA67A"/>
          </a:solidFill>
          <a:ln w="12700">
            <a:solidFill>
              <a:srgbClr val="1FA67A"/>
            </a:solidFill>
            <a:prstDash val="solid"/>
          </a:ln>
        </p:spPr>
      </p:sp>
      <p:sp>
        <p:nvSpPr>
          <p:cNvPr id="12" name="Text 9"/>
          <p:cNvSpPr txBox="1"/>
          <p:nvPr/>
        </p:nvSpPr>
        <p:spPr>
          <a:xfrm>
            <a:off x="68580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A) Hello, Bob!</a:t>
            </a:r>
            <a:endParaRPr lang="en-US" sz="1500" dirty="0"/>
          </a:p>
          <a:p>
            <a:pPr marL="0" indent="0">
              <a:buNone/>
            </a:pPr>
            <a:r>
              <a:rPr lang="en-US" sz="1300" dirty="0">
                <a:solidFill>
                  <a:srgbClr val="3A4357"/>
                </a:solidFill>
              </a:rPr>
              <a:t>The default value "Hello" is used when greeting is omitted.</a:t>
            </a:r>
            <a:endParaRPr lang="en-US" sz="1500" dirty="0"/>
          </a:p>
        </p:txBody>
      </p:sp>
      <p:sp>
        <p:nvSpPr>
          <p:cNvPr id="13" name="Shape 10"/>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4" name="Shape 11"/>
          <p:cNvSpPr/>
          <p:nvPr/>
        </p:nvSpPr>
        <p:spPr>
          <a:xfrm>
            <a:off x="457200" y="3886200"/>
            <a:ext cx="54864" cy="548640"/>
          </a:xfrm>
          <a:prstGeom prst="rect">
            <a:avLst/>
          </a:prstGeom>
          <a:solidFill>
            <a:srgbClr val="1FA67A"/>
          </a:solidFill>
          <a:ln w="12700">
            <a:solidFill>
              <a:srgbClr val="1FA67A"/>
            </a:solidFill>
            <a:prstDash val="solid"/>
          </a:ln>
        </p:spPr>
      </p:sp>
      <p:sp>
        <p:nvSpPr>
          <p:cNvPr id="15" name="Text 12"/>
          <p:cNvSpPr txBox="1"/>
          <p:nvPr/>
        </p:nvSpPr>
        <p:spPr>
          <a:xfrm>
            <a:off x="68580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B) None</a:t>
            </a:r>
            <a:endParaRPr lang="en-US" sz="1500" dirty="0"/>
          </a:p>
          <a:p>
            <a:pPr marL="0" indent="0">
              <a:buNone/>
            </a:pPr>
            <a:r>
              <a:rPr lang="en-US" sz="1300" dirty="0">
                <a:solidFill>
                  <a:srgbClr val="3A4357"/>
                </a:solidFill>
              </a:rPr>
              <a:t>Without return, a function gives back None.</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Recap and next steps</a:t>
            </a:r>
            <a:endParaRPr lang="en-US" sz="3000" dirty="0"/>
          </a:p>
        </p:txBody>
      </p:sp>
      <p:sp>
        <p:nvSpPr>
          <p:cNvPr id="4" name="Shape 1"/>
          <p:cNvSpPr/>
          <p:nvPr/>
        </p:nvSpPr>
        <p:spPr>
          <a:xfrm>
            <a:off x="457200" y="1188720"/>
            <a:ext cx="3931920" cy="1005840"/>
          </a:xfrm>
          <a:prstGeom prst="roundRect">
            <a:avLst>
              <a:gd name="adj" fmla="val 7273"/>
            </a:avLst>
          </a:prstGeom>
          <a:solidFill>
            <a:srgbClr val="F2F5FB"/>
          </a:solidFill>
          <a:ln w="12700">
            <a:solidFill>
              <a:srgbClr val="DDE2EE"/>
            </a:solidFill>
            <a:prstDash val="solid"/>
          </a:ln>
        </p:spPr>
      </p:sp>
      <p:sp>
        <p:nvSpPr>
          <p:cNvPr id="5" name="Shape 2"/>
          <p:cNvSpPr/>
          <p:nvPr/>
        </p:nvSpPr>
        <p:spPr>
          <a:xfrm>
            <a:off x="457200" y="1280160"/>
            <a:ext cx="54864" cy="822960"/>
          </a:xfrm>
          <a:prstGeom prst="rect">
            <a:avLst/>
          </a:prstGeom>
          <a:solidFill>
            <a:srgbClr val="2F6FED"/>
          </a:solidFill>
          <a:ln w="12700">
            <a:solidFill>
              <a:srgbClr val="2F6FED"/>
            </a:solidFill>
            <a:prstDash val="solid"/>
          </a:ln>
        </p:spPr>
      </p:sp>
      <p:sp>
        <p:nvSpPr>
          <p:cNvPr id="6" name="Text 3"/>
          <p:cNvSpPr txBox="1"/>
          <p:nvPr/>
        </p:nvSpPr>
        <p:spPr>
          <a:xfrm>
            <a:off x="68580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Defining</a:t>
            </a:r>
            <a:endParaRPr lang="en-US" sz="1500" dirty="0"/>
          </a:p>
          <a:p>
            <a:pPr marL="0" indent="0">
              <a:buNone/>
            </a:pPr>
            <a:r>
              <a:rPr lang="en-US" sz="1300" dirty="0" err="1">
                <a:solidFill>
                  <a:srgbClr val="3A4357"/>
                </a:solidFill>
              </a:rPr>
              <a:t>def</a:t>
            </a:r>
            <a:r>
              <a:rPr lang="en-US" sz="1300" dirty="0">
                <a:solidFill>
                  <a:srgbClr val="3A4357"/>
                </a:solidFill>
              </a:rPr>
              <a:t> name(): with an indented body. Call it with ().</a:t>
            </a:r>
            <a:endParaRPr lang="en-US" sz="1500" dirty="0"/>
          </a:p>
        </p:txBody>
      </p:sp>
      <p:sp>
        <p:nvSpPr>
          <p:cNvPr id="7" name="Shape 4"/>
          <p:cNvSpPr/>
          <p:nvPr/>
        </p:nvSpPr>
        <p:spPr>
          <a:xfrm>
            <a:off x="4754880" y="1188720"/>
            <a:ext cx="3931920" cy="1005840"/>
          </a:xfrm>
          <a:prstGeom prst="roundRect">
            <a:avLst>
              <a:gd name="adj" fmla="val 7273"/>
            </a:avLst>
          </a:prstGeom>
          <a:solidFill>
            <a:srgbClr val="F2F5FB"/>
          </a:solidFill>
          <a:ln w="12700">
            <a:solidFill>
              <a:srgbClr val="DDE2EE"/>
            </a:solidFill>
            <a:prstDash val="solid"/>
          </a:ln>
        </p:spPr>
      </p:sp>
      <p:sp>
        <p:nvSpPr>
          <p:cNvPr id="8" name="Shape 5"/>
          <p:cNvSpPr/>
          <p:nvPr/>
        </p:nvSpPr>
        <p:spPr>
          <a:xfrm>
            <a:off x="4754880" y="1280160"/>
            <a:ext cx="54864" cy="822960"/>
          </a:xfrm>
          <a:prstGeom prst="rect">
            <a:avLst/>
          </a:prstGeom>
          <a:solidFill>
            <a:srgbClr val="D64550"/>
          </a:solidFill>
          <a:ln w="12700">
            <a:solidFill>
              <a:srgbClr val="D64550"/>
            </a:solidFill>
            <a:prstDash val="solid"/>
          </a:ln>
        </p:spPr>
      </p:sp>
      <p:sp>
        <p:nvSpPr>
          <p:cNvPr id="9" name="Text 6"/>
          <p:cNvSpPr txBox="1"/>
          <p:nvPr/>
        </p:nvSpPr>
        <p:spPr>
          <a:xfrm>
            <a:off x="498348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Scope</a:t>
            </a:r>
            <a:endParaRPr lang="en-US" sz="1500" dirty="0"/>
          </a:p>
          <a:p>
            <a:pPr marL="0" indent="0">
              <a:buNone/>
            </a:pPr>
            <a:r>
              <a:rPr lang="en-US" sz="1300" dirty="0">
                <a:solidFill>
                  <a:srgbClr val="3A4357"/>
                </a:solidFill>
              </a:rPr>
              <a:t>Local variables stay inside. Avoid global.</a:t>
            </a:r>
            <a:endParaRPr lang="en-US" sz="1500" dirty="0"/>
          </a:p>
        </p:txBody>
      </p:sp>
      <p:sp>
        <p:nvSpPr>
          <p:cNvPr id="10" name="Shape 7"/>
          <p:cNvSpPr/>
          <p:nvPr/>
        </p:nvSpPr>
        <p:spPr>
          <a:xfrm>
            <a:off x="457200" y="2377440"/>
            <a:ext cx="3931920" cy="1005840"/>
          </a:xfrm>
          <a:prstGeom prst="roundRect">
            <a:avLst>
              <a:gd name="adj" fmla="val 7273"/>
            </a:avLst>
          </a:prstGeom>
          <a:solidFill>
            <a:srgbClr val="F2F5FB"/>
          </a:solidFill>
          <a:ln w="12700">
            <a:solidFill>
              <a:srgbClr val="DDE2EE"/>
            </a:solidFill>
            <a:prstDash val="solid"/>
          </a:ln>
        </p:spPr>
      </p:sp>
      <p:sp>
        <p:nvSpPr>
          <p:cNvPr id="11" name="Shape 8"/>
          <p:cNvSpPr/>
          <p:nvPr/>
        </p:nvSpPr>
        <p:spPr>
          <a:xfrm>
            <a:off x="457200" y="2468880"/>
            <a:ext cx="54864" cy="822960"/>
          </a:xfrm>
          <a:prstGeom prst="rect">
            <a:avLst/>
          </a:prstGeom>
          <a:solidFill>
            <a:srgbClr val="1FA67A"/>
          </a:solidFill>
          <a:ln w="12700">
            <a:solidFill>
              <a:srgbClr val="1FA67A"/>
            </a:solidFill>
            <a:prstDash val="solid"/>
          </a:ln>
        </p:spPr>
      </p:sp>
      <p:sp>
        <p:nvSpPr>
          <p:cNvPr id="12" name="Text 9"/>
          <p:cNvSpPr txBox="1"/>
          <p:nvPr/>
        </p:nvSpPr>
        <p:spPr>
          <a:xfrm>
            <a:off x="68580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Parameters</a:t>
            </a:r>
            <a:endParaRPr lang="en-US" sz="1500" dirty="0"/>
          </a:p>
          <a:p>
            <a:pPr marL="0" indent="0">
              <a:buNone/>
            </a:pPr>
            <a:r>
              <a:rPr lang="en-US" sz="1300" dirty="0">
                <a:solidFill>
                  <a:srgbClr val="3A4357"/>
                </a:solidFill>
              </a:rPr>
              <a:t>Multiple, default and keyword arguments.</a:t>
            </a:r>
            <a:endParaRPr lang="en-US" sz="1500" dirty="0"/>
          </a:p>
        </p:txBody>
      </p:sp>
      <p:sp>
        <p:nvSpPr>
          <p:cNvPr id="13" name="Shape 10"/>
          <p:cNvSpPr/>
          <p:nvPr/>
        </p:nvSpPr>
        <p:spPr>
          <a:xfrm>
            <a:off x="4754880" y="2377440"/>
            <a:ext cx="3931920" cy="1005840"/>
          </a:xfrm>
          <a:prstGeom prst="roundRect">
            <a:avLst>
              <a:gd name="adj" fmla="val 7273"/>
            </a:avLst>
          </a:prstGeom>
          <a:solidFill>
            <a:srgbClr val="F2F5FB"/>
          </a:solidFill>
          <a:ln w="12700">
            <a:solidFill>
              <a:srgbClr val="DDE2EE"/>
            </a:solidFill>
            <a:prstDash val="solid"/>
          </a:ln>
        </p:spPr>
      </p:sp>
      <p:sp>
        <p:nvSpPr>
          <p:cNvPr id="14" name="Shape 11"/>
          <p:cNvSpPr/>
          <p:nvPr/>
        </p:nvSpPr>
        <p:spPr>
          <a:xfrm>
            <a:off x="4754880" y="2468880"/>
            <a:ext cx="54864" cy="822960"/>
          </a:xfrm>
          <a:prstGeom prst="rect">
            <a:avLst/>
          </a:prstGeom>
          <a:solidFill>
            <a:srgbClr val="F5A623"/>
          </a:solidFill>
          <a:ln w="12700">
            <a:solidFill>
              <a:srgbClr val="F5A623"/>
            </a:solidFill>
            <a:prstDash val="solid"/>
          </a:ln>
        </p:spPr>
      </p:sp>
      <p:sp>
        <p:nvSpPr>
          <p:cNvPr id="15" name="Text 12"/>
          <p:cNvSpPr txBox="1"/>
          <p:nvPr/>
        </p:nvSpPr>
        <p:spPr>
          <a:xfrm>
            <a:off x="498348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return</a:t>
            </a:r>
            <a:endParaRPr lang="en-US" sz="1500" dirty="0"/>
          </a:p>
          <a:p>
            <a:pPr marL="0" indent="0">
              <a:buNone/>
            </a:pPr>
            <a:r>
              <a:rPr lang="en-US" sz="1300" dirty="0">
                <a:solidFill>
                  <a:srgbClr val="3A4357"/>
                </a:solidFill>
              </a:rPr>
              <a:t>Sends results back. No return means None.</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PyLearn">
  <a:themeElements>
    <a:clrScheme name="PyLearn">
      <a:dk1>
        <a:srgbClr val="1B1F2A"/>
      </a:dk1>
      <a:lt1>
        <a:srgbClr val="FFFFFF"/>
      </a:lt1>
      <a:dk2>
        <a:srgbClr val="0F1729"/>
      </a:dk2>
      <a:lt2>
        <a:srgbClr val="F2F5FB"/>
      </a:lt2>
      <a:accent1>
        <a:srgbClr val="2F6FED"/>
      </a:accent1>
      <a:accent2>
        <a:srgbClr val="F5A623"/>
      </a:accent2>
      <a:accent3>
        <a:srgbClr val="1FA67A"/>
      </a:accent3>
      <a:accent4>
        <a:srgbClr val="D64550"/>
      </a:accent4>
      <a:accent5>
        <a:srgbClr val="7A5AF8"/>
      </a:accent5>
      <a:accent6>
        <a:srgbClr val="5B6475"/>
      </a:accent6>
      <a:hlink>
        <a:srgbClr val="2F6FED"/>
      </a:hlink>
      <a:folHlink>
        <a:srgbClr val="7A5AF8"/>
      </a:folHlink>
    </a:clrScheme>
    <a:fontScheme name="PyLear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3485</Words>
  <Application>Microsoft Office PowerPoint</Application>
  <PresentationFormat>On-screen Show (16:9)</PresentationFormat>
  <Paragraphs>375</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PyLearn</vt:lpstr>
      <vt:lpstr>PowerPoint Presentation</vt:lpstr>
      <vt:lpstr>Plan for today</vt:lpstr>
      <vt:lpstr>Your first function</vt:lpstr>
      <vt:lpstr>Function syntax and naming</vt:lpstr>
      <vt:lpstr>Calling functions and adding logic</vt:lpstr>
      <vt:lpstr>Variable scope: local and global</vt:lpstr>
      <vt:lpstr>Changing globals, and a better way</vt:lpstr>
      <vt:lpstr>Common mistakes when defining</vt:lpstr>
      <vt:lpstr>What are parameters?</vt:lpstr>
      <vt:lpstr>Multiple parameters</vt:lpstr>
      <vt:lpstr>Default values</vt:lpstr>
      <vt:lpstr>Keyword arguments</vt:lpstr>
      <vt:lpstr>Common mistakes with parameters</vt:lpstr>
      <vt:lpstr>return sends a value back</vt:lpstr>
      <vt:lpstr>Using returned values</vt:lpstr>
      <vt:lpstr>Returning multiple values</vt:lpstr>
      <vt:lpstr>Return vs print, and None</vt:lpstr>
      <vt:lpstr>Common mistakes with return</vt:lpstr>
      <vt:lpstr>Team activity: function toolkit</vt:lpstr>
      <vt:lpstr>Quick quiz</vt:lpstr>
      <vt:lpstr>Quiz answers</vt:lpstr>
      <vt:lpstr>Recap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15</cp:revision>
  <dcterms:created xsi:type="dcterms:W3CDTF">2026-10-20T04:43:07Z</dcterms:created>
  <dcterms:modified xsi:type="dcterms:W3CDTF">2026-10-22T07:00:28Z</dcterms:modified>
</cp:coreProperties>
</file>